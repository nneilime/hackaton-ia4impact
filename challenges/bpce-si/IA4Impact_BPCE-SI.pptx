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8.xml" ContentType="application/vnd.openxmlformats-officedocument.presentationml.slide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41106-E9E6-A04F-3155-8A528E16C148}" v="21" dt="2026-09-11T16:45:08.990"/>
    <p1510:client id="{B219FC81-0792-6CF1-A3DA-AA682AF07BD4}" v="20" dt="2026-09-11T16:39:05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20" Type="http://schemas.openxmlformats.org/officeDocument/2006/relationships/customXml" Target="../customXml/item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76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Visual on this slide was generated with Microsoft Copilot.
Architecture présentée comme proposition de cadrage à confirmer avec les équipes.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Charte graphique et mises en page : chartePresentation.pptx fournie par le demandeur.
Contenu métier : fiche Défis IA4Impact BPCE-SI fournie dans la conversation.
Les critères détaillés sont des propositions de mesure pour le démonstrateur.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r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DCEB38BE-58B5-B8EF-160B-03556F2E1F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47861" y="4088"/>
            <a:ext cx="7344139" cy="6885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Shape 10"/>
          <p:cNvSpPr txBox="1">
            <a:spLocks noGrp="1"/>
          </p:cNvSpPr>
          <p:nvPr userDrawn="1">
            <p:ph type="ctrTitle" hasCustomPrompt="1"/>
          </p:nvPr>
        </p:nvSpPr>
        <p:spPr>
          <a:xfrm>
            <a:off x="1152000" y="2468894"/>
            <a:ext cx="6528725" cy="154639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5867" b="1" i="0" cap="all" baseline="0">
                <a:solidFill>
                  <a:schemeClr val="tx1"/>
                </a:solidFill>
                <a:effectLst/>
                <a:latin typeface="Montserrat ExtraBold" pitchFamily="2" charset="77"/>
                <a:ea typeface="Montserrat ExtraBold" pitchFamily="2" charset="77"/>
                <a:cs typeface="Arial Black" panose="020B0A04020102020204" pitchFamily="34" charset="0"/>
                <a:sym typeface="Cabin Condensed"/>
              </a:defRPr>
            </a:lvl1pPr>
            <a:lvl2pPr lvl="1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2pPr>
            <a:lvl3pPr lvl="2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3pPr>
            <a:lvl4pPr lvl="3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4pPr>
            <a:lvl5pPr lvl="4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5pPr>
            <a:lvl6pPr lvl="5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6pPr>
            <a:lvl7pPr lvl="6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7pPr>
            <a:lvl8pPr lvl="7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8pPr>
            <a:lvl9pPr lvl="8" algn="l">
              <a:spcBef>
                <a:spcPts val="0"/>
              </a:spcBef>
              <a:buClr>
                <a:srgbClr val="FFFFFF"/>
              </a:buClr>
              <a:buSzPct val="100000"/>
              <a:buFont typeface="Cabin Condensed"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9pPr>
          </a:lstStyle>
          <a:p>
            <a:r>
              <a:rPr lang="fr-FR" dirty="0"/>
              <a:t>Titre du document</a:t>
            </a:r>
            <a:endParaRPr dirty="0"/>
          </a:p>
        </p:txBody>
      </p:sp>
      <p:sp>
        <p:nvSpPr>
          <p:cNvPr id="6" name="Espace réservé du texte 5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52000" y="4041879"/>
            <a:ext cx="6528725" cy="3323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400" b="0" i="0" cap="none" baseline="0"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 marL="609585" indent="0">
              <a:buNone/>
              <a:defRPr sz="1600" b="0">
                <a:solidFill>
                  <a:schemeClr val="bg1"/>
                </a:solidFill>
              </a:defRPr>
            </a:lvl2pPr>
            <a:lvl3pPr marL="1219170" indent="0">
              <a:buNone/>
              <a:defRPr sz="1600" b="0">
                <a:solidFill>
                  <a:schemeClr val="bg1"/>
                </a:solidFill>
              </a:defRPr>
            </a:lvl3pPr>
            <a:lvl4pPr marL="1828754" indent="0">
              <a:buNone/>
              <a:defRPr sz="1600" b="0">
                <a:solidFill>
                  <a:schemeClr val="bg1"/>
                </a:solidFill>
              </a:defRPr>
            </a:lvl4pPr>
            <a:lvl5pPr marL="2438339" indent="0">
              <a:buNone/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cap="all" baseline="0" dirty="0"/>
              <a:t>Sous-titre du document</a:t>
            </a:r>
            <a:endParaRPr lang="fr-FR" dirty="0"/>
          </a:p>
        </p:txBody>
      </p:sp>
      <p:sp>
        <p:nvSpPr>
          <p:cNvPr id="17" name="Espace réservé du texte 52"/>
          <p:cNvSpPr>
            <a:spLocks noGrp="1"/>
          </p:cNvSpPr>
          <p:nvPr userDrawn="1">
            <p:ph type="body" sz="quarter" idx="13" hasCustomPrompt="1"/>
          </p:nvPr>
        </p:nvSpPr>
        <p:spPr>
          <a:xfrm rot="16200000">
            <a:off x="-1017226" y="3347001"/>
            <a:ext cx="2794537" cy="164000"/>
          </a:xfrm>
          <a:prstGeom prst="rect">
            <a:avLst/>
          </a:prstGeom>
        </p:spPr>
        <p:txBody>
          <a:bodyPr vert="horz" wrap="none" lIns="0" tIns="0" rIns="0" bIns="0" anchor="ctr" anchorCtr="0">
            <a:noAutofit/>
          </a:bodyPr>
          <a:lstStyle>
            <a:lvl1pPr marL="0" indent="0" algn="ctr">
              <a:buNone/>
              <a:defRPr sz="933" b="0" i="0" spc="133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1600" b="0">
                <a:solidFill>
                  <a:schemeClr val="bg1"/>
                </a:solidFill>
              </a:defRPr>
            </a:lvl2pPr>
            <a:lvl3pPr marL="1219170" indent="0">
              <a:buNone/>
              <a:defRPr sz="1600" b="0">
                <a:solidFill>
                  <a:schemeClr val="bg1"/>
                </a:solidFill>
              </a:defRPr>
            </a:lvl3pPr>
            <a:lvl4pPr marL="1828754" indent="0">
              <a:buNone/>
              <a:defRPr sz="1600" b="0">
                <a:solidFill>
                  <a:schemeClr val="bg1"/>
                </a:solidFill>
              </a:defRPr>
            </a:lvl4pPr>
            <a:lvl5pPr marL="2438339" indent="0">
              <a:buNone/>
              <a:defRPr sz="1600" b="0"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fr-FR" dirty="0"/>
              <a:t>Date de la publication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7A16E95-3C77-9825-DBE3-54F835A5AD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8352" y="6091218"/>
            <a:ext cx="2063285" cy="33812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FAC5E43-F42D-7F93-16F1-7223AF5A99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96419" y="452669"/>
            <a:ext cx="3456003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74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pour une image  22">
            <a:extLst>
              <a:ext uri="{FF2B5EF4-FFF2-40B4-BE49-F238E27FC236}">
                <a16:creationId xmlns:a16="http://schemas.microsoft.com/office/drawing/2014/main" id="{66020A23-CCAC-CE4E-1D0E-33564B2E7FA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" b="5"/>
          <a:stretch/>
        </p:blipFill>
        <p:spPr>
          <a:xfrm>
            <a:off x="4847861" y="2143"/>
            <a:ext cx="7344139" cy="6885517"/>
          </a:xfr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2000" y="2468894"/>
            <a:ext cx="6528725" cy="1546399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noProof="0" dirty="0"/>
              <a:t>Titre de la présentation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1152000" y="4041879"/>
            <a:ext cx="6528725" cy="332399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noProof="0" dirty="0"/>
              <a:t>Sous-titre de la présentation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>
          <a:xfrm rot="16200000">
            <a:off x="-981155" y="2228800"/>
            <a:ext cx="2794537" cy="164000"/>
          </a:xfr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050" dirty="0"/>
              <a:t>Septembre 2026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93B625-1B89-C7E5-EA81-50940736AF7A}"/>
              </a:ext>
            </a:extLst>
          </p:cNvPr>
          <p:cNvSpPr/>
          <p:nvPr/>
        </p:nvSpPr>
        <p:spPr>
          <a:xfrm>
            <a:off x="545000" y="1544320"/>
            <a:ext cx="7599256" cy="3769360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0169AC-0E43-A4C8-C90A-C48666E6D2D3}"/>
              </a:ext>
            </a:extLst>
          </p:cNvPr>
          <p:cNvSpPr/>
          <p:nvPr/>
        </p:nvSpPr>
        <p:spPr>
          <a:xfrm>
            <a:off x="669831" y="1672363"/>
            <a:ext cx="7349595" cy="3513275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DF0AB7-46EC-1FAE-D0A8-FC48B887848E}"/>
              </a:ext>
            </a:extLst>
          </p:cNvPr>
          <p:cNvSpPr/>
          <p:nvPr/>
        </p:nvSpPr>
        <p:spPr>
          <a:xfrm>
            <a:off x="785070" y="1713236"/>
            <a:ext cx="7119117" cy="3251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634C2253-AD09-2111-450B-817179F57B1E}"/>
              </a:ext>
            </a:extLst>
          </p:cNvPr>
          <p:cNvCxnSpPr>
            <a:cxnSpLocks/>
          </p:cNvCxnSpPr>
          <p:nvPr/>
        </p:nvCxnSpPr>
        <p:spPr>
          <a:xfrm>
            <a:off x="542907" y="1965932"/>
            <a:ext cx="0" cy="18079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1">
            <a:extLst>
              <a:ext uri="{FF2B5EF4-FFF2-40B4-BE49-F238E27FC236}">
                <a16:creationId xmlns:a16="http://schemas.microsoft.com/office/drawing/2014/main" id="{2DD94DFA-4F7F-D246-DE06-69E1527B5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740352" y="634080"/>
            <a:ext cx="2135297" cy="28597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38CD2FB-93AE-496D-E220-D5869E347FE4}"/>
              </a:ext>
            </a:extLst>
          </p:cNvPr>
          <p:cNvSpPr/>
          <p:nvPr/>
        </p:nvSpPr>
        <p:spPr>
          <a:xfrm>
            <a:off x="658368" y="19659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</a:rPr>
              <a:t>DÉFI IA4IMPACT</a:t>
            </a:r>
            <a:endParaRPr lang="en-US" sz="3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FF7EEF8-4741-9CF6-213C-7D5D1939BD31}"/>
              </a:ext>
            </a:extLst>
          </p:cNvPr>
          <p:cNvSpPr/>
          <p:nvPr/>
        </p:nvSpPr>
        <p:spPr>
          <a:xfrm>
            <a:off x="658368" y="262432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Du besoin au résultat, sans chercher</a:t>
            </a:r>
            <a:endParaRPr lang="en-US" sz="1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7607505-1740-CA2F-3176-3167314F89E3}"/>
              </a:ext>
            </a:extLst>
          </p:cNvPr>
          <p:cNvSpPr/>
          <p:nvPr/>
        </p:nvSpPr>
        <p:spPr>
          <a:xfrm>
            <a:off x="671895" y="2963197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7F7F"/>
                </a:solidFill>
              </a:rPr>
              <a:t>Un assistant conversationnel de confiance pour guider clients et prospects vers la bonne réponse, la bonne action et le bon relais humain.</a:t>
            </a:r>
            <a:endParaRPr lang="en-US" sz="1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A0852D0-1DEA-8B04-8CCB-56691827F3C1}"/>
              </a:ext>
            </a:extLst>
          </p:cNvPr>
          <p:cNvSpPr/>
          <p:nvPr/>
        </p:nvSpPr>
        <p:spPr>
          <a:xfrm>
            <a:off x="658368" y="5166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1D74"/>
                </a:solidFill>
              </a:rPr>
              <a:t>BPCE-SI • IA for Impact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88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21792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20240" y="3072384"/>
            <a:ext cx="50292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063240" y="731520"/>
            <a:ext cx="7818120" cy="5394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520440" y="1188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1D74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60520" y="1344168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443984" y="11978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Le défi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9385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A8C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60520" y="2093976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43984" y="19476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Les irritants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6883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193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60520" y="2843784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443984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La vision cible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4381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4B4B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0520" y="3593592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43984" y="3447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L’expérience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41879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79E"/>
                </a:solidFill>
              </a:rPr>
              <a:t>05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60520" y="4343400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43984" y="41970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La solution de confiance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49377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B818"/>
                </a:solidFill>
              </a:rPr>
              <a:t>06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60520" y="5093208"/>
            <a:ext cx="164592" cy="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443984" y="49469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Le démonstrateur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02 / 09</a:t>
            </a:r>
            <a:endParaRPr lang="en-US" sz="700" dirty="0"/>
          </a:p>
        </p:txBody>
      </p:sp>
      <p:pic>
        <p:nvPicPr>
          <p:cNvPr id="26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RENDRE LA BANQUE COMPRÉHENSIBLE ET ACTIONNABLE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Une intention simple devient trop souvent un parcours complexe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03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298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1D74"/>
                </a:solidFill>
              </a:rPr>
              <a:t>LE DÉFI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Permettre aux clients et prospects de se renseigner et d’agir en autonomie sur un besoin précis.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</a:rPr>
              <a:t>Réclamation • Code perdu • Crédit • Conseil • Services associés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749040"/>
            <a:ext cx="4892040" cy="1234440"/>
          </a:xfrm>
          <a:prstGeom prst="roundRect">
            <a:avLst>
              <a:gd name="adj" fmla="val 2963"/>
            </a:avLst>
          </a:prstGeom>
          <a:solidFill>
            <a:srgbClr val="581D74"/>
          </a:solidFill>
          <a:ln w="12700">
            <a:solidFill>
              <a:srgbClr val="581D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68680" y="40050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B9E4"/>
                </a:solidFill>
              </a:rPr>
              <a:t>PROMESSE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3434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Une réponse contextualisée qui conduit au résultat sans errance.</a:t>
            </a:r>
            <a:endParaRPr lang="en-US" sz="1600" dirty="0"/>
          </a:p>
        </p:txBody>
      </p:sp>
      <p:pic>
        <p:nvPicPr>
          <p:cNvPr id="14" name="Image 1" descr="/mnt/data/2f639a14a8.png"/>
          <p:cNvPicPr>
            <a:picLocks noChangeAspect="1"/>
          </p:cNvPicPr>
          <p:nvPr/>
        </p:nvPicPr>
        <p:blipFill>
          <a:blip r:embed="rId4"/>
          <a:srcRect l="14583" r="14583"/>
          <a:stretch/>
        </p:blipFill>
        <p:spPr>
          <a:xfrm>
            <a:off x="6126480" y="1097280"/>
            <a:ext cx="5440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AUJOURD’HUI, LE CLIENT ASSEMBLE LUI-MÊME LE PARCOURS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Cinq frictions alimentent l’abandon et les changements de canal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04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600200"/>
            <a:ext cx="201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81D74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005840" y="1874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81D74"/>
                </a:solidFill>
              </a:rPr>
              <a:t>01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Information difficilement accessible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6352" y="1600200"/>
            <a:ext cx="201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4A8C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319272" y="1874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34A8C"/>
                </a:solidFill>
              </a:rPr>
              <a:t>02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999232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Parcours fragmentés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9784" y="1600200"/>
            <a:ext cx="201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193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632704" y="1874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A193"/>
                </a:solidFill>
              </a:rPr>
              <a:t>03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5312664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Vocabulaire bancaire complexe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43216" y="1600200"/>
            <a:ext cx="201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4B4B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946136" y="1874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B4B4B"/>
                </a:solidFill>
              </a:rPr>
              <a:t>04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7626096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Recherche et ressaisie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756648" y="1600200"/>
            <a:ext cx="2011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79E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10259568" y="1874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5579E"/>
                </a:solidFill>
              </a:rPr>
              <a:t>05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939528" y="2788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Abandon ou changement de canal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0120" y="5440680"/>
            <a:ext cx="10195560" cy="502920"/>
          </a:xfrm>
          <a:prstGeom prst="rect">
            <a:avLst/>
          </a:prstGeom>
          <a:solidFill>
            <a:srgbClr val="581D74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CONSÉQUENCE  |  Une réponse inégale selon le point d’entrée, plutôt qu’un résultat cohérent de bout en bout.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PASSER DE « JE CHERCHE » À « C’EST FAIT 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Un assistant unique, orienté intention et résultat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05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4A8C"/>
                </a:solidFill>
              </a:rPr>
              <a:t>JE CHERCHE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51760" y="1389888"/>
            <a:ext cx="1828800" cy="475488"/>
          </a:xfrm>
          <a:prstGeom prst="chevron">
            <a:avLst/>
          </a:prstGeom>
          <a:solidFill>
            <a:srgbClr val="EAE4EE"/>
          </a:solidFill>
          <a:ln w="12700">
            <a:solidFill>
              <a:srgbClr val="EAE4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599432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1D74"/>
                </a:solidFill>
              </a:rPr>
              <a:t>JE COMPRENDS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766560" y="1389888"/>
            <a:ext cx="1828800" cy="475488"/>
          </a:xfrm>
          <a:prstGeom prst="chevron">
            <a:avLst/>
          </a:prstGeom>
          <a:solidFill>
            <a:srgbClr val="EAE4EE"/>
          </a:solidFill>
          <a:ln w="12700">
            <a:solidFill>
              <a:srgbClr val="EAE4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796528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193"/>
                </a:solidFill>
              </a:rPr>
              <a:t>C’EST FAIT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2331720"/>
            <a:ext cx="5138928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5240">
            <a:solidFill>
              <a:srgbClr val="581D74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22960" y="25146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1D74"/>
                </a:solidFill>
              </a:rPr>
              <a:t>Réclamation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2907792"/>
            <a:ext cx="477316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Comprendre le motif et guider vers la démarche adaptée.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6236208" y="2331720"/>
            <a:ext cx="5138928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5240">
            <a:solidFill>
              <a:srgbClr val="B34A8C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400800" y="25146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4A8C"/>
                </a:solidFill>
              </a:rPr>
              <a:t>Code perdu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19088" y="2907792"/>
            <a:ext cx="477316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Qualifier la situation et orienter vers la récupération sécurisée.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658368" y="3904488"/>
            <a:ext cx="5138928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5240">
            <a:solidFill>
              <a:srgbClr val="00A193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822960" y="40873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193"/>
                </a:solidFill>
              </a:rPr>
              <a:t>Crédit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" y="4480560"/>
            <a:ext cx="477316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Expliquer les options puis conduire vers la simulation ou le conseiller.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6236208" y="3904488"/>
            <a:ext cx="5138928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5240">
            <a:solidFill>
              <a:srgbClr val="EAB818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400800" y="40873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B818"/>
                </a:solidFill>
              </a:rPr>
              <a:t>Gestion privée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19088" y="4480560"/>
            <a:ext cx="477316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Clarifier le besoin et proposer le bon niveau d’accompagnement.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UNE CONVERSATION COURTE MÈNE À LA BONNE 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Compréhension, recommandation et exécution dans une expérience continue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06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1463040"/>
            <a:ext cx="822960" cy="822960"/>
          </a:xfrm>
          <a:prstGeom prst="ellipse">
            <a:avLst/>
          </a:prstGeom>
          <a:solidFill>
            <a:srgbClr val="581D74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09728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920240" y="1874520"/>
            <a:ext cx="914400" cy="1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66928" y="2560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81D74"/>
                </a:solidFill>
              </a:rPr>
              <a:t>Exprimer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3063240"/>
            <a:ext cx="1874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Décrire le besoin avec ses propres mots.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1463040"/>
            <a:ext cx="822960" cy="822960"/>
          </a:xfrm>
          <a:prstGeom prst="ellipse">
            <a:avLst/>
          </a:prstGeom>
          <a:solidFill>
            <a:srgbClr val="B34A8C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38328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206240" y="1874520"/>
            <a:ext cx="914400" cy="1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852928" y="2560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4A8C"/>
                </a:solidFill>
              </a:rPr>
              <a:t>Comprendre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852928" y="3063240"/>
            <a:ext cx="1874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Reformuler et demander les précisions utiles.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1463040"/>
            <a:ext cx="822960" cy="822960"/>
          </a:xfrm>
          <a:prstGeom prst="ellipse">
            <a:avLst/>
          </a:prstGeom>
          <a:solidFill>
            <a:srgbClr val="00A193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66928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92240" y="1874520"/>
            <a:ext cx="914400" cy="1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138928" y="2560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193"/>
                </a:solidFill>
              </a:rPr>
              <a:t>Expliquer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138928" y="3063240"/>
            <a:ext cx="1874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Répondre simplement avec des sources.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955280" y="1463040"/>
            <a:ext cx="822960" cy="822960"/>
          </a:xfrm>
          <a:prstGeom prst="ellipse">
            <a:avLst/>
          </a:prstGeom>
          <a:solidFill>
            <a:srgbClr val="DB4B4B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795528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778240" y="1874520"/>
            <a:ext cx="914400" cy="1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7424928" y="2560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4B4B"/>
                </a:solidFill>
              </a:rPr>
              <a:t>Agir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24928" y="3063240"/>
            <a:ext cx="1874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Proposer le lien, le formulaire ou la simulation.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241280" y="1463040"/>
            <a:ext cx="822960" cy="822960"/>
          </a:xfrm>
          <a:prstGeom prst="ellipse">
            <a:avLst/>
          </a:prstGeom>
          <a:solidFill>
            <a:srgbClr val="55579E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1024128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710928" y="2560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79E"/>
                </a:solidFill>
              </a:rPr>
              <a:t>Relayer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710928" y="3063240"/>
            <a:ext cx="1874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Passer à un humain avec le contexte.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97280" y="4800600"/>
            <a:ext cx="10012680" cy="868680"/>
          </a:xfrm>
          <a:prstGeom prst="roundRect">
            <a:avLst/>
          </a:prstGeom>
          <a:solidFill>
            <a:srgbClr val="F3EDF6"/>
          </a:solidFill>
          <a:ln w="12700">
            <a:solidFill>
              <a:srgbClr val="DED2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1417320" y="5102352"/>
            <a:ext cx="937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81D74"/>
                </a:solidFill>
              </a:rPr>
              <a:t>Moment de vérité : l’utilisateur va du besoin au résultat sans devoir chercher où cliquer.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DES CONTENUS BANCAIRES VALIDÉS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Le socle transforme l’intention en réponse fiable puis en action maîtrisée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07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pic>
        <p:nvPicPr>
          <p:cNvPr id="8" name="Image 1" descr="/mnt/data/b68c289df6.png"/>
          <p:cNvPicPr>
            <a:picLocks noChangeAspect="1"/>
          </p:cNvPicPr>
          <p:nvPr/>
        </p:nvPicPr>
        <p:blipFill>
          <a:blip r:embed="rId4"/>
          <a:srcRect l="10245" r="10245"/>
          <a:stretch/>
        </p:blipFill>
        <p:spPr>
          <a:xfrm>
            <a:off x="502920" y="1234440"/>
            <a:ext cx="5943600" cy="4983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20840" y="1298448"/>
            <a:ext cx="48463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5240">
            <a:solidFill>
              <a:srgbClr val="581D74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885432" y="148132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1D74"/>
                </a:solidFill>
              </a:rPr>
              <a:t>Comprendre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0372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Intention, contexte, langage naturel et accessibilité.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6720840" y="2505456"/>
            <a:ext cx="48463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5240">
            <a:solidFill>
              <a:srgbClr val="00A193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885432" y="268833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193"/>
                </a:solidFill>
              </a:rPr>
              <a:t>Ancrer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903720" y="3081528"/>
            <a:ext cx="4480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Recherche dans les contenus bancaires et services associés.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6720840" y="3712464"/>
            <a:ext cx="48463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5240">
            <a:solidFill>
              <a:srgbClr val="DB4B4B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885432" y="389534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4B4B"/>
                </a:solidFill>
              </a:rPr>
              <a:t>Sécuriser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903720" y="4288536"/>
            <a:ext cx="4480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Limites, consentement, traçabilité et protection des données.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6720840" y="4919472"/>
            <a:ext cx="48463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5240">
            <a:solidFill>
              <a:srgbClr val="55579E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885432" y="510235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79E"/>
                </a:solidFill>
              </a:rPr>
              <a:t>Agir ou relayer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903720" y="5495544"/>
            <a:ext cx="4480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Action guidée ou passage au conseiller avec le contexte utile.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LA CONFIANCE DEVIENT UNE FONCTIONNALITÉ VISIBLE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La simplicité ne doit jamais réduire le contrôle de l’utilisateur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08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pic>
        <p:nvPicPr>
          <p:cNvPr id="8" name="Image 1" descr="/mnt/data/a1e881d7d1.png"/>
          <p:cNvPicPr>
            <a:picLocks noChangeAspect="1"/>
          </p:cNvPicPr>
          <p:nvPr/>
        </p:nvPicPr>
        <p:blipFill>
          <a:blip r:embed="rId4"/>
          <a:srcRect l="15749" r="15749"/>
          <a:stretch/>
        </p:blipFill>
        <p:spPr>
          <a:xfrm>
            <a:off x="502920" y="1234440"/>
            <a:ext cx="5120640" cy="4983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0760" y="1847088"/>
            <a:ext cx="594360" cy="1"/>
          </a:xfrm>
          <a:prstGeom prst="line">
            <a:avLst/>
          </a:prstGeom>
          <a:noFill/>
          <a:ln w="50800">
            <a:solidFill>
              <a:srgbClr val="581D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903720" y="1417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1D74"/>
                </a:solidFill>
              </a:rPr>
              <a:t>Transparence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03720" y="1828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Montrer la source, la logique et les limites de la réponse.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2990088"/>
            <a:ext cx="594360" cy="1"/>
          </a:xfrm>
          <a:prstGeom prst="line">
            <a:avLst/>
          </a:prstGeom>
          <a:noFill/>
          <a:ln w="50800">
            <a:solidFill>
              <a:srgbClr val="B34A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903720" y="2560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A8C"/>
                </a:solidFill>
              </a:rPr>
              <a:t>Contrôle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03720" y="2971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Conserver des choix explicites, modifiables et réversibles.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4133088"/>
            <a:ext cx="594360" cy="1"/>
          </a:xfrm>
          <a:prstGeom prst="line">
            <a:avLst/>
          </a:prstGeom>
          <a:noFill/>
          <a:ln w="50800">
            <a:solidFill>
              <a:srgbClr val="DB4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903720" y="3703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4B4B"/>
                </a:solidFill>
              </a:rPr>
              <a:t>Sécurité &amp; RGPD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903720" y="4114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Limiter les données et protéger les échanges.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5276088"/>
            <a:ext cx="594360" cy="1"/>
          </a:xfrm>
          <a:prstGeom prst="line">
            <a:avLst/>
          </a:prstGeom>
          <a:noFill/>
          <a:ln w="50800">
            <a:solidFill>
              <a:srgbClr val="00A1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903720" y="4846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193"/>
                </a:solidFill>
              </a:rPr>
              <a:t>Relais humain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903720" y="52578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Assurer une reprise fluide, notamment pour l’accessibilité.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TROUVER UN RÉSULTAT PROBANT SANS CHERCHER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34A8C"/>
                </a:solidFill>
              </a:rPr>
              <a:t>Un périmètre resserré et un prototype immédiatement testable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6473952"/>
            <a:ext cx="11430000" cy="1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7F7F"/>
                </a:solidFill>
              </a:rPr>
              <a:t>BPCE SI  |  Défi IA4Impact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0B0"/>
                </a:solidFill>
              </a:rPr>
              <a:t>09 / 09</a:t>
            </a:r>
            <a:endParaRPr lang="en-US" sz="700" dirty="0"/>
          </a:p>
        </p:txBody>
      </p:sp>
      <p:pic>
        <p:nvPicPr>
          <p:cNvPr id="7" name="Image 0" descr="/mnt/data/work/char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4" y="6517853"/>
            <a:ext cx="914400" cy="1499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234440"/>
            <a:ext cx="3337560" cy="4892040"/>
          </a:xfrm>
          <a:prstGeom prst="roundRect">
            <a:avLst/>
          </a:prstGeom>
          <a:solidFill>
            <a:srgbClr val="581D74"/>
          </a:solidFill>
          <a:ln w="12700">
            <a:solidFill>
              <a:srgbClr val="581D74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914400" y="1600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FC6E8"/>
                </a:solidFill>
              </a:rPr>
              <a:t>LIVRABLE ATTENDU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1945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Un assistant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14400" y="4023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Démontré sur 2 à 3 parcours réels, avec sources, garde-fous et relais humain.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5349240"/>
            <a:ext cx="2331720" cy="347472"/>
          </a:xfrm>
          <a:prstGeom prst="rect">
            <a:avLst/>
          </a:prstGeom>
          <a:solidFill>
            <a:srgbClr val="EAB8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1D74"/>
                </a:solidFill>
              </a:rPr>
              <a:t>PO • ÉQUIPE PROJET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123444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581D74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462272" y="14173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1D74"/>
                </a:solidFill>
              </a:rPr>
              <a:t>Efficacité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80560" y="1810512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La tâche aboutit sans navigation exploratoire.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7955280" y="123444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B34A8C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119872" y="14173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4A8C"/>
                </a:solidFill>
              </a:rPr>
              <a:t>Compréhension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38160" y="1810512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Le résultat est compris sans jargon non expliqué.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297680" y="2807208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00A193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462272" y="29900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193"/>
                </a:solidFill>
              </a:rPr>
              <a:t>Confiance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480560" y="3383280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Sources, limites et choix sont visibles.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7955280" y="2807208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DB4B4B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8119872" y="29900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4B4B"/>
                </a:solidFill>
              </a:rPr>
              <a:t>Continuité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38160" y="3383280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L’action ou le relais conserve le contexte.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4297680" y="4379976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55579E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462272" y="4562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79E"/>
                </a:solidFill>
              </a:rPr>
              <a:t>Accessibilité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480560" y="4956048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L’expérience reste utilisable selon les besoins.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7955280" y="4379976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EAB818"/>
            </a:solidFill>
            <a:prstDash val="soli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8119872" y="4562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B818"/>
                </a:solidFill>
              </a:rPr>
              <a:t>Apprentissage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138160" y="4956048"/>
            <a:ext cx="29718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Les incompréhensions et abandons sont mesurables.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13EC172FE4C4793E3383A7D17C7D7" ma:contentTypeVersion="12" ma:contentTypeDescription="Create a new document." ma:contentTypeScope="" ma:versionID="19b2dab4b033a0bd29c084e2f526ea27">
  <xsd:schema xmlns:xsd="http://www.w3.org/2001/XMLSchema" xmlns:xs="http://www.w3.org/2001/XMLSchema" xmlns:p="http://schemas.microsoft.com/office/2006/metadata/properties" xmlns:ns2="b2f56d03-cf8d-4ae5-b9fd-f7011a84051f" xmlns:ns3="a02492fa-39f4-427b-a673-12f843bde7d3" targetNamespace="http://schemas.microsoft.com/office/2006/metadata/properties" ma:root="true" ma:fieldsID="7ef772c8a921c083fbcaf0de3e554d61" ns2:_="" ns3:_="">
    <xsd:import namespace="b2f56d03-cf8d-4ae5-b9fd-f7011a84051f"/>
    <xsd:import namespace="a02492fa-39f4-427b-a673-12f843bde7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56d03-cf8d-4ae5-b9fd-f7011a840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52eb4dc-0ef3-4aa8-8e03-025dbf6c8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492fa-39f4-427b-a673-12f843bde7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e13fc5-53c8-4eea-bdb8-8c7548bcf09e}" ma:internalName="TaxCatchAll" ma:showField="CatchAllData" ma:web="a02492fa-39f4-427b-a673-12f843bde7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c52eb4dc-0ef3-4aa8-8e03-025dbf6c8637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f56d03-cf8d-4ae5-b9fd-f7011a84051f">
      <Terms xmlns="http://schemas.microsoft.com/office/infopath/2007/PartnerControls"/>
    </lcf76f155ced4ddcb4097134ff3c332f>
    <TaxCatchAll xmlns="a02492fa-39f4-427b-a673-12f843bde7d3" xsi:nil="true"/>
  </documentManagement>
</p:properties>
</file>

<file path=customXml/itemProps1.xml><?xml version="1.0" encoding="utf-8"?>
<ds:datastoreItem xmlns:ds="http://schemas.openxmlformats.org/officeDocument/2006/customXml" ds:itemID="{F1A3976E-F3AF-4BBF-95A3-CB6B0BB63B79}"/>
</file>

<file path=customXml/itemProps2.xml><?xml version="1.0" encoding="utf-8"?>
<ds:datastoreItem xmlns:ds="http://schemas.openxmlformats.org/officeDocument/2006/customXml" ds:itemID="{88A7A60E-C2B3-453E-8B04-FBB8BCF8FBA5}"/>
</file>

<file path=customXml/itemProps3.xml><?xml version="1.0" encoding="utf-8"?>
<ds:datastoreItem xmlns:ds="http://schemas.openxmlformats.org/officeDocument/2006/customXml" ds:itemID="{94F4869A-2AB3-4B09-B00F-A3AF31A98141}"/>
</file>

<file path=customXml/itemProps4.xml><?xml version="1.0" encoding="utf-8"?>
<ds:datastoreItem xmlns:ds="http://schemas.openxmlformats.org/officeDocument/2006/customXml" ds:itemID="{DF3AA03C-EF9B-47CD-B1D9-607B1DB69BA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972</Words>
  <Application>Microsoft Office PowerPoint</Application>
  <PresentationFormat>Grand écran</PresentationFormat>
  <Paragraphs>141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Cabin Condensed</vt:lpstr>
      <vt:lpstr>Montserrat</vt:lpstr>
      <vt:lpstr>Montserrat ExtraBold</vt:lpstr>
      <vt:lpstr>Office Theme</vt:lpstr>
      <vt:lpstr>Titre de la présentation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BPCE-SI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Défi IA4Impact BPCE-SI</dc:title>
  <dc:subject>PptxGenJS Presentation</dc:subject>
  <dc:creator>LIU Yung (BPCE-SI)</dc:creator>
  <cp:lastModifiedBy>VEILLEPEAU Frederic (BPCE-SI)</cp:lastModifiedBy>
  <cp:revision>29</cp:revision>
  <dcterms:created xsi:type="dcterms:W3CDTF">2026-09-11T16:35:09Z</dcterms:created>
  <dcterms:modified xsi:type="dcterms:W3CDTF">2026-09-14T07:37:41Z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d18aa4-ed64-4d59-b931-5ad635491991_Enabled">
    <vt:lpwstr>true</vt:lpwstr>
  </property>
  <property fmtid="{D5CDD505-2E9C-101B-9397-08002B2CF9AE}" pid="3" name="MSIP_Label_7dd18aa4-ed64-4d59-b931-5ad635491991_SetDate">
    <vt:lpwstr>2026-09-11T16:35:09Z</vt:lpwstr>
  </property>
  <property fmtid="{D5CDD505-2E9C-101B-9397-08002B2CF9AE}" pid="4" name="MSIP_Label_7dd18aa4-ed64-4d59-b931-5ad635491991_Method">
    <vt:lpwstr>Standard</vt:lpwstr>
  </property>
  <property fmtid="{D5CDD505-2E9C-101B-9397-08002B2CF9AE}" pid="5" name="MSIP_Label_7dd18aa4-ed64-4d59-b931-5ad635491991_Name">
    <vt:lpwstr>Standard</vt:lpwstr>
  </property>
  <property fmtid="{D5CDD505-2E9C-101B-9397-08002B2CF9AE}" pid="6" name="MSIP_Label_7dd18aa4-ed64-4d59-b931-5ad635491991_SiteId">
    <vt:lpwstr>d5bb6d35-8a82-4329-b49a-5030bd6497ab</vt:lpwstr>
  </property>
  <property fmtid="{D5CDD505-2E9C-101B-9397-08002B2CF9AE}" pid="7" name="MSIP_Label_7dd18aa4-ed64-4d59-b931-5ad635491991_ActionId">
    <vt:lpwstr>80364d32-4dcf-49ec-a233-66261b41327b</vt:lpwstr>
  </property>
  <property fmtid="{D5CDD505-2E9C-101B-9397-08002B2CF9AE}" pid="8" name="MSIP_Label_7dd18aa4-ed64-4d59-b931-5ad635491991_ContentBits">
    <vt:lpwstr>0</vt:lpwstr>
  </property>
  <property fmtid="{D5CDD505-2E9C-101B-9397-08002B2CF9AE}" pid="9" name="ContentTypeId">
    <vt:lpwstr>0x01010019813EC172FE4C4793E3383A7D17C7D7</vt:lpwstr>
  </property>
</Properties>
</file>