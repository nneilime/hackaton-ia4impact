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Bitter Bold"/>
      <p:regular r:id="rId201314"/>
    </p:embeddedFont>
    <p:embeddedFont>
      <p:font typeface="Bitter ExtraBold"/>
      <p:regular r:id="rId201315"/>
    </p:embeddedFont>
    <p:embeddedFont>
      <p:font typeface="Public Sans"/>
      <p:regular r:id="rId201316"/>
    </p:embeddedFont>
    <p:embeddedFont>
      <p:font typeface="Public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valeur de l'IA dépend de la propreté de la donnée source. Grâce à VS Code Data Wrangler et uv, nous avons bâti une chaîne de nettoyage industrielle et reproductible en quelques secondes.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04800"/>
            <a:ext cx="1178530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F3F1E8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QUALITÉ &amp; INGÉNIERIE DE LA DONNÉE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06390" y="631531"/>
            <a:ext cx="11378915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F3F1E8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Des données fiables grâce à Data Wrangler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06390" y="2381746"/>
            <a:ext cx="3589744" cy="2654002"/>
          </a:xfrm>
          <a:prstGeom prst="rect">
            <a:avLst/>
          </a:prstGeom>
          <a:solidFill>
            <a:srgbClr val="1A3D3B"/>
          </a:solidFill>
          <a:ln/>
        </p:spPr>
      </p:sp>
      <p:sp>
        <p:nvSpPr>
          <p:cNvPr id="5" name="Shape 3"/>
          <p:cNvSpPr/>
          <p:nvPr/>
        </p:nvSpPr>
        <p:spPr>
          <a:xfrm>
            <a:off x="406390" y="2381746"/>
            <a:ext cx="3589744" cy="38100"/>
          </a:xfrm>
          <a:prstGeom prst="rect">
            <a:avLst/>
          </a:prstGeom>
          <a:solidFill>
            <a:srgbClr val="7FD8C4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2655391"/>
            <a:ext cx="73370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7FD8C4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6899" y="2654914"/>
            <a:ext cx="283064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3F1E8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Audit GMAO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6899" y="3115290"/>
            <a:ext cx="283064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3F1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Détection et correction interactive des anomalies d'historique technique sous VS Code Data Wrangler.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00926" y="2381746"/>
            <a:ext cx="3589744" cy="2654002"/>
          </a:xfrm>
          <a:prstGeom prst="rect">
            <a:avLst/>
          </a:prstGeom>
          <a:solidFill>
            <a:srgbClr val="1A3D3B"/>
          </a:solidFill>
          <a:ln/>
        </p:spPr>
      </p:sp>
      <p:sp>
        <p:nvSpPr>
          <p:cNvPr id="10" name="Shape 8"/>
          <p:cNvSpPr/>
          <p:nvPr/>
        </p:nvSpPr>
        <p:spPr>
          <a:xfrm>
            <a:off x="4300926" y="2381746"/>
            <a:ext cx="3589744" cy="38100"/>
          </a:xfrm>
          <a:prstGeom prst="rect">
            <a:avLst/>
          </a:prstGeom>
          <a:solidFill>
            <a:srgbClr val="7FD8C4"/>
          </a:solidFill>
          <a:ln/>
        </p:spPr>
      </p:sp>
      <p:sp>
        <p:nvSpPr>
          <p:cNvPr id="11" name="Text 9"/>
          <p:cNvSpPr/>
          <p:nvPr/>
        </p:nvSpPr>
        <p:spPr>
          <a:xfrm>
            <a:off x="4529520" y="2655391"/>
            <a:ext cx="769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7FD8C4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67153" y="2654914"/>
            <a:ext cx="27949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3F1E8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Standardisation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67153" y="3115290"/>
            <a:ext cx="2794922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3F1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Harmonisation des nomenclatures d'équipements et imputation contrôlée des valeurs manquantes.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95462" y="2381746"/>
            <a:ext cx="3589744" cy="2654002"/>
          </a:xfrm>
          <a:prstGeom prst="rect">
            <a:avLst/>
          </a:prstGeom>
          <a:solidFill>
            <a:srgbClr val="1A3D3B"/>
          </a:solidFill>
          <a:ln/>
        </p:spPr>
      </p:sp>
      <p:sp>
        <p:nvSpPr>
          <p:cNvPr id="15" name="Shape 13"/>
          <p:cNvSpPr/>
          <p:nvPr/>
        </p:nvSpPr>
        <p:spPr>
          <a:xfrm>
            <a:off x="8195462" y="2381746"/>
            <a:ext cx="3589744" cy="38100"/>
          </a:xfrm>
          <a:prstGeom prst="rect">
            <a:avLst/>
          </a:prstGeom>
          <a:solidFill>
            <a:srgbClr val="7FD8C4"/>
          </a:solidFill>
          <a:ln/>
        </p:spPr>
      </p:sp>
      <p:sp>
        <p:nvSpPr>
          <p:cNvPr id="16" name="Text 14"/>
          <p:cNvSpPr/>
          <p:nvPr/>
        </p:nvSpPr>
        <p:spPr>
          <a:xfrm>
            <a:off x="8424056" y="2655391"/>
            <a:ext cx="77140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7FD8C4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763674" y="2654914"/>
            <a:ext cx="279293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3F1E8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Pipeline uv &amp; Pandas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63674" y="3115290"/>
            <a:ext cx="279293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3F1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Génération d'un code Python traçable, 100 % reproductible, exécuté à haute vitesse via uv.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763674" y="4479032"/>
            <a:ext cx="1972816" cy="328116"/>
          </a:xfrm>
          <a:prstGeom prst="rect">
            <a:avLst/>
          </a:prstGeom>
          <a:solidFill>
            <a:srgbClr val="FF7F5C"/>
          </a:solidFill>
          <a:ln/>
        </p:spPr>
      </p:sp>
      <p:sp>
        <p:nvSpPr>
          <p:cNvPr id="20" name="Text 18"/>
          <p:cNvSpPr/>
          <p:nvPr/>
        </p:nvSpPr>
        <p:spPr>
          <a:xfrm>
            <a:off x="8884519" y="4549553"/>
            <a:ext cx="234071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" kern="10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Auditable &amp; Robuste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06390" y="6319957"/>
            <a:ext cx="1178530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BFB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Pipeline de traitement entièrement versionné, éliminant les biais de saisie manuelle dans la GMAO.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2026-10-10T13:08:25Z</dcterms:created>
  <dcterms:modified xsi:type="dcterms:W3CDTF">2026-10-10T13:08:25Z</dcterms:modified>
</cp:coreProperties>
</file>