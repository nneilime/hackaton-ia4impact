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en/img/log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1600200" cy="88174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292608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BÂTIA, EN UN COUP D’ŒIL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841248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IA for Impact 2026 · Défi « Hacker le bâtiment avant qu’il ne casse » · données 100 % fictives</a:t>
            </a:r>
            <a:endParaRPr lang="en-US" sz="1400" dirty="0"/>
          </a:p>
        </p:txBody>
      </p:sp>
      <p:sp>
        <p:nvSpPr>
          <p:cNvPr id="5" name="carte_1"/>
          <p:cNvSpPr/>
          <p:nvPr/>
        </p:nvSpPr>
        <p:spPr>
          <a:xfrm>
            <a:off x="548640" y="169164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F1F4F8"/>
          </a:solidFill>
          <a:ln w="15875">
            <a:solidFill>
              <a:srgbClr val="1A35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1435608"/>
            <a:ext cx="548640" cy="548640"/>
          </a:xfrm>
          <a:prstGeom prst="ellipse">
            <a:avLst/>
          </a:prstGeom>
          <a:solidFill>
            <a:srgbClr val="1A35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075688"/>
            <a:ext cx="822960" cy="822960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7685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10512" y="20208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patrimoine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810512" y="258775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01 · 02 · 03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08960"/>
            <a:ext cx="3867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résidences (A à H), 4 modes d’énergie : gaz individuel, chaufferie collective, électrique, pompe à chaleur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bâtiments, 1 100 logements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logement : typologie, surface, étage, DPE détaillé, rotation des locataires</a:t>
            </a:r>
            <a:endParaRPr lang="en-US" sz="1500" dirty="0"/>
          </a:p>
        </p:txBody>
      </p:sp>
      <p:sp>
        <p:nvSpPr>
          <p:cNvPr id="13" name="carte_2"/>
          <p:cNvSpPr/>
          <p:nvPr/>
        </p:nvSpPr>
        <p:spPr>
          <a:xfrm>
            <a:off x="5376672" y="169164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FDEEF3"/>
          </a:solidFill>
          <a:ln w="15875">
            <a:solidFill>
              <a:srgbClr val="EE1F5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32704" y="1435608"/>
            <a:ext cx="548640" cy="548640"/>
          </a:xfrm>
          <a:prstGeom prst="ellipse">
            <a:avLst/>
          </a:prstGeom>
          <a:solidFill>
            <a:srgbClr val="1A35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32704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650992" y="2075688"/>
            <a:ext cx="822960" cy="822960"/>
          </a:xfrm>
          <a:prstGeom prst="ellipse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27685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38544" y="20208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équipements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638544" y="258775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04 · 4 217 équipements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650992" y="3108960"/>
            <a:ext cx="3867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Chaudières, PAC, ballons, convecteurs, VMC, ascenseurs…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pose, origine de cette date, durée de vie de référence, contrat d’entretien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1 285 équipements à scorer (dans_perimetre_prediction = Oui)</a:t>
            </a:r>
            <a:endParaRPr lang="en-US" sz="1500" dirty="0"/>
          </a:p>
        </p:txBody>
      </p:sp>
      <p:sp>
        <p:nvSpPr>
          <p:cNvPr id="21" name="carte_3"/>
          <p:cNvSpPr/>
          <p:nvPr/>
        </p:nvSpPr>
        <p:spPr>
          <a:xfrm>
            <a:off x="10204704" y="169164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E6F4F3"/>
          </a:solidFill>
          <a:ln w="15875">
            <a:solidFill>
              <a:srgbClr val="00868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460736" y="1435608"/>
            <a:ext cx="548640" cy="548640"/>
          </a:xfrm>
          <a:prstGeom prst="ellipse">
            <a:avLst/>
          </a:prstGeom>
          <a:solidFill>
            <a:srgbClr val="1A35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460736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0479024" y="2075688"/>
            <a:ext cx="822960" cy="822960"/>
          </a:xfrm>
          <a:prstGeom prst="ellipse">
            <a:avLst/>
          </a:prstGeom>
          <a:solidFill>
            <a:srgbClr val="008682"/>
          </a:solidFill>
          <a:ln w="12700">
            <a:solidFill>
              <a:srgbClr val="00868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76856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466576" y="20208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vie, 2018-2025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1466576" y="258775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05 · 06 + 3 rapports PDF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4" y="3108960"/>
            <a:ext cx="3867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30 630 interventions : entretiens, dépannages (symptôme, gravité, commentaire), remplacements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5 235 demandes de locataires, avec texte libre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prestataire : observations en texte libre (piste GenAI)</a:t>
            </a:r>
            <a:endParaRPr lang="en-US" sz="1500" dirty="0"/>
          </a:p>
        </p:txBody>
      </p:sp>
      <p:sp>
        <p:nvSpPr>
          <p:cNvPr id="29" name="carte_4"/>
          <p:cNvSpPr/>
          <p:nvPr/>
        </p:nvSpPr>
        <p:spPr>
          <a:xfrm>
            <a:off x="10204704" y="598932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F1F4F8"/>
          </a:solidFill>
          <a:ln w="15875">
            <a:solidFill>
              <a:srgbClr val="1A355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460736" y="5733288"/>
            <a:ext cx="548640" cy="548640"/>
          </a:xfrm>
          <a:prstGeom prst="ellipse">
            <a:avLst/>
          </a:prstGeom>
          <a:solidFill>
            <a:srgbClr val="1A35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0460736" y="5733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10479024" y="6373368"/>
            <a:ext cx="822960" cy="822960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2" y="6574536"/>
            <a:ext cx="420624" cy="4206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466576" y="631850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11466576" y="688543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07 · 08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10479024" y="7406640"/>
            <a:ext cx="3867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5 253 commandes : remplacements, réparations, remises en état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d’investissement : 29 opérations (hypothétiques), traitées aujourd’hui par ordre d’arrivée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plafonnée à 1,5 M€ par an : il faut arbitrer</a:t>
            </a:r>
            <a:endParaRPr lang="en-US" sz="1500" dirty="0"/>
          </a:p>
        </p:txBody>
      </p:sp>
      <p:sp>
        <p:nvSpPr>
          <p:cNvPr id="37" name="carte_5"/>
          <p:cNvSpPr/>
          <p:nvPr/>
        </p:nvSpPr>
        <p:spPr>
          <a:xfrm>
            <a:off x="5376672" y="598932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FDEEF3"/>
          </a:solidFill>
          <a:ln w="15875">
            <a:solidFill>
              <a:srgbClr val="EE1F5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632704" y="5733288"/>
            <a:ext cx="548640" cy="548640"/>
          </a:xfrm>
          <a:prstGeom prst="ellipse">
            <a:avLst/>
          </a:prstGeom>
          <a:solidFill>
            <a:srgbClr val="1A35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632704" y="5733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5650992" y="6373368"/>
            <a:ext cx="822960" cy="822960"/>
          </a:xfrm>
          <a:prstGeom prst="ellipse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6574536"/>
            <a:ext cx="420624" cy="42062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638544" y="631850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deux défis</a:t>
            </a:r>
            <a:endParaRPr lang="en-US" sz="1800" dirty="0"/>
          </a:p>
        </p:txBody>
      </p:sp>
      <p:sp>
        <p:nvSpPr>
          <p:cNvPr id="43" name="Text 35"/>
          <p:cNvSpPr txBox="1"/>
          <p:nvPr/>
        </p:nvSpPr>
        <p:spPr>
          <a:xfrm>
            <a:off x="6638544" y="688543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choix, ou les deux</a:t>
            </a:r>
            <a:endParaRPr lang="en-US" sz="1250" dirty="0"/>
          </a:p>
        </p:txBody>
      </p:sp>
      <p:sp>
        <p:nvSpPr>
          <p:cNvPr id="44" name="Text 36"/>
          <p:cNvSpPr txBox="1"/>
          <p:nvPr/>
        </p:nvSpPr>
        <p:spPr>
          <a:xfrm>
            <a:off x="5650992" y="7406640"/>
            <a:ext cx="3867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1 — Détection précoce : quel équipement risque une panne bloquante (« Arrêt total ») entre janvier et septembre 2026 ?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— Rénovation : classer les 29 opérations avec un scoring multicritère explicable</a:t>
            </a:r>
            <a:endParaRPr lang="en-US" sz="1500" dirty="0"/>
          </a:p>
        </p:txBody>
      </p:sp>
      <p:sp>
        <p:nvSpPr>
          <p:cNvPr id="45" name="carte_6"/>
          <p:cNvSpPr/>
          <p:nvPr/>
        </p:nvSpPr>
        <p:spPr>
          <a:xfrm>
            <a:off x="548640" y="598932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E6F4F3"/>
          </a:solidFill>
          <a:ln w="15875">
            <a:solidFill>
              <a:srgbClr val="008682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04672" y="5733288"/>
            <a:ext cx="548640" cy="548640"/>
          </a:xfrm>
          <a:prstGeom prst="ellipse">
            <a:avLst/>
          </a:prstGeom>
          <a:solidFill>
            <a:srgbClr val="1A35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804672" y="5733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8" name="Shape 40"/>
          <p:cNvSpPr/>
          <p:nvPr/>
        </p:nvSpPr>
        <p:spPr>
          <a:xfrm>
            <a:off x="822960" y="6373368"/>
            <a:ext cx="822960" cy="822960"/>
          </a:xfrm>
          <a:prstGeom prst="ellipse">
            <a:avLst/>
          </a:prstGeom>
          <a:solidFill>
            <a:srgbClr val="008682"/>
          </a:solidFill>
          <a:ln w="12700">
            <a:solidFill>
              <a:srgbClr val="008682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6574536"/>
            <a:ext cx="420624" cy="42062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810512" y="631850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livrable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1810512" y="688543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jury attend</a:t>
            </a:r>
            <a:endParaRPr lang="en-US" sz="1250" dirty="0"/>
          </a:p>
        </p:txBody>
      </p:sp>
      <p:sp>
        <p:nvSpPr>
          <p:cNvPr id="52" name="Text 43"/>
          <p:cNvSpPr txBox="1"/>
          <p:nvPr/>
        </p:nvSpPr>
        <p:spPr>
          <a:xfrm>
            <a:off x="822960" y="7406640"/>
            <a:ext cx="3867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1 : un CSV « equipement_id, score_risque » pour les 1 285 équipements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: capacité à classer (AUC) et pannes trouvées dans votre top 10 %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explicable : l’IA recommande, l’humain décide</a:t>
            </a:r>
            <a:endParaRPr lang="en-US" sz="1500" dirty="0"/>
          </a:p>
        </p:txBody>
      </p:sp>
      <p:sp>
        <p:nvSpPr>
          <p:cNvPr id="53" name="Shape 44"/>
          <p:cNvSpPr/>
          <p:nvPr/>
        </p:nvSpPr>
        <p:spPr>
          <a:xfrm>
            <a:off x="4956048" y="3364992"/>
            <a:ext cx="384048" cy="457200"/>
          </a:xfrm>
          <a:prstGeom prst="rightArrow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9784080" y="3364992"/>
            <a:ext cx="384048" cy="457200"/>
          </a:xfrm>
          <a:prstGeom prst="rightArrow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 rot="5400000">
            <a:off x="12188952" y="5486400"/>
            <a:ext cx="384048" cy="457200"/>
          </a:xfrm>
          <a:prstGeom prst="rightArrow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 rot="10800000">
            <a:off x="9784080" y="7662672"/>
            <a:ext cx="384048" cy="457200"/>
          </a:xfrm>
          <a:prstGeom prst="rightArrow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 rot="10800000">
            <a:off x="4956048" y="7662672"/>
            <a:ext cx="384048" cy="457200"/>
          </a:xfrm>
          <a:prstGeom prst="rightArrow">
            <a:avLst/>
          </a:prstGeom>
          <a:solidFill>
            <a:srgbClr val="EE1F5B"/>
          </a:solidFill>
          <a:ln w="12700">
            <a:solidFill>
              <a:srgbClr val="EE1F5B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548640" y="9921240"/>
            <a:ext cx="14026896" cy="502920"/>
          </a:xfrm>
          <a:prstGeom prst="roundRect">
            <a:avLst>
              <a:gd name="adj" fmla="val 14545"/>
            </a:avLst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777240" y="9921240"/>
            <a:ext cx="1362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clés pour relier les tables 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residence_id → batiment_id → logement_id → equipement_id   ·   Vos données s’arrêtent au 31/12/2025 : validez-vous dans le passé (fin 2024 → 2025)</a:t>
            </a:r>
            <a:endParaRPr lang="en-US" sz="1300" dirty="0"/>
          </a:p>
        </p:txBody>
      </p:sp>
      <p:sp>
        <p:nvSpPr>
          <p:cNvPr id="60" name="Text 51"/>
          <p:cNvSpPr txBox="1"/>
          <p:nvPr/>
        </p:nvSpPr>
        <p:spPr>
          <a:xfrm>
            <a:off x="548640" y="10451592"/>
            <a:ext cx="1402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BâtIA · Kit de données fictives · In’li sud-ouest | Action Logement · Détails : LISEZ-MOI_BatIA.pdf et onglet DICTIONNAIRE du classeur Excel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'li Sud-Ouest">
  <a:themeElements>
    <a:clrScheme name="In'li Sud-Ouest">
      <a:dk1>
        <a:srgbClr val="1D2733"/>
      </a:dk1>
      <a:lt1>
        <a:srgbClr val="FFFFFF"/>
      </a:lt1>
      <a:dk2>
        <a:srgbClr val="1A3557"/>
      </a:dk2>
      <a:lt2>
        <a:srgbClr val="F1F4F8"/>
      </a:lt2>
      <a:accent1>
        <a:srgbClr val="1A3557"/>
      </a:accent1>
      <a:accent2>
        <a:srgbClr val="EE1F5B"/>
      </a:accent2>
      <a:accent3>
        <a:srgbClr val="008682"/>
      </a:accent3>
      <a:accent4>
        <a:srgbClr val="7A8CA5"/>
      </a:accent4>
      <a:accent5>
        <a:srgbClr val="F6B7C9"/>
      </a:accent5>
      <a:accent6>
        <a:srgbClr val="9FD3CE"/>
      </a:accent6>
      <a:hlink>
        <a:srgbClr val="008682"/>
      </a:hlink>
      <a:folHlink>
        <a:srgbClr val="7A8CA5"/>
      </a:folHlink>
    </a:clrScheme>
    <a:fontScheme name="In'li Sud-Oue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VOS DONNÉES BÂTIA, EN UN COUP D’ŒIL</dc:title>
  <dc:subject>PptxGenJS Presentation</dc:subject>
  <dc:creator>In'li Sud-Ouest</dc:creator>
  <cp:lastModifiedBy>In'li Sud-Ouest</cp:lastModifiedBy>
  <cp:revision>1</cp:revision>
  <dcterms:created xsi:type="dcterms:W3CDTF">2026-10-08T13:56:51Z</dcterms:created>
  <dcterms:modified xsi:type="dcterms:W3CDTF">2026-10-08T13:56:51Z</dcterms:modified>
</cp:coreProperties>
</file>