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9b952f7-4696-9d66-ad47-dd1e61cc683f}">
          <p14:sldIdLst>
            <p14:sldId id="256"/>
            <p14:sldId id="257"/>
            <p14:sldId id="258"/>
            <p14:sldId id="259"/>
          </p14:sldIdLst>
        </p14:section>
        <p14:section name="Le produit" id="{608fd262-65af-6a9f-f78a-9409d159efe3}">
          <p14:sldIdLst>
            <p14:sldId id="260"/>
            <p14:sldId id="261"/>
            <p14:sldId id="262"/>
          </p14:sldIdLst>
        </p14:section>
        <p14:section name="L’accessibilité, au cœur" id="{56b1c152-c84f-ad40-4ab1-45934960ccdc}">
          <p14:sldIdLst>
            <p14:sldId id="263"/>
            <p14:sldId id="264"/>
            <p14:sldId id="265"/>
            <p14:sldId id="266"/>
            <p14:sldId id="267"/>
            <p14:sldId id="268"/>
          </p14:sldIdLst>
        </p14:section>
        <p14:section name="Confiance et relais humain" id="{598c75b8-ce7e-2061-2ebe-c054ed500542}">
          <p14:sldIdLst>
            <p14:sldId id="269"/>
            <p14:sldId id="270"/>
            <p14:sldId id="271"/>
            <p14:sldId id="272"/>
          </p14:sldIdLst>
        </p14:section>
        <p14:section name="Pilotage et technique" id="{1e651086-1b9f-d1d3-c10c-c6a8ac66488e}">
          <p14:sldIdLst>
            <p14:sldId id="273"/>
            <p14:sldId id="274"/>
            <p14:sldId id="275"/>
            <p14:sldId id="276"/>
          </p14:sldIdLst>
        </p14:section>
        <p14:section name="Conformité et suite" id="{d1661607-c15e-aa02-e487-4877f1f43868}">
          <p14:sldIdLst>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Nous avons pris le défi BPCE par un angle précis : un assistant qui transforme une intention bancaire en action, et que tout le monde peut utiliser, y compris les personnes en situation de handicap, les seniors ou les personnes qui maîtrisent mal l’écrit ou le français.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brief BPCE en une phrase, et les 5 étapes qu’il attend. Toute notre démo suit ces 5 étapes. Les 7 critères d’évaluation sont en bas : nous avons choisi d’en faire un, l’accessibilité, notre axe principal, parce qu’il tire tous les autres vers le haut.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raisons. 1, la loi : la directive européenne sur l’accessibilité (EAA), transposée en France, s’applique aux services bancaires depuis juin 2025. 2, l’impact : ceux qui décrochent du numérique sont ceux qui ont le plus besoin d’aide. 3, la qualité : chaque amélioration d’accessibilité profite à tous les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six publics pour lesquels nous avons conçu chaque fonction. Pour chacun, la réponse concrète du prototype. Nous ne citons pas de chiffres de population ici : à sourcer avant la présentation finale (INSEE, DREES, Défenseur des droits).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 ce que fait l’assistant, parcours par 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le vrai site Caisse d’Epargne reconstitué, avec l’assistant ouvert. À droite, comment chaque étape du brief se traduit dans l’interface. Le point clé : l’assistant ne fait aucune transaction dans le chat. Il prépare, l’utilisateur valide lui-même.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parcours couvrent les cas d’usage du brief : code perdu, réclamation, crédit, conseil et gestion privée, plus l’ouverture de compte puisque l’assistant vit sur cette page. Trois personas fictifs : Léa (prospecte), Karim (client), Hélène (cliente à fort patrimoine). Pour la démo live, nous recommandons : carte volée à la voix, puis contestation de frais.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ce que nous avons construit pour l’accessibilité.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seul bouton dans l’en-tête de l’assistant ouvre tous les réglages. Ils sont gardés sur l’appareil, jamais sur le profil du client : ce sont des données qui peuvent révéler un handicap. Au premier passage, l’assistant suit les préférences du système (contraste, animations, langue).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mode vocal est une vraie conversation : l’assistant écoute, répond à voix haute, puis réécoute tout seul. Tout reste écrit dans le fil, pour les personnes sourdes et pour relire. La validation d’une opération reste un geste volontaire : c’est une décision de sécurité à valider avec BPCE. Limite : la reconnaissance vocale de Chrome passe par un service Google (question de données à trancher) ; Firefox ne la propose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textes ont été réécrits en langage courant. L’option langage simplifié s’inspire du FALC (facile à lire et à comprendre) : phrases courtes, une idée par ligne. Le vrai agent reçoit cette préférence et écrit directement dans ce style. À faire : faire relire les textes FALC par des personnes concernées, comme le prévoit la méthode.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ne se voit pas mais fait tout pour un utilisateur de lecteur d’écran (NVDA, JAWS, VoiceOver) ou qui navigue au clavier. Non testé à ce stade avec un vrai lecteur d’écran : c’est la première chose à faire avant la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Français, anglais et espagnol dans la maquette. La langue du panneau est déclarée au navigateur, pour que les lecteurs d’écran prononcent correctement. Une prochaine étape naturelle : l’arabe, avec l’affichage de droite à gauche.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 comment l’assistant reste digne de confiance, et quand il passe la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confiance est un critère BPCE. Le RGPD : 6 mois de conservation est une hypothèse à valider avec le DPO de BPCE. Les réglages d’accessibilité ne remontent qu’en statistiques, jamais rattachés au profil : ils peuvent révéler un handicap, donc une donnée sensible.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relais humain est la garantie ultime d’accessibilité. Trois déclencheurs automatiques en plus du bouton. Le résumé transmis évite de tout réexpliquer : c’est le critère « continuité » du brief. Les canaux LSF et visio sont à confirmer avec l’offre réelle de la Caisse d’Epargne.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Raisons inspirées des retours habituels des chatbots (ChatGPT, Claude, Intercom) et des critères BPCE. Deux raisons sont propres à notre approche : l’accessibilité et le relais conseiller, qui agit directement. Le commentaire passe par le même garde-fou que le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 le backoffice pour l’équipe produit et les devs, et l’architecture.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backoffice sert l’équipe produit et les devs. Toutes les données sont fictives : un historique de 7 jours généré, plus les conversations jouées en direct. Les clients y sont pseudonymisés. Les tokens sont estimés (1 token ≈ 4 caractères) ; en production, le modèle renvoie les chiffres réels.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mauvaise réponse devient une tâche : statut à traiter, en cours, corrigée. Le dev écrit la réponse attendue, puis exporte un jeu au format messages (JSONL), courant pour l’évaluation ou l’entraînement. Point à valider : Groq sert des modèles ; le fine-tuning éventuel se ferait ailleurs (à étudier).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prototype est front uniquement, mais le contrat avec l’agent est documenté. Un clic sur Confirmer envoie seulement un identifiant : le serveur exécute, trace et vérifie l’identité depuis la session, jamais depuis le modèle. Groq en principal pour la vitesse, bascule automatique vers un second fournisseur. Modèle, seuil de bascule et tarifs restent à choisir.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 le niveau d’exigence que nous recommandons, ce qui reste à confirmer et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Recommandation en trois étages. Le RGAA est la référence française (il s’appuie sur WCAG 2.1 AA). Nous visons en plus les critères ajoutés par WCAG 2.2, et quelques critères AAA visibles en démo. Surtout : un audit indépendant et des tests avec de vrais utilisateurs.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Règle d’équipe : zéro invention. Tout ce qui n’a pas été vu dans un document BPCE est marqué hypothèse dans le prototype et listé 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étapes, dans l’ordre. Les tests avec les publics concernés passent avant l’extension : un assistant accessible se valide avec ceux qui en ont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accessibilité, langage clair et relais humain ne sont pas des options ajoutées à la fin, ce sont les fondations de l’assistant.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834640"/>
            <a:ext cx="8046720" cy="128016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046720" cy="457200"/>
          </a:xfrm>
          <a:prstGeom prst="rect">
            <a:avLst/>
          </a:prstGeom>
          <a:noFill/>
          <a:ln/>
        </p:spPr>
        <p:txBody>
          <a:bodyPr wrap="square" rtlCol="0"/>
          <a:lstStyle>
            <a:lvl1pPr indent="0" marL="0">
              <a:buNone/>
              <a:defRPr lang="en-US" sz="1600" b="1" dirty="0">
                <a:solidFill>
                  <a:schemeClr val="bg1"/>
                </a:solidFill>
              </a:defRPr>
            </a:lvl1pPr>
          </a:lstStyle>
          <a:p>
            <a:pPr indent="0" marL="0">
              <a:buNone/>
            </a:pPr>
            <a:endParaRPr lang="en-US" sz="1600" dirty="0"/>
          </a:p>
        </p:txBody>
      </p:sp>
      <p:sp>
        <p:nvSpPr>
          <p:cNvPr id="3" name="Text 0"/>
          <p:cNvSpPr/>
          <p:nvPr>
            <p:ph idx="101" type="title" hasCustomPrompt="1"/>
          </p:nvPr>
        </p:nvSpPr>
        <p:spPr>
          <a:xfrm>
            <a:off x="548640" y="1874520"/>
            <a:ext cx="8046720" cy="10972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sp>
        <p:nvSpPr>
          <p:cNvPr id="3" name="Text 0"/>
          <p:cNvSpPr/>
          <p:nvPr/>
        </p:nvSpPr>
        <p:spPr>
          <a:xfrm>
            <a:off x="457200" y="4754880"/>
            <a:ext cx="6400800" cy="274320"/>
          </a:xfrm>
          <a:prstGeom prst="rect">
            <a:avLst/>
          </a:prstGeom>
          <a:noFill/>
          <a:ln/>
        </p:spPr>
        <p:txBody>
          <a:bodyPr wrap="square" rtlCol="0" anchor="ctr"/>
          <a:lstStyle/>
          <a:p>
            <a:pPr indent="0" marL="0">
              <a:buNone/>
            </a:pPr>
            <a:r>
              <a:rPr lang="en-US" sz="900" dirty="0">
                <a:solidFill>
                  <a:schemeClr val="accent6"/>
                </a:solidFill>
              </a:rPr>
              <a:t>Assistant IA Caisse d’Epargne · Prototype, données fictives</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4.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4.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nchor="b"/>
          <a:lstStyle/>
          <a:p>
            <a:pPr algn="l" indent="0" marL="0">
              <a:buNone/>
            </a:pPr>
            <a:r>
              <a:rPr lang="en-US" sz="3800" b="1" dirty="0">
                <a:solidFill>
                  <a:schemeClr val="bg1"/>
                </a:solidFill>
              </a:rPr>
              <a:t>Un assistant IA bancaire accessible à tous</a:t>
            </a:r>
            <a:endParaRPr lang="en-US" sz="3800" dirty="0"/>
          </a:p>
        </p:txBody>
      </p:sp>
      <p:sp>
        <p:nvSpPr>
          <p:cNvPr id="3" name="Text 0"/>
          <p:cNvSpPr/>
          <p:nvPr>
            <p:ph idx="101" type="body" hasCustomPrompt="1"/>
          </p:nvPr>
        </p:nvSpPr>
        <p:spPr>
          <a:xfrm>
            <a:off x="548640" y="2834640"/>
            <a:ext cx="8046720" cy="1280160"/>
          </a:xfrm>
          <a:prstGeom prst="rect">
            <a:avLst/>
          </a:prstGeom>
          <a:noFill/>
          <a:ln/>
        </p:spPr>
        <p:txBody>
          <a:bodyPr wrap="square" rtlCol="0" anchor="t"/>
          <a:lstStyle/>
          <a:p>
            <a:pPr indent="0" marL="0">
              <a:buNone/>
            </a:pPr>
            <a:r>
              <a:rPr lang="en-US" sz="1600" dirty="0">
                <a:solidFill>
                  <a:schemeClr val="bg1"/>
                </a:solidFill>
              </a:rPr>
              <a:t>Caisse d’Epargne · Défi BPCE Solutions informatiques</a:t>
            </a:r>
            <a:endParaRPr lang="en-US" sz="1600" dirty="0"/>
          </a:p>
          <a:p>
            <a:pPr indent="0" marL="0">
              <a:buNone/>
            </a:pPr>
            <a:r>
              <a:rPr lang="en-US" sz="1600" dirty="0">
                <a:solidFill>
                  <a:schemeClr val="bg1"/>
                </a:solidFill>
              </a:rPr>
              <a:t>Hackathon IA for Impact · Toulouse · 9 et 10 octobre 2026</a:t>
            </a:r>
            <a:endParaRPr lang="en-US" sz="1600" dirty="0"/>
          </a:p>
          <a:p>
            <a:pPr indent="0" marL="0">
              <a:buNone/>
            </a:pPr>
            <a:r>
              <a:rPr lang="en-US" sz="1600" i="1" dirty="0">
                <a:solidFill>
                  <a:schemeClr val="bg1"/>
                </a:solidFill>
              </a:rPr>
              <a:t>Prototype front, données fictives</a:t>
            </a:r>
            <a:endParaRPr lang="en-US" sz="1600" dirty="0"/>
          </a:p>
        </p:txBody>
      </p:sp>
      <p:pic>
        <p:nvPicPr>
          <p:cNvPr id="4" name="Image 0" descr="preencoded.png">    </p:cNvPr>
          <p:cNvPicPr>
            <a:picLocks noChangeAspect="1"/>
          </p:cNvPicPr>
          <p:nvPr/>
        </p:nvPicPr>
        <p:blipFill>
          <a:blip r:embed="rId1"/>
          <a:stretch>
            <a:fillRect/>
          </a:stretch>
        </p:blipFill>
        <p:spPr>
          <a:xfrm>
            <a:off x="7818120" y="457200"/>
            <a:ext cx="777240" cy="777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Le défi : de l’intention à l’action, sans errance</a:t>
            </a:r>
            <a:endParaRPr lang="en-US" sz="2400" dirty="0"/>
          </a:p>
        </p:txBody>
      </p:sp>
      <p:sp>
        <p:nvSpPr>
          <p:cNvPr id="3" name="Shape 1"/>
          <p:cNvSpPr/>
          <p:nvPr/>
        </p:nvSpPr>
        <p:spPr>
          <a:xfrm>
            <a:off x="457200" y="1051560"/>
            <a:ext cx="8229600" cy="960120"/>
          </a:xfrm>
          <a:prstGeom prst="roundRect">
            <a:avLst>
              <a:gd name="adj" fmla="val 9524"/>
            </a:avLst>
          </a:prstGeom>
          <a:solidFill>
            <a:schemeClr val="bg2"/>
          </a:solidFill>
          <a:ln/>
        </p:spPr>
      </p:sp>
      <p:sp>
        <p:nvSpPr>
          <p:cNvPr id="4" name="Text 2"/>
          <p:cNvSpPr txBox="1"/>
          <p:nvPr/>
        </p:nvSpPr>
        <p:spPr>
          <a:xfrm>
            <a:off x="731520" y="1188720"/>
            <a:ext cx="7680960" cy="365760"/>
          </a:xfrm>
          <a:prstGeom prst="rect">
            <a:avLst/>
          </a:prstGeom>
          <a:noFill/>
          <a:ln/>
        </p:spPr>
        <p:txBody>
          <a:bodyPr wrap="square" lIns="0" tIns="0" rIns="0" bIns="0" rtlCol="0" anchor="t"/>
          <a:lstStyle/>
          <a:p>
            <a:pPr indent="0" marL="0">
              <a:buNone/>
            </a:pPr>
            <a:r>
              <a:rPr lang="en-US" sz="1800" b="1" i="1" dirty="0">
                <a:solidFill>
                  <a:schemeClr val="accent2"/>
                </a:solidFill>
                <a:latin typeface="Arial" pitchFamily="34" charset="0"/>
                <a:ea typeface="Arial" pitchFamily="34" charset="-122"/>
                <a:cs typeface="Arial" pitchFamily="34" charset="-120"/>
              </a:rPr>
              <a:t>« L’assistant IA qui transforme chaque intention bancaire en action »</a:t>
            </a:r>
            <a:endParaRPr lang="en-US" sz="1800" dirty="0"/>
          </a:p>
        </p:txBody>
      </p:sp>
      <p:sp>
        <p:nvSpPr>
          <p:cNvPr id="5" name="Text 3"/>
          <p:cNvSpPr txBox="1"/>
          <p:nvPr/>
        </p:nvSpPr>
        <p:spPr>
          <a:xfrm>
            <a:off x="731520" y="1600200"/>
            <a:ext cx="7680960" cy="320040"/>
          </a:xfrm>
          <a:prstGeom prst="rect">
            <a:avLst/>
          </a:prstGeom>
          <a:noFill/>
          <a:ln/>
        </p:spPr>
        <p:txBody>
          <a:bodyPr wrap="square" lIns="0" tIns="0" rIns="0" bIns="0" rtlCol="0" anchor="t"/>
          <a:lstStyle/>
          <a:p>
            <a:pPr indent="0" marL="0">
              <a:buNone/>
            </a:pPr>
            <a:r>
              <a:rPr lang="en-US" sz="1400" dirty="0">
                <a:solidFill>
                  <a:schemeClr val="tx1"/>
                </a:solidFill>
                <a:latin typeface="Arial" pitchFamily="34" charset="0"/>
                <a:ea typeface="Arial" pitchFamily="34" charset="-122"/>
                <a:cs typeface="Arial" pitchFamily="34" charset="-120"/>
              </a:rPr>
              <a:t>Livrable attendu : 2 à 3 parcours réels, avec sources, garde-fous et relais humain.</a:t>
            </a:r>
            <a:endParaRPr lang="en-US" sz="1400" dirty="0"/>
          </a:p>
        </p:txBody>
      </p:sp>
      <p:sp>
        <p:nvSpPr>
          <p:cNvPr id="6" name="badge-FaCommentDots"/>
          <p:cNvSpPr/>
          <p:nvPr/>
        </p:nvSpPr>
        <p:spPr>
          <a:xfrm>
            <a:off x="1005840" y="2331720"/>
            <a:ext cx="502920" cy="50292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1126541" y="2452421"/>
            <a:ext cx="261518" cy="261518"/>
          </a:xfrm>
          <a:prstGeom prst="rect">
            <a:avLst/>
          </a:prstGeom>
        </p:spPr>
      </p:pic>
      <p:sp>
        <p:nvSpPr>
          <p:cNvPr id="8" name="Text 5"/>
          <p:cNvSpPr txBox="1"/>
          <p:nvPr/>
        </p:nvSpPr>
        <p:spPr>
          <a:xfrm>
            <a:off x="457200" y="2971800"/>
            <a:ext cx="1554480" cy="320040"/>
          </a:xfrm>
          <a:prstGeom prst="rect">
            <a:avLst/>
          </a:prstGeom>
          <a:noFill/>
          <a:ln/>
        </p:spPr>
        <p:txBody>
          <a:bodyPr wrap="square" lIns="0" tIns="0" rIns="0" bIns="0" rtlCol="0" anchor="t"/>
          <a:lstStyle/>
          <a:p>
            <a:pPr algn="ctr" indent="0" marL="0">
              <a:buNone/>
            </a:pPr>
            <a:r>
              <a:rPr lang="en-US" sz="1500" b="1" dirty="0">
                <a:solidFill>
                  <a:schemeClr val="tx2"/>
                </a:solidFill>
                <a:latin typeface="Arial" pitchFamily="34" charset="0"/>
                <a:ea typeface="Arial" pitchFamily="34" charset="-122"/>
                <a:cs typeface="Arial" pitchFamily="34" charset="-120"/>
              </a:rPr>
              <a:t>Exprimer</a:t>
            </a:r>
            <a:endParaRPr lang="en-US" sz="1500" dirty="0"/>
          </a:p>
        </p:txBody>
      </p:sp>
      <p:sp>
        <p:nvSpPr>
          <p:cNvPr id="9" name="Text 6"/>
          <p:cNvSpPr txBox="1"/>
          <p:nvPr/>
        </p:nvSpPr>
        <p:spPr>
          <a:xfrm>
            <a:off x="457200" y="3310128"/>
            <a:ext cx="1554480" cy="640080"/>
          </a:xfrm>
          <a:prstGeom prst="rect">
            <a:avLst/>
          </a:prstGeom>
          <a:noFill/>
          <a:ln/>
        </p:spPr>
        <p:txBody>
          <a:bodyPr wrap="square" lIns="0" tIns="0" rIns="0" bIns="0" rtlCol="0" anchor="t"/>
          <a:lstStyle/>
          <a:p>
            <a:pPr algn="ctr" indent="0" marL="0">
              <a:buNone/>
            </a:pPr>
            <a:r>
              <a:rPr lang="en-US" sz="1200" dirty="0">
                <a:solidFill>
                  <a:schemeClr val="tx1"/>
                </a:solidFill>
                <a:latin typeface="Arial" pitchFamily="34" charset="0"/>
                <a:ea typeface="Arial" pitchFamily="34" charset="-122"/>
                <a:cs typeface="Arial" pitchFamily="34" charset="-120"/>
              </a:rPr>
              <a:t>Avec ses mots, à l’écrit ou à la voix</a:t>
            </a:r>
            <a:endParaRPr lang="en-US" sz="1200" dirty="0"/>
          </a:p>
        </p:txBody>
      </p:sp>
      <p:sp>
        <p:nvSpPr>
          <p:cNvPr id="10" name="badge-FaSearch"/>
          <p:cNvSpPr/>
          <p:nvPr/>
        </p:nvSpPr>
        <p:spPr>
          <a:xfrm>
            <a:off x="2688336" y="2331720"/>
            <a:ext cx="502920" cy="50292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2809037" y="2452421"/>
            <a:ext cx="261518" cy="261518"/>
          </a:xfrm>
          <a:prstGeom prst="rect">
            <a:avLst/>
          </a:prstGeom>
        </p:spPr>
      </p:pic>
      <p:sp>
        <p:nvSpPr>
          <p:cNvPr id="12" name="Text 8"/>
          <p:cNvSpPr txBox="1"/>
          <p:nvPr/>
        </p:nvSpPr>
        <p:spPr>
          <a:xfrm>
            <a:off x="2139696" y="2971800"/>
            <a:ext cx="1554480" cy="320040"/>
          </a:xfrm>
          <a:prstGeom prst="rect">
            <a:avLst/>
          </a:prstGeom>
          <a:noFill/>
          <a:ln/>
        </p:spPr>
        <p:txBody>
          <a:bodyPr wrap="square" lIns="0" tIns="0" rIns="0" bIns="0" rtlCol="0" anchor="t"/>
          <a:lstStyle/>
          <a:p>
            <a:pPr algn="ctr" indent="0" marL="0">
              <a:buNone/>
            </a:pPr>
            <a:r>
              <a:rPr lang="en-US" sz="1500" b="1" dirty="0">
                <a:solidFill>
                  <a:schemeClr val="tx2"/>
                </a:solidFill>
                <a:latin typeface="Arial" pitchFamily="34" charset="0"/>
                <a:ea typeface="Arial" pitchFamily="34" charset="-122"/>
                <a:cs typeface="Arial" pitchFamily="34" charset="-120"/>
              </a:rPr>
              <a:t>Comprendre</a:t>
            </a:r>
            <a:endParaRPr lang="en-US" sz="1500" dirty="0"/>
          </a:p>
        </p:txBody>
      </p:sp>
      <p:sp>
        <p:nvSpPr>
          <p:cNvPr id="13" name="Text 9"/>
          <p:cNvSpPr txBox="1"/>
          <p:nvPr/>
        </p:nvSpPr>
        <p:spPr>
          <a:xfrm>
            <a:off x="2139696" y="3310128"/>
            <a:ext cx="1554480" cy="640080"/>
          </a:xfrm>
          <a:prstGeom prst="rect">
            <a:avLst/>
          </a:prstGeom>
          <a:noFill/>
          <a:ln/>
        </p:spPr>
        <p:txBody>
          <a:bodyPr wrap="square" lIns="0" tIns="0" rIns="0" bIns="0" rtlCol="0" anchor="t"/>
          <a:lstStyle/>
          <a:p>
            <a:pPr algn="ctr" indent="0" marL="0">
              <a:buNone/>
            </a:pPr>
            <a:r>
              <a:rPr lang="en-US" sz="1200" dirty="0">
                <a:solidFill>
                  <a:schemeClr val="tx1"/>
                </a:solidFill>
                <a:latin typeface="Arial" pitchFamily="34" charset="0"/>
                <a:ea typeface="Arial" pitchFamily="34" charset="-122"/>
                <a:cs typeface="Arial" pitchFamily="34" charset="-120"/>
              </a:rPr>
              <a:t>Reformuler, préciser</a:t>
            </a:r>
            <a:endParaRPr lang="en-US" sz="1200" dirty="0"/>
          </a:p>
        </p:txBody>
      </p:sp>
      <p:sp>
        <p:nvSpPr>
          <p:cNvPr id="14" name="badge-FaBookOpen"/>
          <p:cNvSpPr/>
          <p:nvPr/>
        </p:nvSpPr>
        <p:spPr>
          <a:xfrm>
            <a:off x="4370832" y="2331720"/>
            <a:ext cx="502920" cy="50292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4491533" y="2452421"/>
            <a:ext cx="261518" cy="261518"/>
          </a:xfrm>
          <a:prstGeom prst="rect">
            <a:avLst/>
          </a:prstGeom>
        </p:spPr>
      </p:pic>
      <p:sp>
        <p:nvSpPr>
          <p:cNvPr id="16" name="Text 11"/>
          <p:cNvSpPr txBox="1"/>
          <p:nvPr/>
        </p:nvSpPr>
        <p:spPr>
          <a:xfrm>
            <a:off x="3822192" y="2971800"/>
            <a:ext cx="1554480" cy="320040"/>
          </a:xfrm>
          <a:prstGeom prst="rect">
            <a:avLst/>
          </a:prstGeom>
          <a:noFill/>
          <a:ln/>
        </p:spPr>
        <p:txBody>
          <a:bodyPr wrap="square" lIns="0" tIns="0" rIns="0" bIns="0" rtlCol="0" anchor="t"/>
          <a:lstStyle/>
          <a:p>
            <a:pPr algn="ctr" indent="0" marL="0">
              <a:buNone/>
            </a:pPr>
            <a:r>
              <a:rPr lang="en-US" sz="1500" b="1" dirty="0">
                <a:solidFill>
                  <a:schemeClr val="tx2"/>
                </a:solidFill>
                <a:latin typeface="Arial" pitchFamily="34" charset="0"/>
                <a:ea typeface="Arial" pitchFamily="34" charset="-122"/>
                <a:cs typeface="Arial" pitchFamily="34" charset="-120"/>
              </a:rPr>
              <a:t>Expliquer</a:t>
            </a:r>
            <a:endParaRPr lang="en-US" sz="1500" dirty="0"/>
          </a:p>
        </p:txBody>
      </p:sp>
      <p:sp>
        <p:nvSpPr>
          <p:cNvPr id="17" name="Text 12"/>
          <p:cNvSpPr txBox="1"/>
          <p:nvPr/>
        </p:nvSpPr>
        <p:spPr>
          <a:xfrm>
            <a:off x="3822192" y="3310128"/>
            <a:ext cx="1554480" cy="640080"/>
          </a:xfrm>
          <a:prstGeom prst="rect">
            <a:avLst/>
          </a:prstGeom>
          <a:noFill/>
          <a:ln/>
        </p:spPr>
        <p:txBody>
          <a:bodyPr wrap="square" lIns="0" tIns="0" rIns="0" bIns="0" rtlCol="0" anchor="t"/>
          <a:lstStyle/>
          <a:p>
            <a:pPr algn="ctr" indent="0" marL="0">
              <a:buNone/>
            </a:pPr>
            <a:r>
              <a:rPr lang="en-US" sz="1200" dirty="0">
                <a:solidFill>
                  <a:schemeClr val="tx1"/>
                </a:solidFill>
                <a:latin typeface="Arial" pitchFamily="34" charset="0"/>
                <a:ea typeface="Arial" pitchFamily="34" charset="-122"/>
                <a:cs typeface="Arial" pitchFamily="34" charset="-120"/>
              </a:rPr>
              <a:t>Simplement, avec sources</a:t>
            </a:r>
            <a:endParaRPr lang="en-US" sz="1200" dirty="0"/>
          </a:p>
        </p:txBody>
      </p:sp>
      <p:sp>
        <p:nvSpPr>
          <p:cNvPr id="18" name="badge-FaHandPointer"/>
          <p:cNvSpPr/>
          <p:nvPr/>
        </p:nvSpPr>
        <p:spPr>
          <a:xfrm>
            <a:off x="6053328" y="2331720"/>
            <a:ext cx="502920" cy="502920"/>
          </a:xfrm>
          <a:prstGeom prst="ellipse">
            <a:avLst/>
          </a:prstGeom>
          <a:solidFill>
            <a:schemeClr val="accent1"/>
          </a:solidFill>
          <a:ln/>
        </p:spPr>
      </p:sp>
      <p:pic>
        <p:nvPicPr>
          <p:cNvPr id="19" name="Image 3" descr="preencoded.png">    </p:cNvPr>
          <p:cNvPicPr>
            <a:picLocks noChangeAspect="1"/>
          </p:cNvPicPr>
          <p:nvPr/>
        </p:nvPicPr>
        <p:blipFill>
          <a:blip r:embed="rId4"/>
          <a:stretch>
            <a:fillRect/>
          </a:stretch>
        </p:blipFill>
        <p:spPr>
          <a:xfrm>
            <a:off x="6174029" y="2452421"/>
            <a:ext cx="261518" cy="261518"/>
          </a:xfrm>
          <a:prstGeom prst="rect">
            <a:avLst/>
          </a:prstGeom>
        </p:spPr>
      </p:pic>
      <p:sp>
        <p:nvSpPr>
          <p:cNvPr id="20" name="Text 14"/>
          <p:cNvSpPr txBox="1"/>
          <p:nvPr/>
        </p:nvSpPr>
        <p:spPr>
          <a:xfrm>
            <a:off x="5504688" y="2971800"/>
            <a:ext cx="1554480" cy="320040"/>
          </a:xfrm>
          <a:prstGeom prst="rect">
            <a:avLst/>
          </a:prstGeom>
          <a:noFill/>
          <a:ln/>
        </p:spPr>
        <p:txBody>
          <a:bodyPr wrap="square" lIns="0" tIns="0" rIns="0" bIns="0" rtlCol="0" anchor="t"/>
          <a:lstStyle/>
          <a:p>
            <a:pPr algn="ctr" indent="0" marL="0">
              <a:buNone/>
            </a:pPr>
            <a:r>
              <a:rPr lang="en-US" sz="1500" b="1" dirty="0">
                <a:solidFill>
                  <a:schemeClr val="tx2"/>
                </a:solidFill>
                <a:latin typeface="Arial" pitchFamily="34" charset="0"/>
                <a:ea typeface="Arial" pitchFamily="34" charset="-122"/>
                <a:cs typeface="Arial" pitchFamily="34" charset="-120"/>
              </a:rPr>
              <a:t>Agir</a:t>
            </a:r>
            <a:endParaRPr lang="en-US" sz="1500" dirty="0"/>
          </a:p>
        </p:txBody>
      </p:sp>
      <p:sp>
        <p:nvSpPr>
          <p:cNvPr id="21" name="Text 15"/>
          <p:cNvSpPr txBox="1"/>
          <p:nvPr/>
        </p:nvSpPr>
        <p:spPr>
          <a:xfrm>
            <a:off x="5504688" y="3310128"/>
            <a:ext cx="1554480" cy="640080"/>
          </a:xfrm>
          <a:prstGeom prst="rect">
            <a:avLst/>
          </a:prstGeom>
          <a:noFill/>
          <a:ln/>
        </p:spPr>
        <p:txBody>
          <a:bodyPr wrap="square" lIns="0" tIns="0" rIns="0" bIns="0" rtlCol="0" anchor="t"/>
          <a:lstStyle/>
          <a:p>
            <a:pPr algn="ctr" indent="0" marL="0">
              <a:buNone/>
            </a:pPr>
            <a:r>
              <a:rPr lang="en-US" sz="1200" dirty="0">
                <a:solidFill>
                  <a:schemeClr val="tx1"/>
                </a:solidFill>
                <a:latin typeface="Arial" pitchFamily="34" charset="0"/>
                <a:ea typeface="Arial" pitchFamily="34" charset="-122"/>
                <a:cs typeface="Arial" pitchFamily="34" charset="-120"/>
              </a:rPr>
              <a:t>Lien, formulaire, simulation</a:t>
            </a:r>
            <a:endParaRPr lang="en-US" sz="1200" dirty="0"/>
          </a:p>
        </p:txBody>
      </p:sp>
      <p:sp>
        <p:nvSpPr>
          <p:cNvPr id="22" name="badge-FaHeadset"/>
          <p:cNvSpPr/>
          <p:nvPr/>
        </p:nvSpPr>
        <p:spPr>
          <a:xfrm>
            <a:off x="7735824" y="2331720"/>
            <a:ext cx="502920" cy="502920"/>
          </a:xfrm>
          <a:prstGeom prst="ellipse">
            <a:avLst/>
          </a:prstGeom>
          <a:solidFill>
            <a:schemeClr val="accent1"/>
          </a:solidFill>
          <a:ln/>
        </p:spPr>
      </p:sp>
      <p:pic>
        <p:nvPicPr>
          <p:cNvPr id="23" name="Image 4" descr="preencoded.png">    </p:cNvPr>
          <p:cNvPicPr>
            <a:picLocks noChangeAspect="1"/>
          </p:cNvPicPr>
          <p:nvPr/>
        </p:nvPicPr>
        <p:blipFill>
          <a:blip r:embed="rId5"/>
          <a:stretch>
            <a:fillRect/>
          </a:stretch>
        </p:blipFill>
        <p:spPr>
          <a:xfrm>
            <a:off x="7856525" y="2452421"/>
            <a:ext cx="261518" cy="261518"/>
          </a:xfrm>
          <a:prstGeom prst="rect">
            <a:avLst/>
          </a:prstGeom>
        </p:spPr>
      </p:pic>
      <p:sp>
        <p:nvSpPr>
          <p:cNvPr id="24" name="Text 17"/>
          <p:cNvSpPr txBox="1"/>
          <p:nvPr/>
        </p:nvSpPr>
        <p:spPr>
          <a:xfrm>
            <a:off x="7187184" y="2971800"/>
            <a:ext cx="1554480" cy="320040"/>
          </a:xfrm>
          <a:prstGeom prst="rect">
            <a:avLst/>
          </a:prstGeom>
          <a:noFill/>
          <a:ln/>
        </p:spPr>
        <p:txBody>
          <a:bodyPr wrap="square" lIns="0" tIns="0" rIns="0" bIns="0" rtlCol="0" anchor="t"/>
          <a:lstStyle/>
          <a:p>
            <a:pPr algn="ctr" indent="0" marL="0">
              <a:buNone/>
            </a:pPr>
            <a:r>
              <a:rPr lang="en-US" sz="1500" b="1" dirty="0">
                <a:solidFill>
                  <a:schemeClr val="tx2"/>
                </a:solidFill>
                <a:latin typeface="Arial" pitchFamily="34" charset="0"/>
                <a:ea typeface="Arial" pitchFamily="34" charset="-122"/>
                <a:cs typeface="Arial" pitchFamily="34" charset="-120"/>
              </a:rPr>
              <a:t>Relayer</a:t>
            </a:r>
            <a:endParaRPr lang="en-US" sz="1500" dirty="0"/>
          </a:p>
        </p:txBody>
      </p:sp>
      <p:sp>
        <p:nvSpPr>
          <p:cNvPr id="25" name="Text 18"/>
          <p:cNvSpPr txBox="1"/>
          <p:nvPr/>
        </p:nvSpPr>
        <p:spPr>
          <a:xfrm>
            <a:off x="7187184" y="3310128"/>
            <a:ext cx="1554480" cy="640080"/>
          </a:xfrm>
          <a:prstGeom prst="rect">
            <a:avLst/>
          </a:prstGeom>
          <a:noFill/>
          <a:ln/>
        </p:spPr>
        <p:txBody>
          <a:bodyPr wrap="square" lIns="0" tIns="0" rIns="0" bIns="0" rtlCol="0" anchor="t"/>
          <a:lstStyle/>
          <a:p>
            <a:pPr algn="ctr" indent="0" marL="0">
              <a:buNone/>
            </a:pPr>
            <a:r>
              <a:rPr lang="en-US" sz="1200" dirty="0">
                <a:solidFill>
                  <a:schemeClr val="tx1"/>
                </a:solidFill>
                <a:latin typeface="Arial" pitchFamily="34" charset="0"/>
                <a:ea typeface="Arial" pitchFamily="34" charset="-122"/>
                <a:cs typeface="Arial" pitchFamily="34" charset="-120"/>
              </a:rPr>
              <a:t>Un humain, avec le contexte</a:t>
            </a:r>
            <a:endParaRPr lang="en-US" sz="1200" dirty="0"/>
          </a:p>
        </p:txBody>
      </p:sp>
      <p:sp>
        <p:nvSpPr>
          <p:cNvPr id="26" name="Text 19"/>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200" dirty="0">
                <a:solidFill>
                  <a:schemeClr val="accent6"/>
                </a:solidFill>
                <a:latin typeface="Arial" pitchFamily="34" charset="0"/>
                <a:ea typeface="Arial" pitchFamily="34" charset="-122"/>
                <a:cs typeface="Arial" pitchFamily="34" charset="-120"/>
              </a:rPr>
              <a:t>Critères BPCE : efficacité · compréhension · confiance · continuité · accessibilité · apprentissage · sécurité</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Notre parti pris : l’accessibilité d’abord</a:t>
            </a:r>
            <a:endParaRPr lang="en-US" sz="2400" dirty="0"/>
          </a:p>
        </p:txBody>
      </p:sp>
      <p:sp>
        <p:nvSpPr>
          <p:cNvPr id="3" name="Shape 1"/>
          <p:cNvSpPr/>
          <p:nvPr/>
        </p:nvSpPr>
        <p:spPr>
          <a:xfrm>
            <a:off x="457200" y="1097280"/>
            <a:ext cx="2606040" cy="3291840"/>
          </a:xfrm>
          <a:prstGeom prst="roundRect">
            <a:avLst>
              <a:gd name="adj" fmla="val 3509"/>
            </a:avLst>
          </a:prstGeom>
          <a:solidFill>
            <a:schemeClr val="bg2"/>
          </a:solidFill>
          <a:ln/>
        </p:spPr>
      </p:sp>
      <p:sp>
        <p:nvSpPr>
          <p:cNvPr id="4" name="badge-FaBalanceScale"/>
          <p:cNvSpPr/>
          <p:nvPr/>
        </p:nvSpPr>
        <p:spPr>
          <a:xfrm>
            <a:off x="731520" y="1325880"/>
            <a:ext cx="548640" cy="54864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63194" y="1457554"/>
            <a:ext cx="285293" cy="285293"/>
          </a:xfrm>
          <a:prstGeom prst="rect">
            <a:avLst/>
          </a:prstGeom>
        </p:spPr>
      </p:pic>
      <p:sp>
        <p:nvSpPr>
          <p:cNvPr id="6" name="Text 3"/>
          <p:cNvSpPr txBox="1"/>
          <p:nvPr/>
        </p:nvSpPr>
        <p:spPr>
          <a:xfrm>
            <a:off x="731520" y="2057400"/>
            <a:ext cx="2103120" cy="411480"/>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Une obligation</a:t>
            </a:r>
            <a:endParaRPr lang="en-US" sz="1700" dirty="0"/>
          </a:p>
        </p:txBody>
      </p:sp>
      <p:sp>
        <p:nvSpPr>
          <p:cNvPr id="7" name="Text 4"/>
          <p:cNvSpPr txBox="1"/>
          <p:nvPr/>
        </p:nvSpPr>
        <p:spPr>
          <a:xfrm>
            <a:off x="731520" y="2514600"/>
            <a:ext cx="2103120" cy="173736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Depuis le 28 juin 2025, l’European Accessibility Act s’applique aux services bancaires en ligne. Un assistant IA bancaire doit être accessible.</a:t>
            </a:r>
            <a:endParaRPr lang="en-US" sz="1300" dirty="0"/>
          </a:p>
        </p:txBody>
      </p:sp>
      <p:sp>
        <p:nvSpPr>
          <p:cNvPr id="8" name="Shape 5"/>
          <p:cNvSpPr/>
          <p:nvPr/>
        </p:nvSpPr>
        <p:spPr>
          <a:xfrm>
            <a:off x="3246120" y="1097280"/>
            <a:ext cx="2606040" cy="3291840"/>
          </a:xfrm>
          <a:prstGeom prst="roundRect">
            <a:avLst>
              <a:gd name="adj" fmla="val 3509"/>
            </a:avLst>
          </a:prstGeom>
          <a:solidFill>
            <a:schemeClr val="bg2"/>
          </a:solidFill>
          <a:ln/>
        </p:spPr>
      </p:sp>
      <p:sp>
        <p:nvSpPr>
          <p:cNvPr id="9" name="badge-FaUsers"/>
          <p:cNvSpPr/>
          <p:nvPr/>
        </p:nvSpPr>
        <p:spPr>
          <a:xfrm>
            <a:off x="3520440" y="1325880"/>
            <a:ext cx="548640" cy="54864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652114" y="1457554"/>
            <a:ext cx="285293" cy="285293"/>
          </a:xfrm>
          <a:prstGeom prst="rect">
            <a:avLst/>
          </a:prstGeom>
        </p:spPr>
      </p:pic>
      <p:sp>
        <p:nvSpPr>
          <p:cNvPr id="11" name="Text 7"/>
          <p:cNvSpPr txBox="1"/>
          <p:nvPr/>
        </p:nvSpPr>
        <p:spPr>
          <a:xfrm>
            <a:off x="3520440" y="2057400"/>
            <a:ext cx="2103120" cy="411480"/>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Un impact réel</a:t>
            </a:r>
            <a:endParaRPr lang="en-US" sz="1700" dirty="0"/>
          </a:p>
        </p:txBody>
      </p:sp>
      <p:sp>
        <p:nvSpPr>
          <p:cNvPr id="12" name="Text 8"/>
          <p:cNvSpPr txBox="1"/>
          <p:nvPr/>
        </p:nvSpPr>
        <p:spPr>
          <a:xfrm>
            <a:off x="3520440" y="2514600"/>
            <a:ext cx="2103120" cy="173736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Les personnes les plus éloignées du numérique sont aussi celles qui ont le plus besoin d’être guidées : seniors, handicap, maîtrise de l’écrit, langue.</a:t>
            </a:r>
            <a:endParaRPr lang="en-US" sz="1300" dirty="0"/>
          </a:p>
        </p:txBody>
      </p:sp>
      <p:sp>
        <p:nvSpPr>
          <p:cNvPr id="13" name="Shape 9"/>
          <p:cNvSpPr/>
          <p:nvPr/>
        </p:nvSpPr>
        <p:spPr>
          <a:xfrm>
            <a:off x="6035040" y="1097280"/>
            <a:ext cx="2606040" cy="3291840"/>
          </a:xfrm>
          <a:prstGeom prst="roundRect">
            <a:avLst>
              <a:gd name="adj" fmla="val 3509"/>
            </a:avLst>
          </a:prstGeom>
          <a:solidFill>
            <a:schemeClr val="bg2"/>
          </a:solidFill>
          <a:ln/>
        </p:spPr>
      </p:sp>
      <p:sp>
        <p:nvSpPr>
          <p:cNvPr id="14" name="badge-FaLightbulb"/>
          <p:cNvSpPr/>
          <p:nvPr/>
        </p:nvSpPr>
        <p:spPr>
          <a:xfrm>
            <a:off x="6309360" y="1325880"/>
            <a:ext cx="548640" cy="54864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441034" y="1457554"/>
            <a:ext cx="285293" cy="285293"/>
          </a:xfrm>
          <a:prstGeom prst="rect">
            <a:avLst/>
          </a:prstGeom>
        </p:spPr>
      </p:pic>
      <p:sp>
        <p:nvSpPr>
          <p:cNvPr id="16" name="Text 11"/>
          <p:cNvSpPr txBox="1"/>
          <p:nvPr/>
        </p:nvSpPr>
        <p:spPr>
          <a:xfrm>
            <a:off x="6309360" y="2057400"/>
            <a:ext cx="2103120" cy="411480"/>
          </a:xfrm>
          <a:prstGeom prst="rect">
            <a:avLst/>
          </a:prstGeom>
          <a:noFill/>
          <a:ln/>
        </p:spPr>
        <p:txBody>
          <a:bodyPr wrap="square" lIns="0" tIns="0" rIns="0" bIns="0" rtlCol="0" anchor="t"/>
          <a:lstStyle/>
          <a:p>
            <a:pPr indent="0" marL="0">
              <a:buNone/>
            </a:pPr>
            <a:r>
              <a:rPr lang="en-US" sz="1700" b="1" dirty="0">
                <a:solidFill>
                  <a:schemeClr val="accent2"/>
                </a:solidFill>
                <a:latin typeface="Arial" pitchFamily="34" charset="0"/>
                <a:ea typeface="Arial" pitchFamily="34" charset="-122"/>
                <a:cs typeface="Arial" pitchFamily="34" charset="-120"/>
              </a:rPr>
              <a:t>Mieux pour tous</a:t>
            </a:r>
            <a:endParaRPr lang="en-US" sz="1700" dirty="0"/>
          </a:p>
        </p:txBody>
      </p:sp>
      <p:sp>
        <p:nvSpPr>
          <p:cNvPr id="17" name="Text 12"/>
          <p:cNvSpPr txBox="1"/>
          <p:nvPr/>
        </p:nvSpPr>
        <p:spPr>
          <a:xfrm>
            <a:off x="6309360" y="2514600"/>
            <a:ext cx="2103120" cy="1737360"/>
          </a:xfrm>
          <a:prstGeom prst="rect">
            <a:avLst/>
          </a:prstGeom>
          <a:noFill/>
          <a:ln/>
        </p:spPr>
        <p:txBody>
          <a:bodyPr wrap="square" lIns="0" tIns="0" rIns="0" bIns="0" rtlCol="0" anchor="t"/>
          <a:lstStyle/>
          <a:p>
            <a:pPr indent="0" marL="0">
              <a:buNone/>
            </a:pPr>
            <a:r>
              <a:rPr lang="en-US" sz="1300" dirty="0">
                <a:solidFill>
                  <a:schemeClr val="tx1"/>
                </a:solidFill>
                <a:latin typeface="Arial" pitchFamily="34" charset="0"/>
                <a:ea typeface="Arial" pitchFamily="34" charset="-122"/>
                <a:cs typeface="Arial" pitchFamily="34" charset="-120"/>
              </a:rPr>
              <a:t>Langage clair, voix, grands boutons, relais humain : ce qui est accessible est plus simple et plus rapide pour tout le monde.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Pour qui : six publics à ne pas oublier</a:t>
            </a:r>
            <a:endParaRPr lang="en-US" sz="2400" dirty="0"/>
          </a:p>
        </p:txBody>
      </p:sp>
      <p:sp>
        <p:nvSpPr>
          <p:cNvPr id="3" name="Shape 1"/>
          <p:cNvSpPr/>
          <p:nvPr/>
        </p:nvSpPr>
        <p:spPr>
          <a:xfrm>
            <a:off x="457200" y="1097280"/>
            <a:ext cx="2606040" cy="1554480"/>
          </a:xfrm>
          <a:prstGeom prst="roundRect">
            <a:avLst>
              <a:gd name="adj" fmla="val 5882"/>
            </a:avLst>
          </a:prstGeom>
          <a:solidFill>
            <a:schemeClr val="bg2"/>
          </a:solidFill>
          <a:ln/>
        </p:spPr>
      </p:sp>
      <p:sp>
        <p:nvSpPr>
          <p:cNvPr id="4" name="badge-FaLowVision"/>
          <p:cNvSpPr/>
          <p:nvPr/>
        </p:nvSpPr>
        <p:spPr>
          <a:xfrm>
            <a:off x="685800" y="1325880"/>
            <a:ext cx="502920" cy="5029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06501" y="1446581"/>
            <a:ext cx="261518" cy="261518"/>
          </a:xfrm>
          <a:prstGeom prst="rect">
            <a:avLst/>
          </a:prstGeom>
        </p:spPr>
      </p:pic>
      <p:sp>
        <p:nvSpPr>
          <p:cNvPr id="6" name="Text 3"/>
          <p:cNvSpPr txBox="1"/>
          <p:nvPr/>
        </p:nvSpPr>
        <p:spPr>
          <a:xfrm>
            <a:off x="1325880" y="1344168"/>
            <a:ext cx="1600200" cy="50292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Malvoyants et aveugles</a:t>
            </a:r>
            <a:endParaRPr lang="en-US" sz="1400" dirty="0"/>
          </a:p>
        </p:txBody>
      </p:sp>
      <p:sp>
        <p:nvSpPr>
          <p:cNvPr id="7" name="Text 4"/>
          <p:cNvSpPr txBox="1"/>
          <p:nvPr/>
        </p:nvSpPr>
        <p:spPr>
          <a:xfrm>
            <a:off x="685800" y="1965960"/>
            <a:ext cx="2194560" cy="5943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Lecteur d’écran, voix, grand texte, contraste</a:t>
            </a:r>
            <a:endParaRPr lang="en-US" sz="1200" dirty="0"/>
          </a:p>
        </p:txBody>
      </p:sp>
      <p:sp>
        <p:nvSpPr>
          <p:cNvPr id="8" name="Shape 5"/>
          <p:cNvSpPr/>
          <p:nvPr/>
        </p:nvSpPr>
        <p:spPr>
          <a:xfrm>
            <a:off x="3246120" y="1097280"/>
            <a:ext cx="2606040" cy="1554480"/>
          </a:xfrm>
          <a:prstGeom prst="roundRect">
            <a:avLst>
              <a:gd name="adj" fmla="val 5882"/>
            </a:avLst>
          </a:prstGeom>
          <a:solidFill>
            <a:schemeClr val="bg2"/>
          </a:solidFill>
          <a:ln/>
        </p:spPr>
      </p:sp>
      <p:sp>
        <p:nvSpPr>
          <p:cNvPr id="9" name="badge-FaUserClock"/>
          <p:cNvSpPr/>
          <p:nvPr/>
        </p:nvSpPr>
        <p:spPr>
          <a:xfrm>
            <a:off x="3474720" y="1325880"/>
            <a:ext cx="502920" cy="5029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595421" y="1446581"/>
            <a:ext cx="261518" cy="261518"/>
          </a:xfrm>
          <a:prstGeom prst="rect">
            <a:avLst/>
          </a:prstGeom>
        </p:spPr>
      </p:pic>
      <p:sp>
        <p:nvSpPr>
          <p:cNvPr id="11" name="Text 7"/>
          <p:cNvSpPr txBox="1"/>
          <p:nvPr/>
        </p:nvSpPr>
        <p:spPr>
          <a:xfrm>
            <a:off x="4114800" y="1344168"/>
            <a:ext cx="1600200" cy="50292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Seniors, fracture numérique</a:t>
            </a:r>
            <a:endParaRPr lang="en-US" sz="1400" dirty="0"/>
          </a:p>
        </p:txBody>
      </p:sp>
      <p:sp>
        <p:nvSpPr>
          <p:cNvPr id="12" name="Text 8"/>
          <p:cNvSpPr txBox="1"/>
          <p:nvPr/>
        </p:nvSpPr>
        <p:spPr>
          <a:xfrm>
            <a:off x="3474720" y="1965960"/>
            <a:ext cx="2194560" cy="5943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Langage simple, gros boutons, conseiller visible</a:t>
            </a:r>
            <a:endParaRPr lang="en-US" sz="1200" dirty="0"/>
          </a:p>
        </p:txBody>
      </p:sp>
      <p:sp>
        <p:nvSpPr>
          <p:cNvPr id="13" name="Shape 9"/>
          <p:cNvSpPr/>
          <p:nvPr/>
        </p:nvSpPr>
        <p:spPr>
          <a:xfrm>
            <a:off x="6035040" y="1097280"/>
            <a:ext cx="2606040" cy="1554480"/>
          </a:xfrm>
          <a:prstGeom prst="roundRect">
            <a:avLst>
              <a:gd name="adj" fmla="val 5882"/>
            </a:avLst>
          </a:prstGeom>
          <a:solidFill>
            <a:schemeClr val="bg2"/>
          </a:solidFill>
          <a:ln/>
        </p:spPr>
      </p:sp>
      <p:sp>
        <p:nvSpPr>
          <p:cNvPr id="14" name="badge-FaBrain"/>
          <p:cNvSpPr/>
          <p:nvPr/>
        </p:nvSpPr>
        <p:spPr>
          <a:xfrm>
            <a:off x="6263640" y="1325880"/>
            <a:ext cx="502920" cy="50292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384341" y="1446581"/>
            <a:ext cx="261518" cy="261518"/>
          </a:xfrm>
          <a:prstGeom prst="rect">
            <a:avLst/>
          </a:prstGeom>
        </p:spPr>
      </p:pic>
      <p:sp>
        <p:nvSpPr>
          <p:cNvPr id="16" name="Text 11"/>
          <p:cNvSpPr txBox="1"/>
          <p:nvPr/>
        </p:nvSpPr>
        <p:spPr>
          <a:xfrm>
            <a:off x="6903720" y="1344168"/>
            <a:ext cx="1600200" cy="50292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Dys, troubles cognitifs</a:t>
            </a:r>
            <a:endParaRPr lang="en-US" sz="1400" dirty="0"/>
          </a:p>
        </p:txBody>
      </p:sp>
      <p:sp>
        <p:nvSpPr>
          <p:cNvPr id="17" name="Text 12"/>
          <p:cNvSpPr txBox="1"/>
          <p:nvPr/>
        </p:nvSpPr>
        <p:spPr>
          <a:xfrm>
            <a:off x="6263640" y="1965960"/>
            <a:ext cx="2194560" cy="5943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Phrases courtes, police adaptée, une étape à la fois</a:t>
            </a:r>
            <a:endParaRPr lang="en-US" sz="1200" dirty="0"/>
          </a:p>
        </p:txBody>
      </p:sp>
      <p:sp>
        <p:nvSpPr>
          <p:cNvPr id="18" name="Shape 13"/>
          <p:cNvSpPr/>
          <p:nvPr/>
        </p:nvSpPr>
        <p:spPr>
          <a:xfrm>
            <a:off x="457200" y="2834640"/>
            <a:ext cx="2606040" cy="1554480"/>
          </a:xfrm>
          <a:prstGeom prst="roundRect">
            <a:avLst>
              <a:gd name="adj" fmla="val 5882"/>
            </a:avLst>
          </a:prstGeom>
          <a:solidFill>
            <a:schemeClr val="bg2"/>
          </a:solidFill>
          <a:ln/>
        </p:spPr>
      </p:sp>
      <p:sp>
        <p:nvSpPr>
          <p:cNvPr id="19" name="badge-FaDeaf"/>
          <p:cNvSpPr/>
          <p:nvPr/>
        </p:nvSpPr>
        <p:spPr>
          <a:xfrm>
            <a:off x="685800" y="3063240"/>
            <a:ext cx="502920" cy="50292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806501" y="3183941"/>
            <a:ext cx="261518" cy="261518"/>
          </a:xfrm>
          <a:prstGeom prst="rect">
            <a:avLst/>
          </a:prstGeom>
        </p:spPr>
      </p:pic>
      <p:sp>
        <p:nvSpPr>
          <p:cNvPr id="21" name="Text 15"/>
          <p:cNvSpPr txBox="1"/>
          <p:nvPr/>
        </p:nvSpPr>
        <p:spPr>
          <a:xfrm>
            <a:off x="1325880" y="3081528"/>
            <a:ext cx="1600200" cy="50292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Sourds et malentendants</a:t>
            </a:r>
            <a:endParaRPr lang="en-US" sz="1400" dirty="0"/>
          </a:p>
        </p:txBody>
      </p:sp>
      <p:sp>
        <p:nvSpPr>
          <p:cNvPr id="22" name="Text 16"/>
          <p:cNvSpPr txBox="1"/>
          <p:nvPr/>
        </p:nvSpPr>
        <p:spPr>
          <a:xfrm>
            <a:off x="685800" y="3703320"/>
            <a:ext cx="2194560" cy="5943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Tout l’audio est écrit, relais par écrit ou en LSF</a:t>
            </a:r>
            <a:endParaRPr lang="en-US" sz="1200" dirty="0"/>
          </a:p>
        </p:txBody>
      </p:sp>
      <p:sp>
        <p:nvSpPr>
          <p:cNvPr id="23" name="Shape 17"/>
          <p:cNvSpPr/>
          <p:nvPr/>
        </p:nvSpPr>
        <p:spPr>
          <a:xfrm>
            <a:off x="3246120" y="2834640"/>
            <a:ext cx="2606040" cy="1554480"/>
          </a:xfrm>
          <a:prstGeom prst="roundRect">
            <a:avLst>
              <a:gd name="adj" fmla="val 5882"/>
            </a:avLst>
          </a:prstGeom>
          <a:solidFill>
            <a:schemeClr val="bg2"/>
          </a:solidFill>
          <a:ln/>
        </p:spPr>
      </p:sp>
      <p:sp>
        <p:nvSpPr>
          <p:cNvPr id="24" name="badge-FaWheelchair"/>
          <p:cNvSpPr/>
          <p:nvPr/>
        </p:nvSpPr>
        <p:spPr>
          <a:xfrm>
            <a:off x="3474720" y="3063240"/>
            <a:ext cx="502920" cy="50292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3595421" y="3183941"/>
            <a:ext cx="261518" cy="261518"/>
          </a:xfrm>
          <a:prstGeom prst="rect">
            <a:avLst/>
          </a:prstGeom>
        </p:spPr>
      </p:pic>
      <p:sp>
        <p:nvSpPr>
          <p:cNvPr id="26" name="Text 19"/>
          <p:cNvSpPr txBox="1"/>
          <p:nvPr/>
        </p:nvSpPr>
        <p:spPr>
          <a:xfrm>
            <a:off x="4114800" y="3081528"/>
            <a:ext cx="1600200" cy="50292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Handicap moteur</a:t>
            </a:r>
            <a:endParaRPr lang="en-US" sz="1400" dirty="0"/>
          </a:p>
        </p:txBody>
      </p:sp>
      <p:sp>
        <p:nvSpPr>
          <p:cNvPr id="27" name="Text 20"/>
          <p:cNvSpPr txBox="1"/>
          <p:nvPr/>
        </p:nvSpPr>
        <p:spPr>
          <a:xfrm>
            <a:off x="3474720" y="3703320"/>
            <a:ext cx="2194560" cy="5943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100 % clavier, dictée, grandes zones cliquables</a:t>
            </a:r>
            <a:endParaRPr lang="en-US" sz="1200" dirty="0"/>
          </a:p>
        </p:txBody>
      </p:sp>
      <p:sp>
        <p:nvSpPr>
          <p:cNvPr id="28" name="Shape 21"/>
          <p:cNvSpPr/>
          <p:nvPr/>
        </p:nvSpPr>
        <p:spPr>
          <a:xfrm>
            <a:off x="6035040" y="2834640"/>
            <a:ext cx="2606040" cy="1554480"/>
          </a:xfrm>
          <a:prstGeom prst="roundRect">
            <a:avLst>
              <a:gd name="adj" fmla="val 5882"/>
            </a:avLst>
          </a:prstGeom>
          <a:solidFill>
            <a:schemeClr val="bg2"/>
          </a:solidFill>
          <a:ln/>
        </p:spPr>
      </p:sp>
      <p:sp>
        <p:nvSpPr>
          <p:cNvPr id="29" name="badge-FaGlobeEurope"/>
          <p:cNvSpPr/>
          <p:nvPr/>
        </p:nvSpPr>
        <p:spPr>
          <a:xfrm>
            <a:off x="6263640" y="3063240"/>
            <a:ext cx="502920" cy="502920"/>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6384341" y="3183941"/>
            <a:ext cx="261518" cy="261518"/>
          </a:xfrm>
          <a:prstGeom prst="rect">
            <a:avLst/>
          </a:prstGeom>
        </p:spPr>
      </p:pic>
      <p:sp>
        <p:nvSpPr>
          <p:cNvPr id="31" name="Text 23"/>
          <p:cNvSpPr txBox="1"/>
          <p:nvPr/>
        </p:nvSpPr>
        <p:spPr>
          <a:xfrm>
            <a:off x="6903720" y="3081528"/>
            <a:ext cx="1600200" cy="502920"/>
          </a:xfrm>
          <a:prstGeom prst="rect">
            <a:avLst/>
          </a:prstGeom>
          <a:noFill/>
          <a:ln/>
        </p:spPr>
        <p:txBody>
          <a:bodyPr wrap="square" lIns="0" tIns="0" rIns="0" bIns="0" rtlCol="0" anchor="ctr"/>
          <a:lstStyle/>
          <a:p>
            <a:pPr indent="0" marL="0">
              <a:buNone/>
            </a:pPr>
            <a:r>
              <a:rPr lang="en-US" sz="1400" b="1" dirty="0">
                <a:solidFill>
                  <a:schemeClr val="tx2"/>
                </a:solidFill>
                <a:latin typeface="Arial" pitchFamily="34" charset="0"/>
                <a:ea typeface="Arial" pitchFamily="34" charset="-122"/>
                <a:cs typeface="Arial" pitchFamily="34" charset="-120"/>
              </a:rPr>
              <a:t>Langue, maîtrise de l’écrit</a:t>
            </a:r>
            <a:endParaRPr lang="en-US" sz="1400" dirty="0"/>
          </a:p>
        </p:txBody>
      </p:sp>
      <p:sp>
        <p:nvSpPr>
          <p:cNvPr id="32" name="Text 24"/>
          <p:cNvSpPr txBox="1"/>
          <p:nvPr/>
        </p:nvSpPr>
        <p:spPr>
          <a:xfrm>
            <a:off x="6263640" y="3703320"/>
            <a:ext cx="2194560" cy="59436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Français, anglais, espagnol, voix, langage simplifié</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046720" cy="457200"/>
          </a:xfrm>
          <a:prstGeom prst="rect">
            <a:avLst/>
          </a:prstGeom>
          <a:noFill/>
          <a:ln/>
        </p:spPr>
        <p:txBody>
          <a:bodyPr wrap="square" rtlCol="0"/>
          <a:lstStyle/>
          <a:p>
            <a:pPr indent="0" marL="0">
              <a:buNone/>
            </a:pPr>
            <a:r>
              <a:rPr lang="en-US" sz="1600" b="1" dirty="0">
                <a:solidFill>
                  <a:schemeClr val="bg1"/>
                </a:solidFill>
              </a:rPr>
              <a:t>01</a:t>
            </a:r>
            <a:endParaRPr lang="en-US" sz="1600" dirty="0"/>
          </a:p>
        </p:txBody>
      </p:sp>
      <p:sp>
        <p:nvSpPr>
          <p:cNvPr id="3" name="Text 0"/>
          <p:cNvSpPr/>
          <p:nvPr>
            <p:ph idx="101" type="title" hasCustomPrompt="1"/>
          </p:nvPr>
        </p:nvSpPr>
        <p:spPr>
          <a:xfrm>
            <a:off x="548640" y="1874520"/>
            <a:ext cx="8046720" cy="1097280"/>
          </a:xfrm>
          <a:prstGeom prst="rect">
            <a:avLst/>
          </a:prstGeom>
          <a:noFill/>
          <a:ln/>
        </p:spPr>
        <p:txBody>
          <a:bodyPr wrap="square" rtlCol="0" anchor="t"/>
          <a:lstStyle/>
          <a:p>
            <a:pPr algn="l" indent="0" marL="0">
              <a:buNone/>
            </a:pPr>
            <a:r>
              <a:rPr lang="en-US" sz="3600" b="1" dirty="0">
                <a:solidFill>
                  <a:schemeClr val="bg1"/>
                </a:solidFill>
              </a:rPr>
              <a:t>Le produit</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Les 5 étapes, dans le prototype</a:t>
            </a:r>
            <a:endParaRPr lang="en-US" sz="2400" dirty="0"/>
          </a:p>
        </p:txBody>
      </p:sp>
      <p:sp>
        <p:nvSpPr>
          <p:cNvPr id="3" name="Shape 1"/>
          <p:cNvSpPr/>
          <p:nvPr/>
        </p:nvSpPr>
        <p:spPr>
          <a:xfrm>
            <a:off x="420624" y="1014984"/>
            <a:ext cx="4279392" cy="2702052"/>
          </a:xfrm>
          <a:prstGeom prst="roundRect">
            <a:avLst>
              <a:gd name="adj" fmla="val 2707"/>
            </a:avLst>
          </a:prstGeom>
          <a:solidFill>
            <a:schemeClr val="bg1"/>
          </a:solidFill>
          <a:ln w="9525">
            <a:solidFill>
              <a:srgbClr val="DDDDDD"/>
            </a:solidFill>
            <a:prstDash val="solid"/>
          </a:ln>
          <a:effectLst>
            <a:outerShdw sx="100000" sy="100000" kx="0" ky="0" algn="bl" rotWithShape="0" blurRad="101600" dist="25400" dir="5400000">
              <a:srgbClr val="000000">
                <a:alpha val="18000"/>
              </a:srgbClr>
            </a:outerShdw>
          </a:effectLst>
        </p:spPr>
      </p:sp>
      <p:pic>
        <p:nvPicPr>
          <p:cNvPr id="4" name="Image 0" descr="Page Ouvrir un compte du site Caisse d’Epargne, avec l’assistant ouvert sur une carte volée">    </p:cNvPr>
          <p:cNvPicPr>
            <a:picLocks noChangeAspect="1"/>
          </p:cNvPicPr>
          <p:nvPr/>
        </p:nvPicPr>
        <p:blipFill>
          <a:blip r:embed="rId1"/>
          <a:stretch>
            <a:fillRect/>
          </a:stretch>
        </p:blipFill>
        <p:spPr>
          <a:xfrm>
            <a:off x="457200" y="1051560"/>
            <a:ext cx="4206240" cy="2628900"/>
          </a:xfrm>
          <a:prstGeom prst="rect">
            <a:avLst/>
          </a:prstGeom>
        </p:spPr>
      </p:pic>
      <p:sp>
        <p:nvSpPr>
          <p:cNvPr id="5" name="badge-FaCommentDots"/>
          <p:cNvSpPr/>
          <p:nvPr/>
        </p:nvSpPr>
        <p:spPr>
          <a:xfrm>
            <a:off x="4983480" y="1097280"/>
            <a:ext cx="384048" cy="384048"/>
          </a:xfrm>
          <a:prstGeom prst="ellipse">
            <a:avLst/>
          </a:prstGeom>
          <a:solidFill>
            <a:schemeClr val="accent1"/>
          </a:solidFill>
          <a:ln/>
        </p:spPr>
      </p:sp>
      <p:pic>
        <p:nvPicPr>
          <p:cNvPr id="6" name="Image 1" descr="preencoded.png">    </p:cNvPr>
          <p:cNvPicPr>
            <a:picLocks noChangeAspect="1"/>
          </p:cNvPicPr>
          <p:nvPr/>
        </p:nvPicPr>
        <p:blipFill>
          <a:blip r:embed="rId2"/>
          <a:stretch>
            <a:fillRect/>
          </a:stretch>
        </p:blipFill>
        <p:spPr>
          <a:xfrm>
            <a:off x="5075652" y="1189452"/>
            <a:ext cx="199705" cy="199705"/>
          </a:xfrm>
          <a:prstGeom prst="rect">
            <a:avLst/>
          </a:prstGeom>
        </p:spPr>
      </p:pic>
      <p:sp>
        <p:nvSpPr>
          <p:cNvPr id="7" name="Text 3"/>
          <p:cNvSpPr txBox="1"/>
          <p:nvPr/>
        </p:nvSpPr>
        <p:spPr>
          <a:xfrm>
            <a:off x="5532120" y="1078992"/>
            <a:ext cx="3154680" cy="667512"/>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Exprimer</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Texte libre, suggestions, dictée ou mode vocal</a:t>
            </a:r>
            <a:endParaRPr lang="en-US" sz="1300" dirty="0"/>
          </a:p>
        </p:txBody>
      </p:sp>
      <p:sp>
        <p:nvSpPr>
          <p:cNvPr id="8" name="badge-FaSearch"/>
          <p:cNvSpPr/>
          <p:nvPr/>
        </p:nvSpPr>
        <p:spPr>
          <a:xfrm>
            <a:off x="4983480" y="1801368"/>
            <a:ext cx="384048" cy="384048"/>
          </a:xfrm>
          <a:prstGeom prst="ellipse">
            <a:avLst/>
          </a:prstGeom>
          <a:solidFill>
            <a:schemeClr val="accent1"/>
          </a:solidFill>
          <a:ln/>
        </p:spPr>
      </p:sp>
      <p:pic>
        <p:nvPicPr>
          <p:cNvPr id="9" name="Image 2" descr="preencoded.png">    </p:cNvPr>
          <p:cNvPicPr>
            <a:picLocks noChangeAspect="1"/>
          </p:cNvPicPr>
          <p:nvPr/>
        </p:nvPicPr>
        <p:blipFill>
          <a:blip r:embed="rId3"/>
          <a:stretch>
            <a:fillRect/>
          </a:stretch>
        </p:blipFill>
        <p:spPr>
          <a:xfrm>
            <a:off x="5075652" y="1893540"/>
            <a:ext cx="199705" cy="199705"/>
          </a:xfrm>
          <a:prstGeom prst="rect">
            <a:avLst/>
          </a:prstGeom>
        </p:spPr>
      </p:pic>
      <p:sp>
        <p:nvSpPr>
          <p:cNvPr id="10" name="Text 5"/>
          <p:cNvSpPr txBox="1"/>
          <p:nvPr/>
        </p:nvSpPr>
        <p:spPr>
          <a:xfrm>
            <a:off x="5532120" y="1783080"/>
            <a:ext cx="3154680" cy="667512"/>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Comprendre</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Intention détectée, question de précision si doute</a:t>
            </a:r>
            <a:endParaRPr lang="en-US" sz="1300" dirty="0"/>
          </a:p>
        </p:txBody>
      </p:sp>
      <p:sp>
        <p:nvSpPr>
          <p:cNvPr id="11" name="badge-FaBookOpen"/>
          <p:cNvSpPr/>
          <p:nvPr/>
        </p:nvSpPr>
        <p:spPr>
          <a:xfrm>
            <a:off x="4983480" y="2505456"/>
            <a:ext cx="384048" cy="384048"/>
          </a:xfrm>
          <a:prstGeom prst="ellipse">
            <a:avLst/>
          </a:prstGeom>
          <a:solidFill>
            <a:schemeClr val="accent1"/>
          </a:solidFill>
          <a:ln/>
        </p:spPr>
      </p:sp>
      <p:pic>
        <p:nvPicPr>
          <p:cNvPr id="12" name="Image 3" descr="preencoded.png">    </p:cNvPr>
          <p:cNvPicPr>
            <a:picLocks noChangeAspect="1"/>
          </p:cNvPicPr>
          <p:nvPr/>
        </p:nvPicPr>
        <p:blipFill>
          <a:blip r:embed="rId4"/>
          <a:stretch>
            <a:fillRect/>
          </a:stretch>
        </p:blipFill>
        <p:spPr>
          <a:xfrm>
            <a:off x="5075652" y="2597628"/>
            <a:ext cx="199705" cy="199705"/>
          </a:xfrm>
          <a:prstGeom prst="rect">
            <a:avLst/>
          </a:prstGeom>
        </p:spPr>
      </p:pic>
      <p:sp>
        <p:nvSpPr>
          <p:cNvPr id="13" name="Text 7"/>
          <p:cNvSpPr txBox="1"/>
          <p:nvPr/>
        </p:nvSpPr>
        <p:spPr>
          <a:xfrm>
            <a:off x="5532120" y="2487168"/>
            <a:ext cx="3154680" cy="667512"/>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Expliquer</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Sans jargon, glossaire au clic, sources étiquetées</a:t>
            </a:r>
            <a:endParaRPr lang="en-US" sz="1300" dirty="0"/>
          </a:p>
        </p:txBody>
      </p:sp>
      <p:sp>
        <p:nvSpPr>
          <p:cNvPr id="14" name="badge-FaHandPointer"/>
          <p:cNvSpPr/>
          <p:nvPr/>
        </p:nvSpPr>
        <p:spPr>
          <a:xfrm>
            <a:off x="4983480" y="3209544"/>
            <a:ext cx="384048" cy="384048"/>
          </a:xfrm>
          <a:prstGeom prst="ellipse">
            <a:avLst/>
          </a:prstGeom>
          <a:solidFill>
            <a:schemeClr val="accent1"/>
          </a:solidFill>
          <a:ln/>
        </p:spPr>
      </p:sp>
      <p:pic>
        <p:nvPicPr>
          <p:cNvPr id="15" name="Image 4" descr="preencoded.png">    </p:cNvPr>
          <p:cNvPicPr>
            <a:picLocks noChangeAspect="1"/>
          </p:cNvPicPr>
          <p:nvPr/>
        </p:nvPicPr>
        <p:blipFill>
          <a:blip r:embed="rId5"/>
          <a:stretch>
            <a:fillRect/>
          </a:stretch>
        </p:blipFill>
        <p:spPr>
          <a:xfrm>
            <a:off x="5075652" y="3301716"/>
            <a:ext cx="199705" cy="199705"/>
          </a:xfrm>
          <a:prstGeom prst="rect">
            <a:avLst/>
          </a:prstGeom>
        </p:spPr>
      </p:pic>
      <p:sp>
        <p:nvSpPr>
          <p:cNvPr id="16" name="Text 9"/>
          <p:cNvSpPr txBox="1"/>
          <p:nvPr/>
        </p:nvSpPr>
        <p:spPr>
          <a:xfrm>
            <a:off x="5532120" y="3191256"/>
            <a:ext cx="3154680" cy="667512"/>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Agir</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Carte de confirmation : rien ne part sans votre clic</a:t>
            </a:r>
            <a:endParaRPr lang="en-US" sz="1300" dirty="0"/>
          </a:p>
        </p:txBody>
      </p:sp>
      <p:sp>
        <p:nvSpPr>
          <p:cNvPr id="17" name="badge-FaHeadset"/>
          <p:cNvSpPr/>
          <p:nvPr/>
        </p:nvSpPr>
        <p:spPr>
          <a:xfrm>
            <a:off x="4983480" y="3913632"/>
            <a:ext cx="384048" cy="384048"/>
          </a:xfrm>
          <a:prstGeom prst="ellipse">
            <a:avLst/>
          </a:prstGeom>
          <a:solidFill>
            <a:schemeClr val="accent1"/>
          </a:solidFill>
          <a:ln/>
        </p:spPr>
      </p:sp>
      <p:pic>
        <p:nvPicPr>
          <p:cNvPr id="18" name="Image 5" descr="preencoded.png">    </p:cNvPr>
          <p:cNvPicPr>
            <a:picLocks noChangeAspect="1"/>
          </p:cNvPicPr>
          <p:nvPr/>
        </p:nvPicPr>
        <p:blipFill>
          <a:blip r:embed="rId6"/>
          <a:stretch>
            <a:fillRect/>
          </a:stretch>
        </p:blipFill>
        <p:spPr>
          <a:xfrm>
            <a:off x="5075652" y="4005804"/>
            <a:ext cx="199705" cy="199705"/>
          </a:xfrm>
          <a:prstGeom prst="rect">
            <a:avLst/>
          </a:prstGeom>
        </p:spPr>
      </p:pic>
      <p:sp>
        <p:nvSpPr>
          <p:cNvPr id="19" name="Text 11"/>
          <p:cNvSpPr txBox="1"/>
          <p:nvPr/>
        </p:nvSpPr>
        <p:spPr>
          <a:xfrm>
            <a:off x="5532120" y="3895344"/>
            <a:ext cx="3154680" cy="667512"/>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Relayer</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Conseiller avec le résumé, rien à réexpliquer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Les parcours démontrés</a:t>
            </a:r>
            <a:endParaRPr lang="en-US" sz="2400" dirty="0"/>
          </a:p>
        </p:txBody>
      </p:sp>
      <p:sp>
        <p:nvSpPr>
          <p:cNvPr id="3" name="Shape 1"/>
          <p:cNvSpPr/>
          <p:nvPr/>
        </p:nvSpPr>
        <p:spPr>
          <a:xfrm>
            <a:off x="457200" y="1051560"/>
            <a:ext cx="4023360" cy="1051560"/>
          </a:xfrm>
          <a:prstGeom prst="roundRect">
            <a:avLst>
              <a:gd name="adj" fmla="val 8696"/>
            </a:avLst>
          </a:prstGeom>
          <a:solidFill>
            <a:schemeClr val="bg2"/>
          </a:solidFill>
          <a:ln/>
        </p:spPr>
      </p:sp>
      <p:sp>
        <p:nvSpPr>
          <p:cNvPr id="4" name="badge-FaKey"/>
          <p:cNvSpPr/>
          <p:nvPr/>
        </p:nvSpPr>
        <p:spPr>
          <a:xfrm>
            <a:off x="685800" y="1325880"/>
            <a:ext cx="502920" cy="50292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06501" y="1446581"/>
            <a:ext cx="261518" cy="261518"/>
          </a:xfrm>
          <a:prstGeom prst="rect">
            <a:avLst/>
          </a:prstGeom>
        </p:spPr>
      </p:pic>
      <p:sp>
        <p:nvSpPr>
          <p:cNvPr id="6" name="Text 3"/>
          <p:cNvSpPr txBox="1"/>
          <p:nvPr/>
        </p:nvSpPr>
        <p:spPr>
          <a:xfrm>
            <a:off x="1371600" y="1216152"/>
            <a:ext cx="292608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Code de carte oublié</a:t>
            </a:r>
            <a:endParaRPr lang="en-US" sz="1500" dirty="0"/>
          </a:p>
        </p:txBody>
      </p:sp>
      <p:sp>
        <p:nvSpPr>
          <p:cNvPr id="7" name="Text 4"/>
          <p:cNvSpPr txBox="1"/>
          <p:nvPr/>
        </p:nvSpPr>
        <p:spPr>
          <a:xfrm>
            <a:off x="1371600" y="1554480"/>
            <a:ext cx="2926080" cy="457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Appli Banxo ou envoi par courrier, après vérification</a:t>
            </a:r>
            <a:endParaRPr lang="en-US" sz="1200" dirty="0"/>
          </a:p>
        </p:txBody>
      </p:sp>
      <p:sp>
        <p:nvSpPr>
          <p:cNvPr id="8" name="Shape 5"/>
          <p:cNvSpPr/>
          <p:nvPr/>
        </p:nvSpPr>
        <p:spPr>
          <a:xfrm>
            <a:off x="4663440" y="1051560"/>
            <a:ext cx="4023360" cy="1051560"/>
          </a:xfrm>
          <a:prstGeom prst="roundRect">
            <a:avLst>
              <a:gd name="adj" fmla="val 8696"/>
            </a:avLst>
          </a:prstGeom>
          <a:solidFill>
            <a:schemeClr val="bg2"/>
          </a:solidFill>
          <a:ln/>
        </p:spPr>
      </p:sp>
      <p:sp>
        <p:nvSpPr>
          <p:cNvPr id="9" name="badge-FaCreditCard"/>
          <p:cNvSpPr/>
          <p:nvPr/>
        </p:nvSpPr>
        <p:spPr>
          <a:xfrm>
            <a:off x="4892040" y="1325880"/>
            <a:ext cx="502920" cy="50292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5012741" y="1446581"/>
            <a:ext cx="261518" cy="261518"/>
          </a:xfrm>
          <a:prstGeom prst="rect">
            <a:avLst/>
          </a:prstGeom>
        </p:spPr>
      </p:pic>
      <p:sp>
        <p:nvSpPr>
          <p:cNvPr id="11" name="Text 7"/>
          <p:cNvSpPr txBox="1"/>
          <p:nvPr/>
        </p:nvSpPr>
        <p:spPr>
          <a:xfrm>
            <a:off x="5577840" y="1216152"/>
            <a:ext cx="292608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Carte perdue ou volée</a:t>
            </a:r>
            <a:endParaRPr lang="en-US" sz="1500" dirty="0"/>
          </a:p>
        </p:txBody>
      </p:sp>
      <p:sp>
        <p:nvSpPr>
          <p:cNvPr id="12" name="Text 8"/>
          <p:cNvSpPr txBox="1"/>
          <p:nvPr/>
        </p:nvSpPr>
        <p:spPr>
          <a:xfrm>
            <a:off x="5577840" y="1554480"/>
            <a:ext cx="2926080" cy="457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Blocage en priorité, joué entièrement à la voix</a:t>
            </a:r>
            <a:endParaRPr lang="en-US" sz="1200" dirty="0"/>
          </a:p>
        </p:txBody>
      </p:sp>
      <p:sp>
        <p:nvSpPr>
          <p:cNvPr id="13" name="Shape 9"/>
          <p:cNvSpPr/>
          <p:nvPr/>
        </p:nvSpPr>
        <p:spPr>
          <a:xfrm>
            <a:off x="457200" y="2240280"/>
            <a:ext cx="4023360" cy="1051560"/>
          </a:xfrm>
          <a:prstGeom prst="roundRect">
            <a:avLst>
              <a:gd name="adj" fmla="val 8696"/>
            </a:avLst>
          </a:prstGeom>
          <a:solidFill>
            <a:schemeClr val="bg2"/>
          </a:solidFill>
          <a:ln/>
        </p:spPr>
      </p:sp>
      <p:sp>
        <p:nvSpPr>
          <p:cNvPr id="14" name="badge-FaFileInvoice"/>
          <p:cNvSpPr/>
          <p:nvPr/>
        </p:nvSpPr>
        <p:spPr>
          <a:xfrm>
            <a:off x="685800" y="2514600"/>
            <a:ext cx="502920" cy="50292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06501" y="2635301"/>
            <a:ext cx="261518" cy="261518"/>
          </a:xfrm>
          <a:prstGeom prst="rect">
            <a:avLst/>
          </a:prstGeom>
        </p:spPr>
      </p:pic>
      <p:sp>
        <p:nvSpPr>
          <p:cNvPr id="16" name="Text 11"/>
          <p:cNvSpPr txBox="1"/>
          <p:nvPr/>
        </p:nvSpPr>
        <p:spPr>
          <a:xfrm>
            <a:off x="1371600" y="2404872"/>
            <a:ext cx="292608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Réclamation</a:t>
            </a:r>
            <a:endParaRPr lang="en-US" sz="1500" dirty="0"/>
          </a:p>
        </p:txBody>
      </p:sp>
      <p:sp>
        <p:nvSpPr>
          <p:cNvPr id="17" name="Text 12"/>
          <p:cNvSpPr txBox="1"/>
          <p:nvPr/>
        </p:nvSpPr>
        <p:spPr>
          <a:xfrm>
            <a:off x="1371600" y="2743200"/>
            <a:ext cx="2926080" cy="457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Frais contestés ou opération inconnue, message prérédigé</a:t>
            </a:r>
            <a:endParaRPr lang="en-US" sz="1200" dirty="0"/>
          </a:p>
        </p:txBody>
      </p:sp>
      <p:sp>
        <p:nvSpPr>
          <p:cNvPr id="18" name="Shape 13"/>
          <p:cNvSpPr/>
          <p:nvPr/>
        </p:nvSpPr>
        <p:spPr>
          <a:xfrm>
            <a:off x="4663440" y="2240280"/>
            <a:ext cx="4023360" cy="1051560"/>
          </a:xfrm>
          <a:prstGeom prst="roundRect">
            <a:avLst>
              <a:gd name="adj" fmla="val 8696"/>
            </a:avLst>
          </a:prstGeom>
          <a:solidFill>
            <a:schemeClr val="bg2"/>
          </a:solidFill>
          <a:ln/>
        </p:spPr>
      </p:sp>
      <p:sp>
        <p:nvSpPr>
          <p:cNvPr id="19" name="badge-FaCalculator"/>
          <p:cNvSpPr/>
          <p:nvPr/>
        </p:nvSpPr>
        <p:spPr>
          <a:xfrm>
            <a:off x="4892040" y="2514600"/>
            <a:ext cx="502920" cy="50292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5012741" y="2635301"/>
            <a:ext cx="261518" cy="261518"/>
          </a:xfrm>
          <a:prstGeom prst="rect">
            <a:avLst/>
          </a:prstGeom>
        </p:spPr>
      </p:pic>
      <p:sp>
        <p:nvSpPr>
          <p:cNvPr id="21" name="Text 15"/>
          <p:cNvSpPr txBox="1"/>
          <p:nvPr/>
        </p:nvSpPr>
        <p:spPr>
          <a:xfrm>
            <a:off x="5577840" y="2404872"/>
            <a:ext cx="292608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Simulation de crédit</a:t>
            </a:r>
            <a:endParaRPr lang="en-US" sz="1500" dirty="0"/>
          </a:p>
        </p:txBody>
      </p:sp>
      <p:sp>
        <p:nvSpPr>
          <p:cNvPr id="22" name="Text 16"/>
          <p:cNvSpPr txBox="1"/>
          <p:nvPr/>
        </p:nvSpPr>
        <p:spPr>
          <a:xfrm>
            <a:off x="5577840" y="2743200"/>
            <a:ext cx="2926080" cy="457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Auto, travaux, immobilier, mentions légales incluses</a:t>
            </a:r>
            <a:endParaRPr lang="en-US" sz="1200" dirty="0"/>
          </a:p>
        </p:txBody>
      </p:sp>
      <p:sp>
        <p:nvSpPr>
          <p:cNvPr id="23" name="Shape 17"/>
          <p:cNvSpPr/>
          <p:nvPr/>
        </p:nvSpPr>
        <p:spPr>
          <a:xfrm>
            <a:off x="457200" y="3429000"/>
            <a:ext cx="4023360" cy="1051560"/>
          </a:xfrm>
          <a:prstGeom prst="roundRect">
            <a:avLst>
              <a:gd name="adj" fmla="val 8696"/>
            </a:avLst>
          </a:prstGeom>
          <a:solidFill>
            <a:schemeClr val="bg2"/>
          </a:solidFill>
          <a:ln/>
        </p:spPr>
      </p:sp>
      <p:sp>
        <p:nvSpPr>
          <p:cNvPr id="24" name="badge-FaPiggyBank"/>
          <p:cNvSpPr/>
          <p:nvPr/>
        </p:nvSpPr>
        <p:spPr>
          <a:xfrm>
            <a:off x="685800" y="3703320"/>
            <a:ext cx="502920" cy="50292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806501" y="3824021"/>
            <a:ext cx="261518" cy="261518"/>
          </a:xfrm>
          <a:prstGeom prst="rect">
            <a:avLst/>
          </a:prstGeom>
        </p:spPr>
      </p:pic>
      <p:sp>
        <p:nvSpPr>
          <p:cNvPr id="26" name="Text 19"/>
          <p:cNvSpPr txBox="1"/>
          <p:nvPr/>
        </p:nvSpPr>
        <p:spPr>
          <a:xfrm>
            <a:off x="1371600" y="3593592"/>
            <a:ext cx="292608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Conseil épargne</a:t>
            </a:r>
            <a:endParaRPr lang="en-US" sz="1500" dirty="0"/>
          </a:p>
        </p:txBody>
      </p:sp>
      <p:sp>
        <p:nvSpPr>
          <p:cNvPr id="27" name="Text 20"/>
          <p:cNvSpPr txBox="1"/>
          <p:nvPr/>
        </p:nvSpPr>
        <p:spPr>
          <a:xfrm>
            <a:off x="1371600" y="3931920"/>
            <a:ext cx="2926080" cy="457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Orientation vers le bon conseiller, jusqu’à la gestion privée</a:t>
            </a:r>
            <a:endParaRPr lang="en-US" sz="1200" dirty="0"/>
          </a:p>
        </p:txBody>
      </p:sp>
      <p:sp>
        <p:nvSpPr>
          <p:cNvPr id="28" name="Shape 21"/>
          <p:cNvSpPr/>
          <p:nvPr/>
        </p:nvSpPr>
        <p:spPr>
          <a:xfrm>
            <a:off x="4663440" y="3429000"/>
            <a:ext cx="4023360" cy="1051560"/>
          </a:xfrm>
          <a:prstGeom prst="roundRect">
            <a:avLst>
              <a:gd name="adj" fmla="val 8696"/>
            </a:avLst>
          </a:prstGeom>
          <a:solidFill>
            <a:schemeClr val="bg2"/>
          </a:solidFill>
          <a:ln/>
        </p:spPr>
      </p:sp>
      <p:sp>
        <p:nvSpPr>
          <p:cNvPr id="29" name="badge-FaUserPlus"/>
          <p:cNvSpPr/>
          <p:nvPr/>
        </p:nvSpPr>
        <p:spPr>
          <a:xfrm>
            <a:off x="4892040" y="3703320"/>
            <a:ext cx="502920" cy="502920"/>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5012741" y="3824021"/>
            <a:ext cx="261518" cy="261518"/>
          </a:xfrm>
          <a:prstGeom prst="rect">
            <a:avLst/>
          </a:prstGeom>
        </p:spPr>
      </p:pic>
      <p:sp>
        <p:nvSpPr>
          <p:cNvPr id="31" name="Text 23"/>
          <p:cNvSpPr txBox="1"/>
          <p:nvPr/>
        </p:nvSpPr>
        <p:spPr>
          <a:xfrm>
            <a:off x="5577840" y="3593592"/>
            <a:ext cx="2926080" cy="32004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Ouverture de compte</a:t>
            </a:r>
            <a:endParaRPr lang="en-US" sz="1500" dirty="0"/>
          </a:p>
        </p:txBody>
      </p:sp>
      <p:sp>
        <p:nvSpPr>
          <p:cNvPr id="32" name="Text 24"/>
          <p:cNvSpPr txBox="1"/>
          <p:nvPr/>
        </p:nvSpPr>
        <p:spPr>
          <a:xfrm>
            <a:off x="5577840" y="3931920"/>
            <a:ext cx="2926080" cy="457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Choix de l’offre et pièces à préparer, pour les prospects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046720" cy="457200"/>
          </a:xfrm>
          <a:prstGeom prst="rect">
            <a:avLst/>
          </a:prstGeom>
          <a:noFill/>
          <a:ln/>
        </p:spPr>
        <p:txBody>
          <a:bodyPr wrap="square" rtlCol="0"/>
          <a:lstStyle/>
          <a:p>
            <a:pPr indent="0" marL="0">
              <a:buNone/>
            </a:pPr>
            <a:r>
              <a:rPr lang="en-US" sz="1600" b="1" dirty="0">
                <a:solidFill>
                  <a:schemeClr val="bg1"/>
                </a:solidFill>
              </a:rPr>
              <a:t>02</a:t>
            </a:r>
            <a:endParaRPr lang="en-US" sz="1600" dirty="0"/>
          </a:p>
        </p:txBody>
      </p:sp>
      <p:sp>
        <p:nvSpPr>
          <p:cNvPr id="3" name="Text 0"/>
          <p:cNvSpPr/>
          <p:nvPr>
            <p:ph idx="101" type="title" hasCustomPrompt="1"/>
          </p:nvPr>
        </p:nvSpPr>
        <p:spPr>
          <a:xfrm>
            <a:off x="548640" y="1874520"/>
            <a:ext cx="8046720" cy="1097280"/>
          </a:xfrm>
          <a:prstGeom prst="rect">
            <a:avLst/>
          </a:prstGeom>
          <a:noFill/>
          <a:ln/>
        </p:spPr>
        <p:txBody>
          <a:bodyPr wrap="square" rtlCol="0" anchor="t"/>
          <a:lstStyle/>
          <a:p>
            <a:pPr algn="l" indent="0" marL="0">
              <a:buNone/>
            </a:pPr>
            <a:r>
              <a:rPr lang="en-US" sz="3600" b="1" dirty="0">
                <a:solidFill>
                  <a:schemeClr val="bg1"/>
                </a:solidFill>
              </a:rPr>
              <a:t>L’accessibilité, au cœur</a:t>
            </a:r>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Chacun règle l’assistant selon ses besoins</a:t>
            </a:r>
            <a:endParaRPr lang="en-US" sz="2400" dirty="0"/>
          </a:p>
        </p:txBody>
      </p:sp>
      <p:sp>
        <p:nvSpPr>
          <p:cNvPr id="3" name="Shape 1"/>
          <p:cNvSpPr/>
          <p:nvPr/>
        </p:nvSpPr>
        <p:spPr>
          <a:xfrm>
            <a:off x="6242304" y="969264"/>
            <a:ext cx="2481072" cy="3685032"/>
          </a:xfrm>
          <a:prstGeom prst="roundRect">
            <a:avLst>
              <a:gd name="adj" fmla="val 2948"/>
            </a:avLst>
          </a:prstGeom>
          <a:solidFill>
            <a:schemeClr val="bg1"/>
          </a:solidFill>
          <a:ln w="9525">
            <a:solidFill>
              <a:srgbClr val="DDDDDD"/>
            </a:solidFill>
            <a:prstDash val="solid"/>
          </a:ln>
          <a:effectLst>
            <a:outerShdw sx="100000" sy="100000" kx="0" ky="0" algn="bl" rotWithShape="0" blurRad="101600" dist="25400" dir="5400000">
              <a:srgbClr val="000000">
                <a:alpha val="18000"/>
              </a:srgbClr>
            </a:outerShdw>
          </a:effectLst>
        </p:spPr>
      </p:sp>
      <p:pic>
        <p:nvPicPr>
          <p:cNvPr id="4" name="Image 0" descr="Panneau de réglages d’accessibilité : langue, taille du texte, police, espacement, contraste, animations">    </p:cNvPr>
          <p:cNvPicPr>
            <a:picLocks noChangeAspect="1"/>
          </p:cNvPicPr>
          <p:nvPr/>
        </p:nvPicPr>
        <p:blipFill>
          <a:blip r:embed="rId1"/>
          <a:stretch>
            <a:fillRect/>
          </a:stretch>
        </p:blipFill>
        <p:spPr>
          <a:xfrm>
            <a:off x="6278880" y="1005840"/>
            <a:ext cx="2407920" cy="3611880"/>
          </a:xfrm>
          <a:prstGeom prst="rect">
            <a:avLst/>
          </a:prstGeom>
        </p:spPr>
      </p:pic>
      <p:sp>
        <p:nvSpPr>
          <p:cNvPr id="5" name="badge-FaLanguage"/>
          <p:cNvSpPr/>
          <p:nvPr/>
        </p:nvSpPr>
        <p:spPr>
          <a:xfrm>
            <a:off x="457200" y="1051560"/>
            <a:ext cx="365760" cy="365760"/>
          </a:xfrm>
          <a:prstGeom prst="ellipse">
            <a:avLst/>
          </a:prstGeom>
          <a:solidFill>
            <a:schemeClr val="accent1"/>
          </a:solidFill>
          <a:ln/>
        </p:spPr>
      </p:sp>
      <p:pic>
        <p:nvPicPr>
          <p:cNvPr id="6" name="Image 1" descr="preencoded.png">    </p:cNvPr>
          <p:cNvPicPr>
            <a:picLocks noChangeAspect="1"/>
          </p:cNvPicPr>
          <p:nvPr/>
        </p:nvPicPr>
        <p:blipFill>
          <a:blip r:embed="rId2"/>
          <a:stretch>
            <a:fillRect/>
          </a:stretch>
        </p:blipFill>
        <p:spPr>
          <a:xfrm>
            <a:off x="544982" y="1139342"/>
            <a:ext cx="190195" cy="190195"/>
          </a:xfrm>
          <a:prstGeom prst="rect">
            <a:avLst/>
          </a:prstGeom>
        </p:spPr>
      </p:pic>
      <p:sp>
        <p:nvSpPr>
          <p:cNvPr id="7" name="Text 3"/>
          <p:cNvSpPr txBox="1"/>
          <p:nvPr/>
        </p:nvSpPr>
        <p:spPr>
          <a:xfrm>
            <a:off x="987552" y="1033272"/>
            <a:ext cx="4407408" cy="55778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Langue</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Français, anglais, espagnol</a:t>
            </a:r>
            <a:endParaRPr lang="en-US" sz="1300" dirty="0"/>
          </a:p>
        </p:txBody>
      </p:sp>
      <p:sp>
        <p:nvSpPr>
          <p:cNvPr id="8" name="badge-FaTextHeight"/>
          <p:cNvSpPr/>
          <p:nvPr/>
        </p:nvSpPr>
        <p:spPr>
          <a:xfrm>
            <a:off x="457200" y="1645920"/>
            <a:ext cx="365760" cy="365760"/>
          </a:xfrm>
          <a:prstGeom prst="ellipse">
            <a:avLst/>
          </a:prstGeom>
          <a:solidFill>
            <a:schemeClr val="accent1"/>
          </a:solidFill>
          <a:ln/>
        </p:spPr>
      </p:sp>
      <p:pic>
        <p:nvPicPr>
          <p:cNvPr id="9" name="Image 2" descr="preencoded.png">    </p:cNvPr>
          <p:cNvPicPr>
            <a:picLocks noChangeAspect="1"/>
          </p:cNvPicPr>
          <p:nvPr/>
        </p:nvPicPr>
        <p:blipFill>
          <a:blip r:embed="rId3"/>
          <a:stretch>
            <a:fillRect/>
          </a:stretch>
        </p:blipFill>
        <p:spPr>
          <a:xfrm>
            <a:off x="544982" y="1733702"/>
            <a:ext cx="190195" cy="190195"/>
          </a:xfrm>
          <a:prstGeom prst="rect">
            <a:avLst/>
          </a:prstGeom>
        </p:spPr>
      </p:pic>
      <p:sp>
        <p:nvSpPr>
          <p:cNvPr id="10" name="Text 5"/>
          <p:cNvSpPr txBox="1"/>
          <p:nvPr/>
        </p:nvSpPr>
        <p:spPr>
          <a:xfrm>
            <a:off x="987552" y="1627632"/>
            <a:ext cx="4407408" cy="55778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Taille du texte</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Trois niveaux, la mise en page suit</a:t>
            </a:r>
            <a:endParaRPr lang="en-US" sz="1300" dirty="0"/>
          </a:p>
        </p:txBody>
      </p:sp>
      <p:sp>
        <p:nvSpPr>
          <p:cNvPr id="11" name="badge-FaFont"/>
          <p:cNvSpPr/>
          <p:nvPr/>
        </p:nvSpPr>
        <p:spPr>
          <a:xfrm>
            <a:off x="457200" y="2240280"/>
            <a:ext cx="365760" cy="365760"/>
          </a:xfrm>
          <a:prstGeom prst="ellipse">
            <a:avLst/>
          </a:prstGeom>
          <a:solidFill>
            <a:schemeClr val="accent1"/>
          </a:solidFill>
          <a:ln/>
        </p:spPr>
      </p:sp>
      <p:pic>
        <p:nvPicPr>
          <p:cNvPr id="12" name="Image 3" descr="preencoded.png">    </p:cNvPr>
          <p:cNvPicPr>
            <a:picLocks noChangeAspect="1"/>
          </p:cNvPicPr>
          <p:nvPr/>
        </p:nvPicPr>
        <p:blipFill>
          <a:blip r:embed="rId4"/>
          <a:stretch>
            <a:fillRect/>
          </a:stretch>
        </p:blipFill>
        <p:spPr>
          <a:xfrm>
            <a:off x="544982" y="2328062"/>
            <a:ext cx="190195" cy="190195"/>
          </a:xfrm>
          <a:prstGeom prst="rect">
            <a:avLst/>
          </a:prstGeom>
        </p:spPr>
      </p:pic>
      <p:sp>
        <p:nvSpPr>
          <p:cNvPr id="13" name="Text 7"/>
          <p:cNvSpPr txBox="1"/>
          <p:nvPr/>
        </p:nvSpPr>
        <p:spPr>
          <a:xfrm>
            <a:off x="987552" y="2221992"/>
            <a:ext cx="4407408" cy="55778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Police</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Très lisible, ou adaptée à la dyslexie</a:t>
            </a:r>
            <a:endParaRPr lang="en-US" sz="1300" dirty="0"/>
          </a:p>
        </p:txBody>
      </p:sp>
      <p:sp>
        <p:nvSpPr>
          <p:cNvPr id="14" name="badge-FaAlignLeft"/>
          <p:cNvSpPr/>
          <p:nvPr/>
        </p:nvSpPr>
        <p:spPr>
          <a:xfrm>
            <a:off x="457200" y="2834640"/>
            <a:ext cx="365760" cy="365760"/>
          </a:xfrm>
          <a:prstGeom prst="ellipse">
            <a:avLst/>
          </a:prstGeom>
          <a:solidFill>
            <a:schemeClr val="accent1"/>
          </a:solidFill>
          <a:ln/>
        </p:spPr>
      </p:sp>
      <p:pic>
        <p:nvPicPr>
          <p:cNvPr id="15" name="Image 4" descr="preencoded.png">    </p:cNvPr>
          <p:cNvPicPr>
            <a:picLocks noChangeAspect="1"/>
          </p:cNvPicPr>
          <p:nvPr/>
        </p:nvPicPr>
        <p:blipFill>
          <a:blip r:embed="rId5"/>
          <a:stretch>
            <a:fillRect/>
          </a:stretch>
        </p:blipFill>
        <p:spPr>
          <a:xfrm>
            <a:off x="544982" y="2922422"/>
            <a:ext cx="190195" cy="190195"/>
          </a:xfrm>
          <a:prstGeom prst="rect">
            <a:avLst/>
          </a:prstGeom>
        </p:spPr>
      </p:pic>
      <p:sp>
        <p:nvSpPr>
          <p:cNvPr id="16" name="Text 9"/>
          <p:cNvSpPr txBox="1"/>
          <p:nvPr/>
        </p:nvSpPr>
        <p:spPr>
          <a:xfrm>
            <a:off x="987552" y="2816352"/>
            <a:ext cx="4407408" cy="55778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Espacement</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Lignes, lettres et mots plus espacés</a:t>
            </a:r>
            <a:endParaRPr lang="en-US" sz="1300" dirty="0"/>
          </a:p>
        </p:txBody>
      </p:sp>
      <p:sp>
        <p:nvSpPr>
          <p:cNvPr id="17" name="badge-FaAdjust"/>
          <p:cNvSpPr/>
          <p:nvPr/>
        </p:nvSpPr>
        <p:spPr>
          <a:xfrm>
            <a:off x="457200" y="3429000"/>
            <a:ext cx="365760" cy="365760"/>
          </a:xfrm>
          <a:prstGeom prst="ellipse">
            <a:avLst/>
          </a:prstGeom>
          <a:solidFill>
            <a:schemeClr val="accent1"/>
          </a:solidFill>
          <a:ln/>
        </p:spPr>
      </p:sp>
      <p:pic>
        <p:nvPicPr>
          <p:cNvPr id="18" name="Image 5" descr="preencoded.png">    </p:cNvPr>
          <p:cNvPicPr>
            <a:picLocks noChangeAspect="1"/>
          </p:cNvPicPr>
          <p:nvPr/>
        </p:nvPicPr>
        <p:blipFill>
          <a:blip r:embed="rId6"/>
          <a:stretch>
            <a:fillRect/>
          </a:stretch>
        </p:blipFill>
        <p:spPr>
          <a:xfrm>
            <a:off x="544982" y="3516782"/>
            <a:ext cx="190195" cy="190195"/>
          </a:xfrm>
          <a:prstGeom prst="rect">
            <a:avLst/>
          </a:prstGeom>
        </p:spPr>
      </p:pic>
      <p:sp>
        <p:nvSpPr>
          <p:cNvPr id="19" name="Text 11"/>
          <p:cNvSpPr txBox="1"/>
          <p:nvPr/>
        </p:nvSpPr>
        <p:spPr>
          <a:xfrm>
            <a:off x="987552" y="3410712"/>
            <a:ext cx="4407408" cy="55778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Contraste et animations</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Suivent les réglages du système</a:t>
            </a:r>
            <a:endParaRPr lang="en-US" sz="1300" dirty="0"/>
          </a:p>
        </p:txBody>
      </p:sp>
      <p:sp>
        <p:nvSpPr>
          <p:cNvPr id="20" name="badge-FaVolumeUp"/>
          <p:cNvSpPr/>
          <p:nvPr/>
        </p:nvSpPr>
        <p:spPr>
          <a:xfrm>
            <a:off x="457200" y="4023360"/>
            <a:ext cx="365760" cy="365760"/>
          </a:xfrm>
          <a:prstGeom prst="ellipse">
            <a:avLst/>
          </a:prstGeom>
          <a:solidFill>
            <a:schemeClr val="accent1"/>
          </a:solidFill>
          <a:ln/>
        </p:spPr>
      </p:sp>
      <p:pic>
        <p:nvPicPr>
          <p:cNvPr id="21" name="Image 6" descr="preencoded.png">    </p:cNvPr>
          <p:cNvPicPr>
            <a:picLocks noChangeAspect="1"/>
          </p:cNvPicPr>
          <p:nvPr/>
        </p:nvPicPr>
        <p:blipFill>
          <a:blip r:embed="rId7"/>
          <a:stretch>
            <a:fillRect/>
          </a:stretch>
        </p:blipFill>
        <p:spPr>
          <a:xfrm>
            <a:off x="544982" y="4111142"/>
            <a:ext cx="190195" cy="190195"/>
          </a:xfrm>
          <a:prstGeom prst="rect">
            <a:avLst/>
          </a:prstGeom>
        </p:spPr>
      </p:pic>
      <p:sp>
        <p:nvSpPr>
          <p:cNvPr id="22" name="Text 13"/>
          <p:cNvSpPr txBox="1"/>
          <p:nvPr/>
        </p:nvSpPr>
        <p:spPr>
          <a:xfrm>
            <a:off x="987552" y="4005072"/>
            <a:ext cx="4407408" cy="55778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Voix</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Lecture des réponses, vitesse réglable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Parler avec l’assistant, mains libres</a:t>
            </a:r>
            <a:endParaRPr lang="en-US" sz="2400" dirty="0"/>
          </a:p>
        </p:txBody>
      </p:sp>
      <p:sp>
        <p:nvSpPr>
          <p:cNvPr id="3" name="Shape 1"/>
          <p:cNvSpPr/>
          <p:nvPr/>
        </p:nvSpPr>
        <p:spPr>
          <a:xfrm>
            <a:off x="420624" y="969264"/>
            <a:ext cx="2180082" cy="3685032"/>
          </a:xfrm>
          <a:prstGeom prst="roundRect">
            <a:avLst>
              <a:gd name="adj" fmla="val 3355"/>
            </a:avLst>
          </a:prstGeom>
          <a:solidFill>
            <a:schemeClr val="bg1"/>
          </a:solidFill>
          <a:ln w="9525">
            <a:solidFill>
              <a:srgbClr val="DDDDDD"/>
            </a:solidFill>
            <a:prstDash val="solid"/>
          </a:ln>
          <a:effectLst>
            <a:outerShdw sx="100000" sy="100000" kx="0" ky="0" algn="bl" rotWithShape="0" blurRad="101600" dist="25400" dir="5400000">
              <a:srgbClr val="000000">
                <a:alpha val="18000"/>
              </a:srgbClr>
            </a:outerShdw>
          </a:effectLst>
        </p:spPr>
      </p:sp>
      <p:pic>
        <p:nvPicPr>
          <p:cNvPr id="4" name="Image 0" descr="Mode vocal en cours : l’assistant écoute et affiche la transcription">    </p:cNvPr>
          <p:cNvPicPr>
            <a:picLocks noChangeAspect="1"/>
          </p:cNvPicPr>
          <p:nvPr/>
        </p:nvPicPr>
        <p:blipFill>
          <a:blip r:embed="rId1"/>
          <a:stretch>
            <a:fillRect/>
          </a:stretch>
        </p:blipFill>
        <p:spPr>
          <a:xfrm>
            <a:off x="457200" y="1005840"/>
            <a:ext cx="2106930" cy="3611880"/>
          </a:xfrm>
          <a:prstGeom prst="rect">
            <a:avLst/>
          </a:prstGeom>
        </p:spPr>
      </p:pic>
      <p:sp>
        <p:nvSpPr>
          <p:cNvPr id="5" name="Shape 2"/>
          <p:cNvSpPr/>
          <p:nvPr/>
        </p:nvSpPr>
        <p:spPr>
          <a:xfrm>
            <a:off x="3566160" y="1051560"/>
            <a:ext cx="2468880" cy="1097280"/>
          </a:xfrm>
          <a:prstGeom prst="roundRect">
            <a:avLst>
              <a:gd name="adj" fmla="val 8333"/>
            </a:avLst>
          </a:prstGeom>
          <a:solidFill>
            <a:schemeClr val="bg2"/>
          </a:solidFill>
          <a:ln/>
        </p:spPr>
      </p:sp>
      <p:sp>
        <p:nvSpPr>
          <p:cNvPr id="6" name="badge-FaMicrophone"/>
          <p:cNvSpPr/>
          <p:nvPr/>
        </p:nvSpPr>
        <p:spPr>
          <a:xfrm>
            <a:off x="3749040" y="1234440"/>
            <a:ext cx="411480" cy="41148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3847795" y="1333195"/>
            <a:ext cx="213970" cy="213970"/>
          </a:xfrm>
          <a:prstGeom prst="rect">
            <a:avLst/>
          </a:prstGeom>
        </p:spPr>
      </p:pic>
      <p:sp>
        <p:nvSpPr>
          <p:cNvPr id="8" name="Text 4"/>
          <p:cNvSpPr txBox="1"/>
          <p:nvPr/>
        </p:nvSpPr>
        <p:spPr>
          <a:xfrm>
            <a:off x="4297680" y="1216152"/>
            <a:ext cx="1645920" cy="457200"/>
          </a:xfrm>
          <a:prstGeom prst="rect">
            <a:avLst/>
          </a:prstGeom>
          <a:noFill/>
          <a:ln/>
        </p:spPr>
        <p:txBody>
          <a:bodyPr wrap="square" lIns="0" tIns="0" rIns="0" bIns="0" rtlCol="0" anchor="ctr"/>
          <a:lstStyle/>
          <a:p>
            <a:pPr indent="0" marL="0">
              <a:buNone/>
            </a:pPr>
            <a:r>
              <a:rPr lang="en-US" sz="1300" b="1" dirty="0">
                <a:solidFill>
                  <a:schemeClr val="tx2"/>
                </a:solidFill>
                <a:latin typeface="Arial" pitchFamily="34" charset="0"/>
                <a:ea typeface="Arial" pitchFamily="34" charset="-122"/>
                <a:cs typeface="Arial" pitchFamily="34" charset="-120"/>
              </a:rPr>
              <a:t>J’écoute</a:t>
            </a:r>
            <a:endParaRPr lang="en-US" sz="1300" dirty="0"/>
          </a:p>
        </p:txBody>
      </p:sp>
      <p:sp>
        <p:nvSpPr>
          <p:cNvPr id="9" name="Text 5"/>
          <p:cNvSpPr txBox="1"/>
          <p:nvPr/>
        </p:nvSpPr>
        <p:spPr>
          <a:xfrm>
            <a:off x="3749040" y="1709928"/>
            <a:ext cx="2194560" cy="411480"/>
          </a:xfrm>
          <a:prstGeom prst="rect">
            <a:avLst/>
          </a:prstGeom>
          <a:noFill/>
          <a:ln/>
        </p:spPr>
        <p:txBody>
          <a:bodyPr wrap="square" lIns="0" tIns="0" rIns="0" bIns="0" rtlCol="0" anchor="t"/>
          <a:lstStyle/>
          <a:p>
            <a:pPr indent="0" marL="0">
              <a:buNone/>
            </a:pPr>
            <a:r>
              <a:rPr lang="en-US" sz="1100" dirty="0">
                <a:solidFill>
                  <a:schemeClr val="tx1"/>
                </a:solidFill>
                <a:latin typeface="Arial" pitchFamily="34" charset="0"/>
                <a:ea typeface="Arial" pitchFamily="34" charset="-122"/>
                <a:cs typeface="Arial" pitchFamily="34" charset="-120"/>
              </a:rPr>
              <a:t>La transcription s’affiche en direct</a:t>
            </a:r>
            <a:endParaRPr lang="en-US" sz="1100" dirty="0"/>
          </a:p>
        </p:txBody>
      </p:sp>
      <p:sp>
        <p:nvSpPr>
          <p:cNvPr id="10" name="Shape 6"/>
          <p:cNvSpPr/>
          <p:nvPr/>
        </p:nvSpPr>
        <p:spPr>
          <a:xfrm>
            <a:off x="6172200" y="1051560"/>
            <a:ext cx="2468880" cy="1097280"/>
          </a:xfrm>
          <a:prstGeom prst="roundRect">
            <a:avLst>
              <a:gd name="adj" fmla="val 8333"/>
            </a:avLst>
          </a:prstGeom>
          <a:solidFill>
            <a:schemeClr val="bg2"/>
          </a:solidFill>
          <a:ln/>
        </p:spPr>
      </p:sp>
      <p:sp>
        <p:nvSpPr>
          <p:cNvPr id="11" name="badge-FaVolumeUp"/>
          <p:cNvSpPr/>
          <p:nvPr/>
        </p:nvSpPr>
        <p:spPr>
          <a:xfrm>
            <a:off x="6355080" y="1234440"/>
            <a:ext cx="411480" cy="41148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6453835" y="1333195"/>
            <a:ext cx="213970" cy="213970"/>
          </a:xfrm>
          <a:prstGeom prst="rect">
            <a:avLst/>
          </a:prstGeom>
        </p:spPr>
      </p:pic>
      <p:sp>
        <p:nvSpPr>
          <p:cNvPr id="13" name="Text 8"/>
          <p:cNvSpPr txBox="1"/>
          <p:nvPr/>
        </p:nvSpPr>
        <p:spPr>
          <a:xfrm>
            <a:off x="6903720" y="1216152"/>
            <a:ext cx="1645920" cy="457200"/>
          </a:xfrm>
          <a:prstGeom prst="rect">
            <a:avLst/>
          </a:prstGeom>
          <a:noFill/>
          <a:ln/>
        </p:spPr>
        <p:txBody>
          <a:bodyPr wrap="square" lIns="0" tIns="0" rIns="0" bIns="0" rtlCol="0" anchor="ctr"/>
          <a:lstStyle/>
          <a:p>
            <a:pPr indent="0" marL="0">
              <a:buNone/>
            </a:pPr>
            <a:r>
              <a:rPr lang="en-US" sz="1300" b="1" dirty="0">
                <a:solidFill>
                  <a:schemeClr val="tx2"/>
                </a:solidFill>
                <a:latin typeface="Arial" pitchFamily="34" charset="0"/>
                <a:ea typeface="Arial" pitchFamily="34" charset="-122"/>
                <a:cs typeface="Arial" pitchFamily="34" charset="-120"/>
              </a:rPr>
              <a:t>Je réponds à voix haute</a:t>
            </a:r>
            <a:endParaRPr lang="en-US" sz="1300" dirty="0"/>
          </a:p>
        </p:txBody>
      </p:sp>
      <p:sp>
        <p:nvSpPr>
          <p:cNvPr id="14" name="Text 9"/>
          <p:cNvSpPr txBox="1"/>
          <p:nvPr/>
        </p:nvSpPr>
        <p:spPr>
          <a:xfrm>
            <a:off x="6355080" y="1709928"/>
            <a:ext cx="2194560" cy="411480"/>
          </a:xfrm>
          <a:prstGeom prst="rect">
            <a:avLst/>
          </a:prstGeom>
          <a:noFill/>
          <a:ln/>
        </p:spPr>
        <p:txBody>
          <a:bodyPr wrap="square" lIns="0" tIns="0" rIns="0" bIns="0" rtlCol="0" anchor="t"/>
          <a:lstStyle/>
          <a:p>
            <a:pPr indent="0" marL="0">
              <a:buNone/>
            </a:pPr>
            <a:r>
              <a:rPr lang="en-US" sz="1100" dirty="0">
                <a:solidFill>
                  <a:schemeClr val="tx1"/>
                </a:solidFill>
                <a:latin typeface="Arial" pitchFamily="34" charset="0"/>
                <a:ea typeface="Arial" pitchFamily="34" charset="-122"/>
                <a:cs typeface="Arial" pitchFamily="34" charset="-120"/>
              </a:rPr>
              <a:t>Les choix sont numérotés</a:t>
            </a:r>
            <a:endParaRPr lang="en-US" sz="1100" dirty="0"/>
          </a:p>
        </p:txBody>
      </p:sp>
      <p:sp>
        <p:nvSpPr>
          <p:cNvPr id="15" name="Shape 10"/>
          <p:cNvSpPr/>
          <p:nvPr/>
        </p:nvSpPr>
        <p:spPr>
          <a:xfrm>
            <a:off x="3566160" y="2286000"/>
            <a:ext cx="2468880" cy="1097280"/>
          </a:xfrm>
          <a:prstGeom prst="roundRect">
            <a:avLst>
              <a:gd name="adj" fmla="val 8333"/>
            </a:avLst>
          </a:prstGeom>
          <a:solidFill>
            <a:schemeClr val="bg2"/>
          </a:solidFill>
          <a:ln/>
        </p:spPr>
      </p:sp>
      <p:sp>
        <p:nvSpPr>
          <p:cNvPr id="16" name="badge-FaListOl"/>
          <p:cNvSpPr/>
          <p:nvPr/>
        </p:nvSpPr>
        <p:spPr>
          <a:xfrm>
            <a:off x="3749040" y="2468880"/>
            <a:ext cx="411480" cy="411480"/>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3847795" y="2567635"/>
            <a:ext cx="213970" cy="213970"/>
          </a:xfrm>
          <a:prstGeom prst="rect">
            <a:avLst/>
          </a:prstGeom>
        </p:spPr>
      </p:pic>
      <p:sp>
        <p:nvSpPr>
          <p:cNvPr id="18" name="Text 12"/>
          <p:cNvSpPr txBox="1"/>
          <p:nvPr/>
        </p:nvSpPr>
        <p:spPr>
          <a:xfrm>
            <a:off x="4297680" y="2450592"/>
            <a:ext cx="1645920" cy="457200"/>
          </a:xfrm>
          <a:prstGeom prst="rect">
            <a:avLst/>
          </a:prstGeom>
          <a:noFill/>
          <a:ln/>
        </p:spPr>
        <p:txBody>
          <a:bodyPr wrap="square" lIns="0" tIns="0" rIns="0" bIns="0" rtlCol="0" anchor="ctr"/>
          <a:lstStyle/>
          <a:p>
            <a:pPr indent="0" marL="0">
              <a:buNone/>
            </a:pPr>
            <a:r>
              <a:rPr lang="en-US" sz="1300" b="1" dirty="0">
                <a:solidFill>
                  <a:schemeClr val="tx2"/>
                </a:solidFill>
                <a:latin typeface="Arial" pitchFamily="34" charset="0"/>
                <a:ea typeface="Arial" pitchFamily="34" charset="-122"/>
                <a:cs typeface="Arial" pitchFamily="34" charset="-120"/>
              </a:rPr>
              <a:t>Vous choisissez à la voix</a:t>
            </a:r>
            <a:endParaRPr lang="en-US" sz="1300" dirty="0"/>
          </a:p>
        </p:txBody>
      </p:sp>
      <p:sp>
        <p:nvSpPr>
          <p:cNvPr id="19" name="Text 13"/>
          <p:cNvSpPr txBox="1"/>
          <p:nvPr/>
        </p:nvSpPr>
        <p:spPr>
          <a:xfrm>
            <a:off x="3749040" y="2944368"/>
            <a:ext cx="2194560" cy="411480"/>
          </a:xfrm>
          <a:prstGeom prst="rect">
            <a:avLst/>
          </a:prstGeom>
          <a:noFill/>
          <a:ln/>
        </p:spPr>
        <p:txBody>
          <a:bodyPr wrap="square" lIns="0" tIns="0" rIns="0" bIns="0" rtlCol="0" anchor="t"/>
          <a:lstStyle/>
          <a:p>
            <a:pPr indent="0" marL="0">
              <a:buNone/>
            </a:pPr>
            <a:r>
              <a:rPr lang="en-US" sz="1100" dirty="0">
                <a:solidFill>
                  <a:schemeClr val="tx1"/>
                </a:solidFill>
                <a:latin typeface="Arial" pitchFamily="34" charset="0"/>
                <a:ea typeface="Arial" pitchFamily="34" charset="-122"/>
                <a:cs typeface="Arial" pitchFamily="34" charset="-120"/>
              </a:rPr>
              <a:t>« le deuxième », ou le nom du choix</a:t>
            </a:r>
            <a:endParaRPr lang="en-US" sz="1100" dirty="0"/>
          </a:p>
        </p:txBody>
      </p:sp>
      <p:sp>
        <p:nvSpPr>
          <p:cNvPr id="20" name="Shape 14"/>
          <p:cNvSpPr/>
          <p:nvPr/>
        </p:nvSpPr>
        <p:spPr>
          <a:xfrm>
            <a:off x="6172200" y="2286000"/>
            <a:ext cx="2468880" cy="1097280"/>
          </a:xfrm>
          <a:prstGeom prst="roundRect">
            <a:avLst>
              <a:gd name="adj" fmla="val 8333"/>
            </a:avLst>
          </a:prstGeom>
          <a:solidFill>
            <a:schemeClr val="bg2"/>
          </a:solidFill>
          <a:ln/>
        </p:spPr>
      </p:sp>
      <p:sp>
        <p:nvSpPr>
          <p:cNvPr id="21" name="badge-FaRedo"/>
          <p:cNvSpPr/>
          <p:nvPr/>
        </p:nvSpPr>
        <p:spPr>
          <a:xfrm>
            <a:off x="6355080" y="2468880"/>
            <a:ext cx="411480" cy="411480"/>
          </a:xfrm>
          <a:prstGeom prst="ellipse">
            <a:avLst/>
          </a:prstGeom>
          <a:solidFill>
            <a:schemeClr val="accent1"/>
          </a:solidFill>
          <a:ln/>
        </p:spPr>
      </p:sp>
      <p:pic>
        <p:nvPicPr>
          <p:cNvPr id="22" name="Image 4" descr="preencoded.png">    </p:cNvPr>
          <p:cNvPicPr>
            <a:picLocks noChangeAspect="1"/>
          </p:cNvPicPr>
          <p:nvPr/>
        </p:nvPicPr>
        <p:blipFill>
          <a:blip r:embed="rId5"/>
          <a:stretch>
            <a:fillRect/>
          </a:stretch>
        </p:blipFill>
        <p:spPr>
          <a:xfrm>
            <a:off x="6453835" y="2567635"/>
            <a:ext cx="213970" cy="213970"/>
          </a:xfrm>
          <a:prstGeom prst="rect">
            <a:avLst/>
          </a:prstGeom>
        </p:spPr>
      </p:pic>
      <p:sp>
        <p:nvSpPr>
          <p:cNvPr id="23" name="Text 16"/>
          <p:cNvSpPr txBox="1"/>
          <p:nvPr/>
        </p:nvSpPr>
        <p:spPr>
          <a:xfrm>
            <a:off x="6903720" y="2450592"/>
            <a:ext cx="1645920" cy="457200"/>
          </a:xfrm>
          <a:prstGeom prst="rect">
            <a:avLst/>
          </a:prstGeom>
          <a:noFill/>
          <a:ln/>
        </p:spPr>
        <p:txBody>
          <a:bodyPr wrap="square" lIns="0" tIns="0" rIns="0" bIns="0" rtlCol="0" anchor="ctr"/>
          <a:lstStyle/>
          <a:p>
            <a:pPr indent="0" marL="0">
              <a:buNone/>
            </a:pPr>
            <a:r>
              <a:rPr lang="en-US" sz="1300" b="1" dirty="0">
                <a:solidFill>
                  <a:schemeClr val="tx2"/>
                </a:solidFill>
                <a:latin typeface="Arial" pitchFamily="34" charset="0"/>
                <a:ea typeface="Arial" pitchFamily="34" charset="-122"/>
                <a:cs typeface="Arial" pitchFamily="34" charset="-120"/>
              </a:rPr>
              <a:t>Je réécoute</a:t>
            </a:r>
            <a:endParaRPr lang="en-US" sz="1300" dirty="0"/>
          </a:p>
        </p:txBody>
      </p:sp>
      <p:sp>
        <p:nvSpPr>
          <p:cNvPr id="24" name="Text 17"/>
          <p:cNvSpPr txBox="1"/>
          <p:nvPr/>
        </p:nvSpPr>
        <p:spPr>
          <a:xfrm>
            <a:off x="6355080" y="2944368"/>
            <a:ext cx="2194560" cy="411480"/>
          </a:xfrm>
          <a:prstGeom prst="rect">
            <a:avLst/>
          </a:prstGeom>
          <a:noFill/>
          <a:ln/>
        </p:spPr>
        <p:txBody>
          <a:bodyPr wrap="square" lIns="0" tIns="0" rIns="0" bIns="0" rtlCol="0" anchor="t"/>
          <a:lstStyle/>
          <a:p>
            <a:pPr indent="0" marL="0">
              <a:buNone/>
            </a:pPr>
            <a:r>
              <a:rPr lang="en-US" sz="1100" dirty="0">
                <a:solidFill>
                  <a:schemeClr val="tx1"/>
                </a:solidFill>
                <a:latin typeface="Arial" pitchFamily="34" charset="0"/>
                <a:ea typeface="Arial" pitchFamily="34" charset="-122"/>
                <a:cs typeface="Arial" pitchFamily="34" charset="-120"/>
              </a:rPr>
              <a:t>« répète », « pause », « stop » à tout moment</a:t>
            </a:r>
            <a:endParaRPr lang="en-US" sz="1100" dirty="0"/>
          </a:p>
        </p:txBody>
      </p:sp>
      <p:sp>
        <p:nvSpPr>
          <p:cNvPr id="25" name="Shape 18"/>
          <p:cNvSpPr/>
          <p:nvPr/>
        </p:nvSpPr>
        <p:spPr>
          <a:xfrm>
            <a:off x="3566160" y="3611880"/>
            <a:ext cx="5120640" cy="960120"/>
          </a:xfrm>
          <a:prstGeom prst="roundRect">
            <a:avLst>
              <a:gd name="adj" fmla="val 9524"/>
            </a:avLst>
          </a:prstGeom>
          <a:solidFill>
            <a:srgbClr val="FDF1F2"/>
          </a:solidFill>
          <a:ln/>
        </p:spPr>
      </p:sp>
      <p:sp>
        <p:nvSpPr>
          <p:cNvPr id="26" name="badge-FaShieldAlt"/>
          <p:cNvSpPr/>
          <p:nvPr/>
        </p:nvSpPr>
        <p:spPr>
          <a:xfrm>
            <a:off x="3749040" y="3794760"/>
            <a:ext cx="411480" cy="411480"/>
          </a:xfrm>
          <a:prstGeom prst="ellipse">
            <a:avLst/>
          </a:prstGeom>
          <a:solidFill>
            <a:schemeClr val="accent2"/>
          </a:solidFill>
          <a:ln/>
        </p:spPr>
      </p:sp>
      <p:pic>
        <p:nvPicPr>
          <p:cNvPr id="27" name="Image 5" descr="preencoded.png">    </p:cNvPr>
          <p:cNvPicPr>
            <a:picLocks noChangeAspect="1"/>
          </p:cNvPicPr>
          <p:nvPr/>
        </p:nvPicPr>
        <p:blipFill>
          <a:blip r:embed="rId6"/>
          <a:stretch>
            <a:fillRect/>
          </a:stretch>
        </p:blipFill>
        <p:spPr>
          <a:xfrm>
            <a:off x="3847795" y="3893515"/>
            <a:ext cx="213970" cy="213970"/>
          </a:xfrm>
          <a:prstGeom prst="rect">
            <a:avLst/>
          </a:prstGeom>
        </p:spPr>
      </p:pic>
      <p:sp>
        <p:nvSpPr>
          <p:cNvPr id="28" name="Text 20"/>
          <p:cNvSpPr txBox="1"/>
          <p:nvPr/>
        </p:nvSpPr>
        <p:spPr>
          <a:xfrm>
            <a:off x="4297680" y="3749040"/>
            <a:ext cx="4251960" cy="777240"/>
          </a:xfrm>
          <a:prstGeom prst="rect">
            <a:avLst/>
          </a:prstGeom>
          <a:noFill/>
          <a:ln/>
        </p:spPr>
        <p:txBody>
          <a:bodyPr wrap="square" lIns="0" tIns="0" rIns="0" bIns="0" rtlCol="0" anchor="ctr"/>
          <a:lstStyle/>
          <a:p>
            <a:pPr indent="0" marL="0">
              <a:buNone/>
            </a:pPr>
            <a:r>
              <a:rPr lang="en-US" sz="1200" b="1" dirty="0">
                <a:solidFill>
                  <a:schemeClr val="accent2"/>
                </a:solidFill>
                <a:latin typeface="Arial" pitchFamily="34" charset="0"/>
                <a:ea typeface="Arial" pitchFamily="34" charset="-122"/>
                <a:cs typeface="Arial" pitchFamily="34" charset="-120"/>
              </a:rPr>
              <a:t>Règle de sécurité : </a:t>
            </a:r>
            <a:pPr indent="0" marL="0">
              <a:buNone/>
            </a:pPr>
            <a:r>
              <a:rPr lang="en-US" sz="1200" dirty="0">
                <a:solidFill>
                  <a:schemeClr val="tx1"/>
                </a:solidFill>
                <a:latin typeface="Arial" pitchFamily="34" charset="0"/>
                <a:ea typeface="Arial" pitchFamily="34" charset="-122"/>
                <a:cs typeface="Arial" pitchFamily="34" charset="-120"/>
              </a:rPr>
              <a:t>une opération n’est jamais validée à la voix. « Je confirme » sélectionne le bouton ; l’utilisateur valide par un geste (touche Entrée).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Zéro jargon : la même réponse, trois niveaux</a:t>
            </a:r>
            <a:endParaRPr lang="en-US" sz="2400" dirty="0"/>
          </a:p>
        </p:txBody>
      </p:sp>
      <p:sp>
        <p:nvSpPr>
          <p:cNvPr id="3" name="Shape 1"/>
          <p:cNvSpPr/>
          <p:nvPr/>
        </p:nvSpPr>
        <p:spPr>
          <a:xfrm>
            <a:off x="457200" y="1051560"/>
            <a:ext cx="2606040" cy="2743200"/>
          </a:xfrm>
          <a:prstGeom prst="roundRect">
            <a:avLst>
              <a:gd name="adj" fmla="val 3509"/>
            </a:avLst>
          </a:prstGeom>
          <a:solidFill>
            <a:srgbClr val="F4F4F5"/>
          </a:solidFill>
          <a:ln/>
        </p:spPr>
      </p:sp>
      <p:sp>
        <p:nvSpPr>
          <p:cNvPr id="4" name="Text 2"/>
          <p:cNvSpPr txBox="1"/>
          <p:nvPr/>
        </p:nvSpPr>
        <p:spPr>
          <a:xfrm>
            <a:off x="685800" y="1188720"/>
            <a:ext cx="2148840" cy="365760"/>
          </a:xfrm>
          <a:prstGeom prst="rect">
            <a:avLst/>
          </a:prstGeom>
          <a:noFill/>
          <a:ln/>
        </p:spPr>
        <p:txBody>
          <a:bodyPr wrap="square" lIns="0" tIns="0" rIns="0" bIns="0" rtlCol="0" anchor="t"/>
          <a:lstStyle/>
          <a:p>
            <a:pPr indent="0" marL="0">
              <a:buNone/>
            </a:pPr>
            <a:r>
              <a:rPr lang="en-US" sz="1500" b="1" dirty="0">
                <a:solidFill>
                  <a:schemeClr val="accent6"/>
                </a:solidFill>
                <a:latin typeface="Arial" pitchFamily="34" charset="0"/>
                <a:ea typeface="Arial" pitchFamily="34" charset="-122"/>
                <a:cs typeface="Arial" pitchFamily="34" charset="-120"/>
              </a:rPr>
              <a:t>Avant</a:t>
            </a:r>
            <a:endParaRPr lang="en-US" sz="1500" dirty="0"/>
          </a:p>
        </p:txBody>
      </p:sp>
      <p:sp>
        <p:nvSpPr>
          <p:cNvPr id="5" name="Text 3"/>
          <p:cNvSpPr txBox="1"/>
          <p:nvPr/>
        </p:nvSpPr>
        <p:spPr>
          <a:xfrm>
            <a:off x="685800" y="1600200"/>
            <a:ext cx="2148840" cy="2103120"/>
          </a:xfrm>
          <a:prstGeom prst="rect">
            <a:avLst/>
          </a:prstGeom>
          <a:noFill/>
          <a:ln/>
        </p:spPr>
        <p:txBody>
          <a:bodyPr wrap="square" lIns="0" tIns="0" rIns="0" bIns="0" rtlCol="0" anchor="t"/>
          <a:lstStyle/>
          <a:p>
            <a:pPr indent="0" marL="0">
              <a:buNone/>
            </a:pPr>
            <a:r>
              <a:rPr lang="en-US" sz="1250" i="1" dirty="0">
                <a:solidFill>
                  <a:schemeClr val="accent6"/>
                </a:solidFill>
                <a:latin typeface="Arial" pitchFamily="34" charset="0"/>
                <a:ea typeface="Arial" pitchFamily="34" charset="-122"/>
                <a:cs typeface="Arial" pitchFamily="34" charset="-120"/>
              </a:rPr>
              <a:t>Pour ce type de projet, il existe le prêt personnel : une somme fixe, remboursée par mensualités identiques. Le TAEG vous permet de comparer les offres.</a:t>
            </a:r>
            <a:endParaRPr lang="en-US" sz="1250" dirty="0"/>
          </a:p>
        </p:txBody>
      </p:sp>
      <p:sp>
        <p:nvSpPr>
          <p:cNvPr id="6" name="Shape 4"/>
          <p:cNvSpPr/>
          <p:nvPr/>
        </p:nvSpPr>
        <p:spPr>
          <a:xfrm>
            <a:off x="3246120" y="1051560"/>
            <a:ext cx="2606040" cy="2743200"/>
          </a:xfrm>
          <a:prstGeom prst="roundRect">
            <a:avLst>
              <a:gd name="adj" fmla="val 3509"/>
            </a:avLst>
          </a:prstGeom>
          <a:solidFill>
            <a:srgbClr val="F4F4F5"/>
          </a:solidFill>
          <a:ln/>
        </p:spPr>
      </p:sp>
      <p:sp>
        <p:nvSpPr>
          <p:cNvPr id="7" name="Text 5"/>
          <p:cNvSpPr txBox="1"/>
          <p:nvPr/>
        </p:nvSpPr>
        <p:spPr>
          <a:xfrm>
            <a:off x="3474720" y="1188720"/>
            <a:ext cx="2148840" cy="365760"/>
          </a:xfrm>
          <a:prstGeom prst="rect">
            <a:avLst/>
          </a:prstGeom>
          <a:noFill/>
          <a:ln/>
        </p:spPr>
        <p:txBody>
          <a:bodyPr wrap="square" lIns="0" tIns="0" rIns="0" bIns="0" rtlCol="0" anchor="t"/>
          <a:lstStyle/>
          <a:p>
            <a:pPr indent="0" marL="0">
              <a:buNone/>
            </a:pPr>
            <a:r>
              <a:rPr lang="en-US" sz="1500" b="1" dirty="0">
                <a:solidFill>
                  <a:schemeClr val="tx2"/>
                </a:solidFill>
                <a:latin typeface="Arial" pitchFamily="34" charset="0"/>
                <a:ea typeface="Arial" pitchFamily="34" charset="-122"/>
                <a:cs typeface="Arial" pitchFamily="34" charset="-120"/>
              </a:rPr>
              <a:t>Par défaut</a:t>
            </a:r>
            <a:endParaRPr lang="en-US" sz="1500" dirty="0"/>
          </a:p>
        </p:txBody>
      </p:sp>
      <p:sp>
        <p:nvSpPr>
          <p:cNvPr id="8" name="Text 6"/>
          <p:cNvSpPr txBox="1"/>
          <p:nvPr/>
        </p:nvSpPr>
        <p:spPr>
          <a:xfrm>
            <a:off x="3474720" y="1600200"/>
            <a:ext cx="2148840" cy="2103120"/>
          </a:xfrm>
          <a:prstGeom prst="rect">
            <a:avLst/>
          </a:prstGeom>
          <a:noFill/>
          <a:ln/>
        </p:spPr>
        <p:txBody>
          <a:bodyPr wrap="square" lIns="0" tIns="0" rIns="0" bIns="0" rtlCol="0" anchor="t"/>
          <a:lstStyle/>
          <a:p>
            <a:pPr indent="0" marL="0">
              <a:buNone/>
            </a:pPr>
            <a:r>
              <a:rPr lang="en-US" sz="1250" dirty="0">
                <a:solidFill>
                  <a:schemeClr val="tx1"/>
                </a:solidFill>
                <a:latin typeface="Arial" pitchFamily="34" charset="0"/>
                <a:ea typeface="Arial" pitchFamily="34" charset="-122"/>
                <a:cs typeface="Arial" pitchFamily="34" charset="-120"/>
              </a:rPr>
              <a:t>Pour ce projet, vous pouvez faire un prêt personnel : vous empruntez une somme, puis vous remboursez le même montant chaque mois. Pour comparer les offres, regardez le TAEG : c’est le coût total du crédit, par an.</a:t>
            </a:r>
            <a:endParaRPr lang="en-US" sz="1250" dirty="0"/>
          </a:p>
        </p:txBody>
      </p:sp>
      <p:sp>
        <p:nvSpPr>
          <p:cNvPr id="9" name="Shape 7"/>
          <p:cNvSpPr/>
          <p:nvPr/>
        </p:nvSpPr>
        <p:spPr>
          <a:xfrm>
            <a:off x="6035040" y="1051560"/>
            <a:ext cx="2606040" cy="2743200"/>
          </a:xfrm>
          <a:prstGeom prst="roundRect">
            <a:avLst>
              <a:gd name="adj" fmla="val 3509"/>
            </a:avLst>
          </a:prstGeom>
          <a:solidFill>
            <a:srgbClr val="FDF1F2"/>
          </a:solidFill>
          <a:ln/>
        </p:spPr>
      </p:sp>
      <p:sp>
        <p:nvSpPr>
          <p:cNvPr id="10" name="Text 8"/>
          <p:cNvSpPr txBox="1"/>
          <p:nvPr/>
        </p:nvSpPr>
        <p:spPr>
          <a:xfrm>
            <a:off x="6263640" y="1188720"/>
            <a:ext cx="2148840" cy="36576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Langage simplifié</a:t>
            </a:r>
            <a:endParaRPr lang="en-US" sz="1500" dirty="0"/>
          </a:p>
        </p:txBody>
      </p:sp>
      <p:sp>
        <p:nvSpPr>
          <p:cNvPr id="11" name="Text 9"/>
          <p:cNvSpPr txBox="1"/>
          <p:nvPr/>
        </p:nvSpPr>
        <p:spPr>
          <a:xfrm>
            <a:off x="6263640" y="1600200"/>
            <a:ext cx="2148840" cy="2103120"/>
          </a:xfrm>
          <a:prstGeom prst="rect">
            <a:avLst/>
          </a:prstGeom>
          <a:noFill/>
          <a:ln/>
        </p:spPr>
        <p:txBody>
          <a:bodyPr wrap="square" lIns="0" tIns="0" rIns="0" bIns="0" rtlCol="0" anchor="t"/>
          <a:lstStyle/>
          <a:p>
            <a:pPr indent="0" marL="0">
              <a:buNone/>
            </a:pPr>
            <a:r>
              <a:rPr lang="en-US" sz="1250" dirty="0">
                <a:solidFill>
                  <a:schemeClr val="tx1"/>
                </a:solidFill>
                <a:latin typeface="Arial" pitchFamily="34" charset="0"/>
                <a:ea typeface="Arial" pitchFamily="34" charset="-122"/>
                <a:cs typeface="Arial" pitchFamily="34" charset="-120"/>
              </a:rPr>
              <a:t>La banque vous prête une somme.</a:t>
            </a:r>
            <a:endParaRPr lang="en-US" sz="1250" dirty="0"/>
          </a:p>
          <a:p>
            <a:pPr indent="0" marL="0">
              <a:buNone/>
            </a:pPr>
            <a:r>
              <a:rPr lang="en-US" sz="1250" dirty="0">
                <a:solidFill>
                  <a:schemeClr val="tx1"/>
                </a:solidFill>
                <a:latin typeface="Arial" pitchFamily="34" charset="0"/>
                <a:ea typeface="Arial" pitchFamily="34" charset="-122"/>
                <a:cs typeface="Arial" pitchFamily="34" charset="-120"/>
              </a:rPr>
              <a:t>Vous la remboursez un peu chaque mois, toujours le même montant.</a:t>
            </a:r>
            <a:endParaRPr lang="en-US" sz="1250" dirty="0"/>
          </a:p>
          <a:p>
            <a:pPr indent="0" marL="0">
              <a:buNone/>
            </a:pPr>
            <a:r>
              <a:rPr lang="en-US" sz="1250" dirty="0">
                <a:solidFill>
                  <a:schemeClr val="tx1"/>
                </a:solidFill>
                <a:latin typeface="Arial" pitchFamily="34" charset="0"/>
                <a:ea typeface="Arial" pitchFamily="34" charset="-122"/>
                <a:cs typeface="Arial" pitchFamily="34" charset="-120"/>
              </a:rPr>
              <a:t>Le prêt a un coût : on l’appelle le TAEG.</a:t>
            </a:r>
            <a:endParaRPr lang="en-US" sz="1250" dirty="0"/>
          </a:p>
        </p:txBody>
      </p:sp>
      <p:sp>
        <p:nvSpPr>
          <p:cNvPr id="12" name="badge-FaBook"/>
          <p:cNvSpPr/>
          <p:nvPr/>
        </p:nvSpPr>
        <p:spPr>
          <a:xfrm>
            <a:off x="457200" y="3931920"/>
            <a:ext cx="384048" cy="384048"/>
          </a:xfrm>
          <a:prstGeom prst="ellipse">
            <a:avLst/>
          </a:prstGeom>
          <a:solidFill>
            <a:schemeClr val="accent1"/>
          </a:solidFill>
          <a:ln/>
        </p:spPr>
      </p:sp>
      <p:pic>
        <p:nvPicPr>
          <p:cNvPr id="13" name="Image 0" descr="preencoded.png">    </p:cNvPr>
          <p:cNvPicPr>
            <a:picLocks noChangeAspect="1"/>
          </p:cNvPicPr>
          <p:nvPr/>
        </p:nvPicPr>
        <p:blipFill>
          <a:blip r:embed="rId1"/>
          <a:stretch>
            <a:fillRect/>
          </a:stretch>
        </p:blipFill>
        <p:spPr>
          <a:xfrm>
            <a:off x="549372" y="4024092"/>
            <a:ext cx="199705" cy="199705"/>
          </a:xfrm>
          <a:prstGeom prst="rect">
            <a:avLst/>
          </a:prstGeom>
        </p:spPr>
      </p:pic>
      <p:sp>
        <p:nvSpPr>
          <p:cNvPr id="14" name="Text 11"/>
          <p:cNvSpPr txBox="1"/>
          <p:nvPr/>
        </p:nvSpPr>
        <p:spPr>
          <a:xfrm>
            <a:off x="1005840" y="3913632"/>
            <a:ext cx="7680960" cy="69494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Glossaire au clic</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Chaque terme technique restant s’explique en une phrase. La mention légale du crédit reste mot pour mot.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Lecteur d’écran et clavier : le socle technique</a:t>
            </a:r>
            <a:endParaRPr lang="en-US" sz="2400" dirty="0"/>
          </a:p>
        </p:txBody>
      </p:sp>
      <p:sp>
        <p:nvSpPr>
          <p:cNvPr id="3" name="badge-FaKeyboard"/>
          <p:cNvSpPr/>
          <p:nvPr/>
        </p:nvSpPr>
        <p:spPr>
          <a:xfrm>
            <a:off x="457200" y="1097280"/>
            <a:ext cx="457200" cy="45720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566928" y="1207008"/>
            <a:ext cx="237744" cy="237744"/>
          </a:xfrm>
          <a:prstGeom prst="rect">
            <a:avLst/>
          </a:prstGeom>
        </p:spPr>
      </p:pic>
      <p:sp>
        <p:nvSpPr>
          <p:cNvPr id="5" name="Text 2"/>
          <p:cNvSpPr txBox="1"/>
          <p:nvPr/>
        </p:nvSpPr>
        <p:spPr>
          <a:xfrm>
            <a:off x="1078992" y="1051560"/>
            <a:ext cx="3383280" cy="1051560"/>
          </a:xfrm>
          <a:prstGeom prst="rect">
            <a:avLst/>
          </a:prstGeom>
          <a:noFill/>
          <a:ln/>
        </p:spPr>
        <p:txBody>
          <a:bodyPr wrap="square" lIns="0" tIns="0" rIns="0" bIns="0" rtlCol="0" anchor="t"/>
          <a:lstStyle/>
          <a:p>
            <a:pPr indent="0" marL="0">
              <a:buNone/>
            </a:pPr>
            <a:r>
              <a:rPr lang="en-US" sz="1300" b="1" dirty="0">
                <a:solidFill>
                  <a:schemeClr val="tx2"/>
                </a:solidFill>
                <a:latin typeface="Arial" pitchFamily="34" charset="0"/>
                <a:ea typeface="Arial" pitchFamily="34" charset="-122"/>
                <a:cs typeface="Arial" pitchFamily="34" charset="-120"/>
              </a:rPr>
              <a:t>100 % au clavier</a:t>
            </a:r>
            <a:endParaRPr lang="en-US" sz="1300" dirty="0"/>
          </a:p>
          <a:p>
            <a:pPr indent="0" marL="0">
              <a:buNone/>
            </a:pPr>
            <a:r>
              <a:rPr lang="en-US" sz="1300" dirty="0">
                <a:solidFill>
                  <a:schemeClr val="tx1"/>
                </a:solidFill>
                <a:latin typeface="Arial" pitchFamily="34" charset="0"/>
                <a:ea typeface="Arial" pitchFamily="34" charset="-122"/>
                <a:cs typeface="Arial" pitchFamily="34" charset="-120"/>
              </a:rPr>
              <a:t>Liens d’évitement, raccourci Alt + Maj + A, focus toujours visible</a:t>
            </a:r>
            <a:endParaRPr lang="en-US" sz="1300" dirty="0"/>
          </a:p>
        </p:txBody>
      </p:sp>
      <p:sp>
        <p:nvSpPr>
          <p:cNvPr id="6" name="badge-FaAssistiveListeningSystems"/>
          <p:cNvSpPr/>
          <p:nvPr/>
        </p:nvSpPr>
        <p:spPr>
          <a:xfrm>
            <a:off x="4663440" y="1097280"/>
            <a:ext cx="457200" cy="45720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4773168" y="1207008"/>
            <a:ext cx="237744" cy="237744"/>
          </a:xfrm>
          <a:prstGeom prst="rect">
            <a:avLst/>
          </a:prstGeom>
        </p:spPr>
      </p:pic>
      <p:sp>
        <p:nvSpPr>
          <p:cNvPr id="8" name="Text 4"/>
          <p:cNvSpPr txBox="1"/>
          <p:nvPr/>
        </p:nvSpPr>
        <p:spPr>
          <a:xfrm>
            <a:off x="5285232" y="1051560"/>
            <a:ext cx="3383280" cy="1051560"/>
          </a:xfrm>
          <a:prstGeom prst="rect">
            <a:avLst/>
          </a:prstGeom>
          <a:noFill/>
          <a:ln/>
        </p:spPr>
        <p:txBody>
          <a:bodyPr wrap="square" lIns="0" tIns="0" rIns="0" bIns="0" rtlCol="0" anchor="t"/>
          <a:lstStyle/>
          <a:p>
            <a:pPr indent="0" marL="0">
              <a:buNone/>
            </a:pPr>
            <a:r>
              <a:rPr lang="en-US" sz="1300" b="1" dirty="0">
                <a:solidFill>
                  <a:schemeClr val="tx2"/>
                </a:solidFill>
                <a:latin typeface="Arial" pitchFamily="34" charset="0"/>
                <a:ea typeface="Arial" pitchFamily="34" charset="-122"/>
                <a:cs typeface="Arial" pitchFamily="34" charset="-120"/>
              </a:rPr>
              <a:t>Annonces vocales</a:t>
            </a:r>
            <a:endParaRPr lang="en-US" sz="1300" dirty="0"/>
          </a:p>
          <a:p>
            <a:pPr indent="0" marL="0">
              <a:buNone/>
            </a:pPr>
            <a:r>
              <a:rPr lang="en-US" sz="1300" dirty="0">
                <a:solidFill>
                  <a:schemeClr val="tx1"/>
                </a:solidFill>
                <a:latin typeface="Arial" pitchFamily="34" charset="0"/>
                <a:ea typeface="Arial" pitchFamily="34" charset="-122"/>
                <a:cs typeface="Arial" pitchFamily="34" charset="-120"/>
              </a:rPr>
              <a:t>Chaque réponse est annoncée d’un bloc, préfixée « L’assistant : »</a:t>
            </a:r>
            <a:endParaRPr lang="en-US" sz="1300" dirty="0"/>
          </a:p>
        </p:txBody>
      </p:sp>
      <p:sp>
        <p:nvSpPr>
          <p:cNvPr id="9" name="badge-FaCrosshairs"/>
          <p:cNvSpPr/>
          <p:nvPr/>
        </p:nvSpPr>
        <p:spPr>
          <a:xfrm>
            <a:off x="457200" y="2286000"/>
            <a:ext cx="457200" cy="45720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566928" y="2395728"/>
            <a:ext cx="237744" cy="237744"/>
          </a:xfrm>
          <a:prstGeom prst="rect">
            <a:avLst/>
          </a:prstGeom>
        </p:spPr>
      </p:pic>
      <p:sp>
        <p:nvSpPr>
          <p:cNvPr id="11" name="Text 6"/>
          <p:cNvSpPr txBox="1"/>
          <p:nvPr/>
        </p:nvSpPr>
        <p:spPr>
          <a:xfrm>
            <a:off x="1078992" y="2240280"/>
            <a:ext cx="3383280" cy="1051560"/>
          </a:xfrm>
          <a:prstGeom prst="rect">
            <a:avLst/>
          </a:prstGeom>
          <a:noFill/>
          <a:ln/>
        </p:spPr>
        <p:txBody>
          <a:bodyPr wrap="square" lIns="0" tIns="0" rIns="0" bIns="0" rtlCol="0" anchor="t"/>
          <a:lstStyle/>
          <a:p>
            <a:pPr indent="0" marL="0">
              <a:buNone/>
            </a:pPr>
            <a:r>
              <a:rPr lang="en-US" sz="1300" b="1" dirty="0">
                <a:solidFill>
                  <a:schemeClr val="tx2"/>
                </a:solidFill>
                <a:latin typeface="Arial" pitchFamily="34" charset="0"/>
                <a:ea typeface="Arial" pitchFamily="34" charset="-122"/>
                <a:cs typeface="Arial" pitchFamily="34" charset="-120"/>
              </a:rPr>
              <a:t>Focus maîtrisé</a:t>
            </a:r>
            <a:endParaRPr lang="en-US" sz="1300" dirty="0"/>
          </a:p>
          <a:p>
            <a:pPr indent="0" marL="0">
              <a:buNone/>
            </a:pPr>
            <a:r>
              <a:rPr lang="en-US" sz="1300" dirty="0">
                <a:solidFill>
                  <a:schemeClr val="tx1"/>
                </a:solidFill>
                <a:latin typeface="Arial" pitchFamily="34" charset="0"/>
                <a:ea typeface="Arial" pitchFamily="34" charset="-122"/>
                <a:cs typeface="Arial" pitchFamily="34" charset="-120"/>
              </a:rPr>
              <a:t>Après un choix, le focus va sur la réponse ; fenêtres avec focus piégé</a:t>
            </a:r>
            <a:endParaRPr lang="en-US" sz="1300" dirty="0"/>
          </a:p>
        </p:txBody>
      </p:sp>
      <p:sp>
        <p:nvSpPr>
          <p:cNvPr id="12" name="badge-FaEye"/>
          <p:cNvSpPr/>
          <p:nvPr/>
        </p:nvSpPr>
        <p:spPr>
          <a:xfrm>
            <a:off x="4663440" y="2286000"/>
            <a:ext cx="457200" cy="457200"/>
          </a:xfrm>
          <a:prstGeom prst="ellipse">
            <a:avLst/>
          </a:prstGeom>
          <a:solidFill>
            <a:schemeClr val="accent1"/>
          </a:solidFill>
          <a:ln/>
        </p:spPr>
      </p:sp>
      <p:pic>
        <p:nvPicPr>
          <p:cNvPr id="13" name="Image 3" descr="preencoded.png">    </p:cNvPr>
          <p:cNvPicPr>
            <a:picLocks noChangeAspect="1"/>
          </p:cNvPicPr>
          <p:nvPr/>
        </p:nvPicPr>
        <p:blipFill>
          <a:blip r:embed="rId4"/>
          <a:stretch>
            <a:fillRect/>
          </a:stretch>
        </p:blipFill>
        <p:spPr>
          <a:xfrm>
            <a:off x="4773168" y="2395728"/>
            <a:ext cx="237744" cy="237744"/>
          </a:xfrm>
          <a:prstGeom prst="rect">
            <a:avLst/>
          </a:prstGeom>
        </p:spPr>
      </p:pic>
      <p:sp>
        <p:nvSpPr>
          <p:cNvPr id="14" name="Text 8"/>
          <p:cNvSpPr txBox="1"/>
          <p:nvPr/>
        </p:nvSpPr>
        <p:spPr>
          <a:xfrm>
            <a:off x="5285232" y="2240280"/>
            <a:ext cx="3383280" cy="1051560"/>
          </a:xfrm>
          <a:prstGeom prst="rect">
            <a:avLst/>
          </a:prstGeom>
          <a:noFill/>
          <a:ln/>
        </p:spPr>
        <p:txBody>
          <a:bodyPr wrap="square" lIns="0" tIns="0" rIns="0" bIns="0" rtlCol="0" anchor="t"/>
          <a:lstStyle/>
          <a:p>
            <a:pPr indent="0" marL="0">
              <a:buNone/>
            </a:pPr>
            <a:r>
              <a:rPr lang="en-US" sz="1300" b="1" dirty="0">
                <a:solidFill>
                  <a:schemeClr val="tx2"/>
                </a:solidFill>
                <a:latin typeface="Arial" pitchFamily="34" charset="0"/>
                <a:ea typeface="Arial" pitchFamily="34" charset="-122"/>
                <a:cs typeface="Arial" pitchFamily="34" charset="-120"/>
              </a:rPr>
              <a:t>Contrastes</a:t>
            </a:r>
            <a:endParaRPr lang="en-US" sz="1300" dirty="0"/>
          </a:p>
          <a:p>
            <a:pPr indent="0" marL="0">
              <a:buNone/>
            </a:pPr>
            <a:r>
              <a:rPr lang="en-US" sz="1300" dirty="0">
                <a:solidFill>
                  <a:schemeClr val="tx1"/>
                </a:solidFill>
                <a:latin typeface="Arial" pitchFamily="34" charset="0"/>
                <a:ea typeface="Arial" pitchFamily="34" charset="-122"/>
                <a:cs typeface="Arial" pitchFamily="34" charset="-120"/>
              </a:rPr>
              <a:t>Texte au moins à 4,5:1 ; mode renforcé pour les malvoyants</a:t>
            </a:r>
            <a:endParaRPr lang="en-US" sz="1300" dirty="0"/>
          </a:p>
        </p:txBody>
      </p:sp>
      <p:sp>
        <p:nvSpPr>
          <p:cNvPr id="15" name="badge-FaHandPointer"/>
          <p:cNvSpPr/>
          <p:nvPr/>
        </p:nvSpPr>
        <p:spPr>
          <a:xfrm>
            <a:off x="457200" y="3474720"/>
            <a:ext cx="457200" cy="457200"/>
          </a:xfrm>
          <a:prstGeom prst="ellipse">
            <a:avLst/>
          </a:prstGeom>
          <a:solidFill>
            <a:schemeClr val="accent1"/>
          </a:solidFill>
          <a:ln/>
        </p:spPr>
      </p:sp>
      <p:pic>
        <p:nvPicPr>
          <p:cNvPr id="16" name="Image 4" descr="preencoded.png">    </p:cNvPr>
          <p:cNvPicPr>
            <a:picLocks noChangeAspect="1"/>
          </p:cNvPicPr>
          <p:nvPr/>
        </p:nvPicPr>
        <p:blipFill>
          <a:blip r:embed="rId5"/>
          <a:stretch>
            <a:fillRect/>
          </a:stretch>
        </p:blipFill>
        <p:spPr>
          <a:xfrm>
            <a:off x="566928" y="3584448"/>
            <a:ext cx="237744" cy="237744"/>
          </a:xfrm>
          <a:prstGeom prst="rect">
            <a:avLst/>
          </a:prstGeom>
        </p:spPr>
      </p:pic>
      <p:sp>
        <p:nvSpPr>
          <p:cNvPr id="17" name="Text 10"/>
          <p:cNvSpPr txBox="1"/>
          <p:nvPr/>
        </p:nvSpPr>
        <p:spPr>
          <a:xfrm>
            <a:off x="1078992" y="3429000"/>
            <a:ext cx="3383280" cy="1051560"/>
          </a:xfrm>
          <a:prstGeom prst="rect">
            <a:avLst/>
          </a:prstGeom>
          <a:noFill/>
          <a:ln/>
        </p:spPr>
        <p:txBody>
          <a:bodyPr wrap="square" lIns="0" tIns="0" rIns="0" bIns="0" rtlCol="0" anchor="t"/>
          <a:lstStyle/>
          <a:p>
            <a:pPr indent="0" marL="0">
              <a:buNone/>
            </a:pPr>
            <a:r>
              <a:rPr lang="en-US" sz="1300" b="1" dirty="0">
                <a:solidFill>
                  <a:schemeClr val="tx2"/>
                </a:solidFill>
                <a:latin typeface="Arial" pitchFamily="34" charset="0"/>
                <a:ea typeface="Arial" pitchFamily="34" charset="-122"/>
                <a:cs typeface="Arial" pitchFamily="34" charset="-120"/>
              </a:rPr>
              <a:t>Cibles larges</a:t>
            </a:r>
            <a:endParaRPr lang="en-US" sz="1300" dirty="0"/>
          </a:p>
          <a:p>
            <a:pPr indent="0" marL="0">
              <a:buNone/>
            </a:pPr>
            <a:r>
              <a:rPr lang="en-US" sz="1300" dirty="0">
                <a:solidFill>
                  <a:schemeClr val="tx1"/>
                </a:solidFill>
                <a:latin typeface="Arial" pitchFamily="34" charset="0"/>
                <a:ea typeface="Arial" pitchFamily="34" charset="-122"/>
                <a:cs typeface="Arial" pitchFamily="34" charset="-120"/>
              </a:rPr>
              <a:t>Zones cliquables de 40 px au moins</a:t>
            </a:r>
            <a:endParaRPr lang="en-US" sz="1300" dirty="0"/>
          </a:p>
        </p:txBody>
      </p:sp>
      <p:sp>
        <p:nvSpPr>
          <p:cNvPr id="18" name="badge-FaInfoCircle"/>
          <p:cNvSpPr/>
          <p:nvPr/>
        </p:nvSpPr>
        <p:spPr>
          <a:xfrm>
            <a:off x="4663440" y="3474720"/>
            <a:ext cx="457200" cy="457200"/>
          </a:xfrm>
          <a:prstGeom prst="ellipse">
            <a:avLst/>
          </a:prstGeom>
          <a:solidFill>
            <a:schemeClr val="accent1"/>
          </a:solidFill>
          <a:ln/>
        </p:spPr>
      </p:sp>
      <p:pic>
        <p:nvPicPr>
          <p:cNvPr id="19" name="Image 5" descr="preencoded.png">    </p:cNvPr>
          <p:cNvPicPr>
            <a:picLocks noChangeAspect="1"/>
          </p:cNvPicPr>
          <p:nvPr/>
        </p:nvPicPr>
        <p:blipFill>
          <a:blip r:embed="rId6"/>
          <a:stretch>
            <a:fillRect/>
          </a:stretch>
        </p:blipFill>
        <p:spPr>
          <a:xfrm>
            <a:off x="4773168" y="3584448"/>
            <a:ext cx="237744" cy="237744"/>
          </a:xfrm>
          <a:prstGeom prst="rect">
            <a:avLst/>
          </a:prstGeom>
        </p:spPr>
      </p:pic>
      <p:sp>
        <p:nvSpPr>
          <p:cNvPr id="20" name="Text 12"/>
          <p:cNvSpPr txBox="1"/>
          <p:nvPr/>
        </p:nvSpPr>
        <p:spPr>
          <a:xfrm>
            <a:off x="5285232" y="3429000"/>
            <a:ext cx="3383280" cy="1051560"/>
          </a:xfrm>
          <a:prstGeom prst="rect">
            <a:avLst/>
          </a:prstGeom>
          <a:noFill/>
          <a:ln/>
        </p:spPr>
        <p:txBody>
          <a:bodyPr wrap="square" lIns="0" tIns="0" rIns="0" bIns="0" rtlCol="0" anchor="t"/>
          <a:lstStyle/>
          <a:p>
            <a:pPr indent="0" marL="0">
              <a:buNone/>
            </a:pPr>
            <a:r>
              <a:rPr lang="en-US" sz="1300" b="1" dirty="0">
                <a:solidFill>
                  <a:schemeClr val="tx2"/>
                </a:solidFill>
                <a:latin typeface="Arial" pitchFamily="34" charset="0"/>
                <a:ea typeface="Arial" pitchFamily="34" charset="-122"/>
                <a:cs typeface="Arial" pitchFamily="34" charset="-120"/>
              </a:rPr>
              <a:t>Sens jamais porté par la couleur seule</a:t>
            </a:r>
            <a:endParaRPr lang="en-US" sz="1300" dirty="0"/>
          </a:p>
          <a:p>
            <a:pPr indent="0" marL="0">
              <a:buNone/>
            </a:pPr>
            <a:r>
              <a:rPr lang="en-US" sz="1300" dirty="0">
                <a:solidFill>
                  <a:schemeClr val="tx1"/>
                </a:solidFill>
                <a:latin typeface="Arial" pitchFamily="34" charset="0"/>
                <a:ea typeface="Arial" pitchFamily="34" charset="-122"/>
                <a:cs typeface="Arial" pitchFamily="34" charset="-120"/>
              </a:rPr>
              <a:t>Icônes décoratives masquées, états annoncés (« votre choix »)</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Changer de langue en un geste</a:t>
            </a:r>
            <a:endParaRPr lang="en-US" sz="2400" dirty="0"/>
          </a:p>
        </p:txBody>
      </p:sp>
      <p:sp>
        <p:nvSpPr>
          <p:cNvPr id="3" name="Shape 1"/>
          <p:cNvSpPr/>
          <p:nvPr/>
        </p:nvSpPr>
        <p:spPr>
          <a:xfrm>
            <a:off x="420624" y="969264"/>
            <a:ext cx="2180082" cy="3685032"/>
          </a:xfrm>
          <a:prstGeom prst="roundRect">
            <a:avLst>
              <a:gd name="adj" fmla="val 3355"/>
            </a:avLst>
          </a:prstGeom>
          <a:solidFill>
            <a:schemeClr val="bg1"/>
          </a:solidFill>
          <a:ln w="9525">
            <a:solidFill>
              <a:srgbClr val="DDDDDD"/>
            </a:solidFill>
            <a:prstDash val="solid"/>
          </a:ln>
          <a:effectLst>
            <a:outerShdw sx="100000" sy="100000" kx="0" ky="0" algn="bl" rotWithShape="0" blurRad="101600" dist="25400" dir="5400000">
              <a:srgbClr val="000000">
                <a:alpha val="18000"/>
              </a:srgbClr>
            </a:outerShdw>
          </a:effectLst>
        </p:spPr>
      </p:sp>
      <p:pic>
        <p:nvPicPr>
          <p:cNvPr id="4" name="Image 0" descr="Assistant affiché en anglais">    </p:cNvPr>
          <p:cNvPicPr>
            <a:picLocks noChangeAspect="1"/>
          </p:cNvPicPr>
          <p:nvPr/>
        </p:nvPicPr>
        <p:blipFill>
          <a:blip r:embed="rId1"/>
          <a:stretch>
            <a:fillRect/>
          </a:stretch>
        </p:blipFill>
        <p:spPr>
          <a:xfrm>
            <a:off x="457200" y="1005840"/>
            <a:ext cx="2106930" cy="3611880"/>
          </a:xfrm>
          <a:prstGeom prst="rect">
            <a:avLst/>
          </a:prstGeom>
        </p:spPr>
      </p:pic>
      <p:sp>
        <p:nvSpPr>
          <p:cNvPr id="5" name="badge-FaGlobeEurope"/>
          <p:cNvSpPr/>
          <p:nvPr/>
        </p:nvSpPr>
        <p:spPr>
          <a:xfrm>
            <a:off x="3566160" y="1097280"/>
            <a:ext cx="384048" cy="384048"/>
          </a:xfrm>
          <a:prstGeom prst="ellipse">
            <a:avLst/>
          </a:prstGeom>
          <a:solidFill>
            <a:schemeClr val="accent1"/>
          </a:solidFill>
          <a:ln/>
        </p:spPr>
      </p:sp>
      <p:pic>
        <p:nvPicPr>
          <p:cNvPr id="6" name="Image 1" descr="preencoded.png">    </p:cNvPr>
          <p:cNvPicPr>
            <a:picLocks noChangeAspect="1"/>
          </p:cNvPicPr>
          <p:nvPr/>
        </p:nvPicPr>
        <p:blipFill>
          <a:blip r:embed="rId2"/>
          <a:stretch>
            <a:fillRect/>
          </a:stretch>
        </p:blipFill>
        <p:spPr>
          <a:xfrm>
            <a:off x="3658332" y="1189452"/>
            <a:ext cx="199705" cy="199705"/>
          </a:xfrm>
          <a:prstGeom prst="rect">
            <a:avLst/>
          </a:prstGeom>
        </p:spPr>
      </p:pic>
      <p:sp>
        <p:nvSpPr>
          <p:cNvPr id="7" name="Text 3"/>
          <p:cNvSpPr txBox="1"/>
          <p:nvPr/>
        </p:nvSpPr>
        <p:spPr>
          <a:xfrm>
            <a:off x="4114800" y="1078992"/>
            <a:ext cx="4572000" cy="74066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Sélecteur toujours visible</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Dans la barre de l’assistant, pas caché dans un menu</a:t>
            </a:r>
            <a:endParaRPr lang="en-US" sz="1300" dirty="0"/>
          </a:p>
        </p:txBody>
      </p:sp>
      <p:sp>
        <p:nvSpPr>
          <p:cNvPr id="8" name="badge-FaRobot"/>
          <p:cNvSpPr/>
          <p:nvPr/>
        </p:nvSpPr>
        <p:spPr>
          <a:xfrm>
            <a:off x="3566160" y="1874520"/>
            <a:ext cx="384048" cy="384048"/>
          </a:xfrm>
          <a:prstGeom prst="ellipse">
            <a:avLst/>
          </a:prstGeom>
          <a:solidFill>
            <a:schemeClr val="accent1"/>
          </a:solidFill>
          <a:ln/>
        </p:spPr>
      </p:sp>
      <p:pic>
        <p:nvPicPr>
          <p:cNvPr id="9" name="Image 2" descr="preencoded.png">    </p:cNvPr>
          <p:cNvPicPr>
            <a:picLocks noChangeAspect="1"/>
          </p:cNvPicPr>
          <p:nvPr/>
        </p:nvPicPr>
        <p:blipFill>
          <a:blip r:embed="rId3"/>
          <a:stretch>
            <a:fillRect/>
          </a:stretch>
        </p:blipFill>
        <p:spPr>
          <a:xfrm>
            <a:off x="3658332" y="1966692"/>
            <a:ext cx="199705" cy="199705"/>
          </a:xfrm>
          <a:prstGeom prst="rect">
            <a:avLst/>
          </a:prstGeom>
        </p:spPr>
      </p:pic>
      <p:sp>
        <p:nvSpPr>
          <p:cNvPr id="10" name="Text 5"/>
          <p:cNvSpPr txBox="1"/>
          <p:nvPr/>
        </p:nvSpPr>
        <p:spPr>
          <a:xfrm>
            <a:off x="4114800" y="1856232"/>
            <a:ext cx="4572000" cy="74066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L’agent répond dans la langue choisie</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La langue part au backend avec chaque message</a:t>
            </a:r>
            <a:endParaRPr lang="en-US" sz="1300" dirty="0"/>
          </a:p>
        </p:txBody>
      </p:sp>
      <p:sp>
        <p:nvSpPr>
          <p:cNvPr id="11" name="badge-FaMicrophone"/>
          <p:cNvSpPr/>
          <p:nvPr/>
        </p:nvSpPr>
        <p:spPr>
          <a:xfrm>
            <a:off x="3566160" y="2651760"/>
            <a:ext cx="384048" cy="384048"/>
          </a:xfrm>
          <a:prstGeom prst="ellipse">
            <a:avLst/>
          </a:prstGeom>
          <a:solidFill>
            <a:schemeClr val="accent1"/>
          </a:solidFill>
          <a:ln/>
        </p:spPr>
      </p:sp>
      <p:pic>
        <p:nvPicPr>
          <p:cNvPr id="12" name="Image 3" descr="preencoded.png">    </p:cNvPr>
          <p:cNvPicPr>
            <a:picLocks noChangeAspect="1"/>
          </p:cNvPicPr>
          <p:nvPr/>
        </p:nvPicPr>
        <p:blipFill>
          <a:blip r:embed="rId4"/>
          <a:stretch>
            <a:fillRect/>
          </a:stretch>
        </p:blipFill>
        <p:spPr>
          <a:xfrm>
            <a:off x="3658332" y="2743932"/>
            <a:ext cx="199705" cy="199705"/>
          </a:xfrm>
          <a:prstGeom prst="rect">
            <a:avLst/>
          </a:prstGeom>
        </p:spPr>
      </p:pic>
      <p:sp>
        <p:nvSpPr>
          <p:cNvPr id="13" name="Text 7"/>
          <p:cNvSpPr txBox="1"/>
          <p:nvPr/>
        </p:nvSpPr>
        <p:spPr>
          <a:xfrm>
            <a:off x="4114800" y="2633472"/>
            <a:ext cx="4572000" cy="74066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La voix suit</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Lecture et dictée dans la langue choisie</a:t>
            </a:r>
            <a:endParaRPr lang="en-US" sz="1300" dirty="0"/>
          </a:p>
        </p:txBody>
      </p:sp>
      <p:sp>
        <p:nvSpPr>
          <p:cNvPr id="14" name="badge-FaFlag"/>
          <p:cNvSpPr/>
          <p:nvPr/>
        </p:nvSpPr>
        <p:spPr>
          <a:xfrm>
            <a:off x="3566160" y="3429000"/>
            <a:ext cx="384048" cy="384048"/>
          </a:xfrm>
          <a:prstGeom prst="ellipse">
            <a:avLst/>
          </a:prstGeom>
          <a:solidFill>
            <a:schemeClr val="accent1"/>
          </a:solidFill>
          <a:ln/>
        </p:spPr>
      </p:sp>
      <p:pic>
        <p:nvPicPr>
          <p:cNvPr id="15" name="Image 4" descr="preencoded.png">    </p:cNvPr>
          <p:cNvPicPr>
            <a:picLocks noChangeAspect="1"/>
          </p:cNvPicPr>
          <p:nvPr/>
        </p:nvPicPr>
        <p:blipFill>
          <a:blip r:embed="rId5"/>
          <a:stretch>
            <a:fillRect/>
          </a:stretch>
        </p:blipFill>
        <p:spPr>
          <a:xfrm>
            <a:off x="3658332" y="3521172"/>
            <a:ext cx="199705" cy="199705"/>
          </a:xfrm>
          <a:prstGeom prst="rect">
            <a:avLst/>
          </a:prstGeom>
        </p:spPr>
      </p:pic>
      <p:sp>
        <p:nvSpPr>
          <p:cNvPr id="16" name="Text 9"/>
          <p:cNvSpPr txBox="1"/>
          <p:nvPr/>
        </p:nvSpPr>
        <p:spPr>
          <a:xfrm>
            <a:off x="4114800" y="3410712"/>
            <a:ext cx="4572000" cy="74066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Déjà prêt pour d’autres langues</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Ajouter une langue = ajouter un fichier de textes</a:t>
            </a:r>
            <a:endParaRPr lang="en-US" sz="1300" dirty="0"/>
          </a:p>
        </p:txBody>
      </p:sp>
      <p:sp>
        <p:nvSpPr>
          <p:cNvPr id="17" name="Text 10"/>
          <p:cNvSpPr txBox="1"/>
          <p:nvPr/>
        </p:nvSpPr>
        <p:spPr>
          <a:xfrm>
            <a:off x="3566160" y="4251960"/>
            <a:ext cx="5120640" cy="365760"/>
          </a:xfrm>
          <a:prstGeom prst="rect">
            <a:avLst/>
          </a:prstGeom>
          <a:noFill/>
          <a:ln/>
        </p:spPr>
        <p:txBody>
          <a:bodyPr wrap="square" lIns="0" tIns="0" rIns="0" bIns="0" rtlCol="0" anchor="t"/>
          <a:lstStyle/>
          <a:p>
            <a:pPr indent="0" marL="0">
              <a:buNone/>
            </a:pPr>
            <a:r>
              <a:rPr lang="en-US" sz="1100" i="1" dirty="0">
                <a:solidFill>
                  <a:schemeClr val="accent6"/>
                </a:solidFill>
                <a:latin typeface="Arial" pitchFamily="34" charset="0"/>
                <a:ea typeface="Arial" pitchFamily="34" charset="-122"/>
                <a:cs typeface="Arial" pitchFamily="34" charset="-120"/>
              </a:rPr>
              <a:t>Limite de la maquette : les parcours scriptés restent en français, un message le signale.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046720" cy="457200"/>
          </a:xfrm>
          <a:prstGeom prst="rect">
            <a:avLst/>
          </a:prstGeom>
          <a:noFill/>
          <a:ln/>
        </p:spPr>
        <p:txBody>
          <a:bodyPr wrap="square" rtlCol="0"/>
          <a:lstStyle/>
          <a:p>
            <a:pPr indent="0" marL="0">
              <a:buNone/>
            </a:pPr>
            <a:r>
              <a:rPr lang="en-US" sz="1600" b="1" dirty="0">
                <a:solidFill>
                  <a:schemeClr val="bg1"/>
                </a:solidFill>
              </a:rPr>
              <a:t>03</a:t>
            </a:r>
            <a:endParaRPr lang="en-US" sz="1600" dirty="0"/>
          </a:p>
        </p:txBody>
      </p:sp>
      <p:sp>
        <p:nvSpPr>
          <p:cNvPr id="3" name="Text 0"/>
          <p:cNvSpPr/>
          <p:nvPr>
            <p:ph idx="101" type="title" hasCustomPrompt="1"/>
          </p:nvPr>
        </p:nvSpPr>
        <p:spPr>
          <a:xfrm>
            <a:off x="548640" y="1874520"/>
            <a:ext cx="8046720" cy="1097280"/>
          </a:xfrm>
          <a:prstGeom prst="rect">
            <a:avLst/>
          </a:prstGeom>
          <a:noFill/>
          <a:ln/>
        </p:spPr>
        <p:txBody>
          <a:bodyPr wrap="square" rtlCol="0" anchor="t"/>
          <a:lstStyle/>
          <a:p>
            <a:pPr algn="l" indent="0" marL="0">
              <a:buNone/>
            </a:pPr>
            <a:r>
              <a:rPr lang="en-US" sz="3600" b="1" dirty="0">
                <a:solidFill>
                  <a:schemeClr val="bg1"/>
                </a:solidFill>
              </a:rPr>
              <a:t>Confiance et relais humain</a:t>
            </a:r>
            <a:endParaRPr lang="en-US" sz="3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Un assistant honnête sur ses limites</a:t>
            </a:r>
            <a:endParaRPr lang="en-US" sz="2400" dirty="0"/>
          </a:p>
        </p:txBody>
      </p:sp>
      <p:sp>
        <p:nvSpPr>
          <p:cNvPr id="3" name="Shape 1"/>
          <p:cNvSpPr/>
          <p:nvPr/>
        </p:nvSpPr>
        <p:spPr>
          <a:xfrm>
            <a:off x="457200" y="1051560"/>
            <a:ext cx="2606040" cy="1645920"/>
          </a:xfrm>
          <a:prstGeom prst="roundRect">
            <a:avLst>
              <a:gd name="adj" fmla="val 5556"/>
            </a:avLst>
          </a:prstGeom>
          <a:solidFill>
            <a:schemeClr val="bg2"/>
          </a:solidFill>
          <a:ln/>
        </p:spPr>
      </p:sp>
      <p:sp>
        <p:nvSpPr>
          <p:cNvPr id="4" name="badge-FaExclamationTriangle"/>
          <p:cNvSpPr/>
          <p:nvPr/>
        </p:nvSpPr>
        <p:spPr>
          <a:xfrm>
            <a:off x="685800" y="1280160"/>
            <a:ext cx="457200" cy="457200"/>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795528" y="1389888"/>
            <a:ext cx="237744" cy="237744"/>
          </a:xfrm>
          <a:prstGeom prst="rect">
            <a:avLst/>
          </a:prstGeom>
        </p:spPr>
      </p:pic>
      <p:sp>
        <p:nvSpPr>
          <p:cNvPr id="6" name="Text 3"/>
          <p:cNvSpPr txBox="1"/>
          <p:nvPr/>
        </p:nvSpPr>
        <p:spPr>
          <a:xfrm>
            <a:off x="685800" y="1828800"/>
            <a:ext cx="2194560" cy="320040"/>
          </a:xfrm>
          <a:prstGeom prst="rect">
            <a:avLst/>
          </a:prstGeom>
          <a:noFill/>
          <a:ln/>
        </p:spPr>
        <p:txBody>
          <a:bodyPr wrap="square" lIns="0" tIns="0" rIns="0" bIns="0" rtlCol="0" anchor="t"/>
          <a:lstStyle/>
          <a:p>
            <a:pPr indent="0" marL="0">
              <a:buNone/>
            </a:pPr>
            <a:r>
              <a:rPr lang="en-US" sz="1400" b="1" dirty="0">
                <a:solidFill>
                  <a:schemeClr val="tx2"/>
                </a:solidFill>
                <a:latin typeface="Arial" pitchFamily="34" charset="0"/>
                <a:ea typeface="Arial" pitchFamily="34" charset="-122"/>
                <a:cs typeface="Arial" pitchFamily="34" charset="-120"/>
              </a:rPr>
              <a:t>L’IA peut se tromper</a:t>
            </a:r>
            <a:endParaRPr lang="en-US" sz="1400" dirty="0"/>
          </a:p>
        </p:txBody>
      </p:sp>
      <p:sp>
        <p:nvSpPr>
          <p:cNvPr id="7" name="Text 4"/>
          <p:cNvSpPr txBox="1"/>
          <p:nvPr/>
        </p:nvSpPr>
        <p:spPr>
          <a:xfrm>
            <a:off x="685800" y="2148840"/>
            <a:ext cx="2194560" cy="502920"/>
          </a:xfrm>
          <a:prstGeom prst="rect">
            <a:avLst/>
          </a:prstGeom>
          <a:noFill/>
          <a:ln/>
        </p:spPr>
        <p:txBody>
          <a:bodyPr wrap="square" lIns="0" tIns="0" rIns="0" bIns="0" rtlCol="0" anchor="t"/>
          <a:lstStyle/>
          <a:p>
            <a:pPr indent="0" marL="0">
              <a:buNone/>
            </a:pPr>
            <a:r>
              <a:rPr lang="en-US" sz="1150" dirty="0">
                <a:solidFill>
                  <a:schemeClr val="tx1"/>
                </a:solidFill>
                <a:latin typeface="Arial" pitchFamily="34" charset="0"/>
                <a:ea typeface="Arial" pitchFamily="34" charset="-122"/>
                <a:cs typeface="Arial" pitchFamily="34" charset="-120"/>
              </a:rPr>
              <a:t>Dit dès l’accueil et rappelé en bas du chat</a:t>
            </a:r>
            <a:endParaRPr lang="en-US" sz="1150" dirty="0"/>
          </a:p>
        </p:txBody>
      </p:sp>
      <p:sp>
        <p:nvSpPr>
          <p:cNvPr id="8" name="Shape 5"/>
          <p:cNvSpPr/>
          <p:nvPr/>
        </p:nvSpPr>
        <p:spPr>
          <a:xfrm>
            <a:off x="3246120" y="1051560"/>
            <a:ext cx="2606040" cy="1645920"/>
          </a:xfrm>
          <a:prstGeom prst="roundRect">
            <a:avLst>
              <a:gd name="adj" fmla="val 5556"/>
            </a:avLst>
          </a:prstGeom>
          <a:solidFill>
            <a:schemeClr val="bg2"/>
          </a:solidFill>
          <a:ln/>
        </p:spPr>
      </p:sp>
      <p:sp>
        <p:nvSpPr>
          <p:cNvPr id="9" name="badge-FaTags"/>
          <p:cNvSpPr/>
          <p:nvPr/>
        </p:nvSpPr>
        <p:spPr>
          <a:xfrm>
            <a:off x="3474720" y="1280160"/>
            <a:ext cx="457200" cy="457200"/>
          </a:xfrm>
          <a:prstGeom prst="ellipse">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3584448" y="1389888"/>
            <a:ext cx="237744" cy="237744"/>
          </a:xfrm>
          <a:prstGeom prst="rect">
            <a:avLst/>
          </a:prstGeom>
        </p:spPr>
      </p:pic>
      <p:sp>
        <p:nvSpPr>
          <p:cNvPr id="11" name="Text 7"/>
          <p:cNvSpPr txBox="1"/>
          <p:nvPr/>
        </p:nvSpPr>
        <p:spPr>
          <a:xfrm>
            <a:off x="3474720" y="1828800"/>
            <a:ext cx="2194560" cy="320040"/>
          </a:xfrm>
          <a:prstGeom prst="rect">
            <a:avLst/>
          </a:prstGeom>
          <a:noFill/>
          <a:ln/>
        </p:spPr>
        <p:txBody>
          <a:bodyPr wrap="square" lIns="0" tIns="0" rIns="0" bIns="0" rtlCol="0" anchor="t"/>
          <a:lstStyle/>
          <a:p>
            <a:pPr indent="0" marL="0">
              <a:buNone/>
            </a:pPr>
            <a:r>
              <a:rPr lang="en-US" sz="1400" b="1" dirty="0">
                <a:solidFill>
                  <a:schemeClr val="tx2"/>
                </a:solidFill>
                <a:latin typeface="Arial" pitchFamily="34" charset="0"/>
                <a:ea typeface="Arial" pitchFamily="34" charset="-122"/>
                <a:cs typeface="Arial" pitchFamily="34" charset="-120"/>
              </a:rPr>
              <a:t>Sources étiquetées</a:t>
            </a:r>
            <a:endParaRPr lang="en-US" sz="1400" dirty="0"/>
          </a:p>
        </p:txBody>
      </p:sp>
      <p:sp>
        <p:nvSpPr>
          <p:cNvPr id="12" name="Text 8"/>
          <p:cNvSpPr txBox="1"/>
          <p:nvPr/>
        </p:nvSpPr>
        <p:spPr>
          <a:xfrm>
            <a:off x="3474720" y="2148840"/>
            <a:ext cx="2194560" cy="502920"/>
          </a:xfrm>
          <a:prstGeom prst="rect">
            <a:avLst/>
          </a:prstGeom>
          <a:noFill/>
          <a:ln/>
        </p:spPr>
        <p:txBody>
          <a:bodyPr wrap="square" lIns="0" tIns="0" rIns="0" bIns="0" rtlCol="0" anchor="t"/>
          <a:lstStyle/>
          <a:p>
            <a:pPr indent="0" marL="0">
              <a:buNone/>
            </a:pPr>
            <a:r>
              <a:rPr lang="en-US" sz="1150" dirty="0">
                <a:solidFill>
                  <a:schemeClr val="tx1"/>
                </a:solidFill>
                <a:latin typeface="Arial" pitchFamily="34" charset="0"/>
                <a:ea typeface="Arial" pitchFamily="34" charset="-122"/>
                <a:cs typeface="Arial" pitchFamily="34" charset="-120"/>
              </a:rPr>
              <a:t>Constat, hypothèse ou exemple : on sait d’où vient l’info</a:t>
            </a:r>
            <a:endParaRPr lang="en-US" sz="1150" dirty="0"/>
          </a:p>
        </p:txBody>
      </p:sp>
      <p:sp>
        <p:nvSpPr>
          <p:cNvPr id="13" name="Shape 9"/>
          <p:cNvSpPr/>
          <p:nvPr/>
        </p:nvSpPr>
        <p:spPr>
          <a:xfrm>
            <a:off x="6035040" y="1051560"/>
            <a:ext cx="2606040" cy="1645920"/>
          </a:xfrm>
          <a:prstGeom prst="roundRect">
            <a:avLst>
              <a:gd name="adj" fmla="val 5556"/>
            </a:avLst>
          </a:prstGeom>
          <a:solidFill>
            <a:schemeClr val="bg2"/>
          </a:solidFill>
          <a:ln/>
        </p:spPr>
      </p:sp>
      <p:sp>
        <p:nvSpPr>
          <p:cNvPr id="14" name="badge-FaMask"/>
          <p:cNvSpPr/>
          <p:nvPr/>
        </p:nvSpPr>
        <p:spPr>
          <a:xfrm>
            <a:off x="6263640" y="1280160"/>
            <a:ext cx="457200" cy="457200"/>
          </a:xfrm>
          <a:prstGeom prst="ellipse">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6373368" y="1389888"/>
            <a:ext cx="237744" cy="237744"/>
          </a:xfrm>
          <a:prstGeom prst="rect">
            <a:avLst/>
          </a:prstGeom>
        </p:spPr>
      </p:pic>
      <p:sp>
        <p:nvSpPr>
          <p:cNvPr id="16" name="Text 11"/>
          <p:cNvSpPr txBox="1"/>
          <p:nvPr/>
        </p:nvSpPr>
        <p:spPr>
          <a:xfrm>
            <a:off x="6263640" y="1828800"/>
            <a:ext cx="2194560" cy="320040"/>
          </a:xfrm>
          <a:prstGeom prst="rect">
            <a:avLst/>
          </a:prstGeom>
          <a:noFill/>
          <a:ln/>
        </p:spPr>
        <p:txBody>
          <a:bodyPr wrap="square" lIns="0" tIns="0" rIns="0" bIns="0" rtlCol="0" anchor="t"/>
          <a:lstStyle/>
          <a:p>
            <a:pPr indent="0" marL="0">
              <a:buNone/>
            </a:pPr>
            <a:r>
              <a:rPr lang="en-US" sz="1400" b="1" dirty="0">
                <a:solidFill>
                  <a:schemeClr val="tx2"/>
                </a:solidFill>
                <a:latin typeface="Arial" pitchFamily="34" charset="0"/>
                <a:ea typeface="Arial" pitchFamily="34" charset="-122"/>
                <a:cs typeface="Arial" pitchFamily="34" charset="-120"/>
              </a:rPr>
              <a:t>Données masquées</a:t>
            </a:r>
            <a:endParaRPr lang="en-US" sz="1400" dirty="0"/>
          </a:p>
        </p:txBody>
      </p:sp>
      <p:sp>
        <p:nvSpPr>
          <p:cNvPr id="17" name="Text 12"/>
          <p:cNvSpPr txBox="1"/>
          <p:nvPr/>
        </p:nvSpPr>
        <p:spPr>
          <a:xfrm>
            <a:off x="6263640" y="2148840"/>
            <a:ext cx="2194560" cy="502920"/>
          </a:xfrm>
          <a:prstGeom prst="rect">
            <a:avLst/>
          </a:prstGeom>
          <a:noFill/>
          <a:ln/>
        </p:spPr>
        <p:txBody>
          <a:bodyPr wrap="square" lIns="0" tIns="0" rIns="0" bIns="0" rtlCol="0" anchor="t"/>
          <a:lstStyle/>
          <a:p>
            <a:pPr indent="0" marL="0">
              <a:buNone/>
            </a:pPr>
            <a:r>
              <a:rPr lang="en-US" sz="1150" dirty="0">
                <a:solidFill>
                  <a:schemeClr val="tx1"/>
                </a:solidFill>
                <a:latin typeface="Arial" pitchFamily="34" charset="0"/>
                <a:ea typeface="Arial" pitchFamily="34" charset="-122"/>
                <a:cs typeface="Arial" pitchFamily="34" charset="-120"/>
              </a:rPr>
              <a:t>Code, mot de passe, carte ou IBAN masqués avant l’envoi</a:t>
            </a:r>
            <a:endParaRPr lang="en-US" sz="1150" dirty="0"/>
          </a:p>
        </p:txBody>
      </p:sp>
      <p:sp>
        <p:nvSpPr>
          <p:cNvPr id="18" name="Shape 13"/>
          <p:cNvSpPr/>
          <p:nvPr/>
        </p:nvSpPr>
        <p:spPr>
          <a:xfrm>
            <a:off x="457200" y="2834640"/>
            <a:ext cx="2606040" cy="1645920"/>
          </a:xfrm>
          <a:prstGeom prst="roundRect">
            <a:avLst>
              <a:gd name="adj" fmla="val 5556"/>
            </a:avLst>
          </a:prstGeom>
          <a:solidFill>
            <a:schemeClr val="bg2"/>
          </a:solidFill>
          <a:ln/>
        </p:spPr>
      </p:sp>
      <p:sp>
        <p:nvSpPr>
          <p:cNvPr id="19" name="badge-FaMousePointer"/>
          <p:cNvSpPr/>
          <p:nvPr/>
        </p:nvSpPr>
        <p:spPr>
          <a:xfrm>
            <a:off x="685800" y="3063240"/>
            <a:ext cx="457200" cy="457200"/>
          </a:xfrm>
          <a:prstGeom prst="ellipse">
            <a:avLst/>
          </a:prstGeom>
          <a:solidFill>
            <a:schemeClr val="accent1"/>
          </a:solidFill>
          <a:ln/>
        </p:spPr>
      </p:sp>
      <p:pic>
        <p:nvPicPr>
          <p:cNvPr id="20" name="Image 3" descr="preencoded.png">    </p:cNvPr>
          <p:cNvPicPr>
            <a:picLocks noChangeAspect="1"/>
          </p:cNvPicPr>
          <p:nvPr/>
        </p:nvPicPr>
        <p:blipFill>
          <a:blip r:embed="rId4"/>
          <a:stretch>
            <a:fillRect/>
          </a:stretch>
        </p:blipFill>
        <p:spPr>
          <a:xfrm>
            <a:off x="795528" y="3172968"/>
            <a:ext cx="237744" cy="237744"/>
          </a:xfrm>
          <a:prstGeom prst="rect">
            <a:avLst/>
          </a:prstGeom>
        </p:spPr>
      </p:pic>
      <p:sp>
        <p:nvSpPr>
          <p:cNvPr id="21" name="Text 15"/>
          <p:cNvSpPr txBox="1"/>
          <p:nvPr/>
        </p:nvSpPr>
        <p:spPr>
          <a:xfrm>
            <a:off x="685800" y="3611880"/>
            <a:ext cx="2194560" cy="320040"/>
          </a:xfrm>
          <a:prstGeom prst="rect">
            <a:avLst/>
          </a:prstGeom>
          <a:noFill/>
          <a:ln/>
        </p:spPr>
        <p:txBody>
          <a:bodyPr wrap="square" lIns="0" tIns="0" rIns="0" bIns="0" rtlCol="0" anchor="t"/>
          <a:lstStyle/>
          <a:p>
            <a:pPr indent="0" marL="0">
              <a:buNone/>
            </a:pPr>
            <a:r>
              <a:rPr lang="en-US" sz="1400" b="1" dirty="0">
                <a:solidFill>
                  <a:schemeClr val="tx2"/>
                </a:solidFill>
                <a:latin typeface="Arial" pitchFamily="34" charset="0"/>
                <a:ea typeface="Arial" pitchFamily="34" charset="-122"/>
                <a:cs typeface="Arial" pitchFamily="34" charset="-120"/>
              </a:rPr>
              <a:t>Rien sans votre clic</a:t>
            </a:r>
            <a:endParaRPr lang="en-US" sz="1400" dirty="0"/>
          </a:p>
        </p:txBody>
      </p:sp>
      <p:sp>
        <p:nvSpPr>
          <p:cNvPr id="22" name="Text 16"/>
          <p:cNvSpPr txBox="1"/>
          <p:nvPr/>
        </p:nvSpPr>
        <p:spPr>
          <a:xfrm>
            <a:off x="685800" y="3931920"/>
            <a:ext cx="2194560" cy="502920"/>
          </a:xfrm>
          <a:prstGeom prst="rect">
            <a:avLst/>
          </a:prstGeom>
          <a:noFill/>
          <a:ln/>
        </p:spPr>
        <p:txBody>
          <a:bodyPr wrap="square" lIns="0" tIns="0" rIns="0" bIns="0" rtlCol="0" anchor="t"/>
          <a:lstStyle/>
          <a:p>
            <a:pPr indent="0" marL="0">
              <a:buNone/>
            </a:pPr>
            <a:r>
              <a:rPr lang="en-US" sz="1150" dirty="0">
                <a:solidFill>
                  <a:schemeClr val="tx1"/>
                </a:solidFill>
                <a:latin typeface="Arial" pitchFamily="34" charset="0"/>
                <a:ea typeface="Arial" pitchFamily="34" charset="-122"/>
                <a:cs typeface="Arial" pitchFamily="34" charset="-120"/>
              </a:rPr>
              <a:t>Chaque action passe par une carte de confirmation</a:t>
            </a:r>
            <a:endParaRPr lang="en-US" sz="1150" dirty="0"/>
          </a:p>
        </p:txBody>
      </p:sp>
      <p:sp>
        <p:nvSpPr>
          <p:cNvPr id="23" name="Shape 17"/>
          <p:cNvSpPr/>
          <p:nvPr/>
        </p:nvSpPr>
        <p:spPr>
          <a:xfrm>
            <a:off x="3246120" y="2834640"/>
            <a:ext cx="2606040" cy="1645920"/>
          </a:xfrm>
          <a:prstGeom prst="roundRect">
            <a:avLst>
              <a:gd name="adj" fmla="val 5556"/>
            </a:avLst>
          </a:prstGeom>
          <a:solidFill>
            <a:schemeClr val="bg2"/>
          </a:solidFill>
          <a:ln/>
        </p:spPr>
      </p:sp>
      <p:sp>
        <p:nvSpPr>
          <p:cNvPr id="24" name="badge-FaUserShield"/>
          <p:cNvSpPr/>
          <p:nvPr/>
        </p:nvSpPr>
        <p:spPr>
          <a:xfrm>
            <a:off x="3474720" y="3063240"/>
            <a:ext cx="457200" cy="45720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3584448" y="3172968"/>
            <a:ext cx="237744" cy="237744"/>
          </a:xfrm>
          <a:prstGeom prst="rect">
            <a:avLst/>
          </a:prstGeom>
        </p:spPr>
      </p:pic>
      <p:sp>
        <p:nvSpPr>
          <p:cNvPr id="26" name="Text 19"/>
          <p:cNvSpPr txBox="1"/>
          <p:nvPr/>
        </p:nvSpPr>
        <p:spPr>
          <a:xfrm>
            <a:off x="3474720" y="3611880"/>
            <a:ext cx="2194560" cy="320040"/>
          </a:xfrm>
          <a:prstGeom prst="rect">
            <a:avLst/>
          </a:prstGeom>
          <a:noFill/>
          <a:ln/>
        </p:spPr>
        <p:txBody>
          <a:bodyPr wrap="square" lIns="0" tIns="0" rIns="0" bIns="0" rtlCol="0" anchor="t"/>
          <a:lstStyle/>
          <a:p>
            <a:pPr indent="0" marL="0">
              <a:buNone/>
            </a:pPr>
            <a:r>
              <a:rPr lang="en-US" sz="1400" b="1" dirty="0">
                <a:solidFill>
                  <a:schemeClr val="tx2"/>
                </a:solidFill>
                <a:latin typeface="Arial" pitchFamily="34" charset="0"/>
                <a:ea typeface="Arial" pitchFamily="34" charset="-122"/>
                <a:cs typeface="Arial" pitchFamily="34" charset="-120"/>
              </a:rPr>
              <a:t>Vos données</a:t>
            </a:r>
            <a:endParaRPr lang="en-US" sz="1400" dirty="0"/>
          </a:p>
        </p:txBody>
      </p:sp>
      <p:sp>
        <p:nvSpPr>
          <p:cNvPr id="27" name="Text 20"/>
          <p:cNvSpPr txBox="1"/>
          <p:nvPr/>
        </p:nvSpPr>
        <p:spPr>
          <a:xfrm>
            <a:off x="3474720" y="3931920"/>
            <a:ext cx="2194560" cy="502920"/>
          </a:xfrm>
          <a:prstGeom prst="rect">
            <a:avLst/>
          </a:prstGeom>
          <a:noFill/>
          <a:ln/>
        </p:spPr>
        <p:txBody>
          <a:bodyPr wrap="square" lIns="0" tIns="0" rIns="0" bIns="0" rtlCol="0" anchor="t"/>
          <a:lstStyle/>
          <a:p>
            <a:pPr indent="0" marL="0">
              <a:buNone/>
            </a:pPr>
            <a:r>
              <a:rPr lang="en-US" sz="1150" dirty="0">
                <a:solidFill>
                  <a:schemeClr val="tx1"/>
                </a:solidFill>
                <a:latin typeface="Arial" pitchFamily="34" charset="0"/>
                <a:ea typeface="Arial" pitchFamily="34" charset="-122"/>
                <a:cs typeface="Arial" pitchFamily="34" charset="-120"/>
              </a:rPr>
              <a:t>Ce qui est gardé, pourquoi, combien de temps ; effacement en un clic</a:t>
            </a:r>
            <a:endParaRPr lang="en-US" sz="1150" dirty="0"/>
          </a:p>
        </p:txBody>
      </p:sp>
      <p:sp>
        <p:nvSpPr>
          <p:cNvPr id="28" name="Shape 21"/>
          <p:cNvSpPr/>
          <p:nvPr/>
        </p:nvSpPr>
        <p:spPr>
          <a:xfrm>
            <a:off x="6035040" y="2834640"/>
            <a:ext cx="2606040" cy="1645920"/>
          </a:xfrm>
          <a:prstGeom prst="roundRect">
            <a:avLst>
              <a:gd name="adj" fmla="val 5556"/>
            </a:avLst>
          </a:prstGeom>
          <a:solidFill>
            <a:schemeClr val="bg2"/>
          </a:solidFill>
          <a:ln/>
        </p:spPr>
      </p:sp>
      <p:sp>
        <p:nvSpPr>
          <p:cNvPr id="29" name="badge-FaIdCard"/>
          <p:cNvSpPr/>
          <p:nvPr/>
        </p:nvSpPr>
        <p:spPr>
          <a:xfrm>
            <a:off x="6263640" y="3063240"/>
            <a:ext cx="457200" cy="457200"/>
          </a:xfrm>
          <a:prstGeom prst="ellipse">
            <a:avLst/>
          </a:prstGeom>
          <a:solidFill>
            <a:schemeClr val="accent1"/>
          </a:solidFill>
          <a:ln/>
        </p:spPr>
      </p:sp>
      <p:pic>
        <p:nvPicPr>
          <p:cNvPr id="30" name="Image 5" descr="preencoded.png">    </p:cNvPr>
          <p:cNvPicPr>
            <a:picLocks noChangeAspect="1"/>
          </p:cNvPicPr>
          <p:nvPr/>
        </p:nvPicPr>
        <p:blipFill>
          <a:blip r:embed="rId6"/>
          <a:stretch>
            <a:fillRect/>
          </a:stretch>
        </p:blipFill>
        <p:spPr>
          <a:xfrm>
            <a:off x="6373368" y="3172968"/>
            <a:ext cx="237744" cy="237744"/>
          </a:xfrm>
          <a:prstGeom prst="rect">
            <a:avLst/>
          </a:prstGeom>
        </p:spPr>
      </p:pic>
      <p:sp>
        <p:nvSpPr>
          <p:cNvPr id="31" name="Text 23"/>
          <p:cNvSpPr txBox="1"/>
          <p:nvPr/>
        </p:nvSpPr>
        <p:spPr>
          <a:xfrm>
            <a:off x="6263640" y="3611880"/>
            <a:ext cx="2194560" cy="320040"/>
          </a:xfrm>
          <a:prstGeom prst="rect">
            <a:avLst/>
          </a:prstGeom>
          <a:noFill/>
          <a:ln/>
        </p:spPr>
        <p:txBody>
          <a:bodyPr wrap="square" lIns="0" tIns="0" rIns="0" bIns="0" rtlCol="0" anchor="t"/>
          <a:lstStyle/>
          <a:p>
            <a:pPr indent="0" marL="0">
              <a:buNone/>
            </a:pPr>
            <a:r>
              <a:rPr lang="en-US" sz="1400" b="1" dirty="0">
                <a:solidFill>
                  <a:schemeClr val="tx2"/>
                </a:solidFill>
                <a:latin typeface="Arial" pitchFamily="34" charset="0"/>
                <a:ea typeface="Arial" pitchFamily="34" charset="-122"/>
                <a:cs typeface="Arial" pitchFamily="34" charset="-120"/>
              </a:rPr>
              <a:t>Identité côté serveur</a:t>
            </a:r>
            <a:endParaRPr lang="en-US" sz="1400" dirty="0"/>
          </a:p>
        </p:txBody>
      </p:sp>
      <p:sp>
        <p:nvSpPr>
          <p:cNvPr id="32" name="Text 24"/>
          <p:cNvSpPr txBox="1"/>
          <p:nvPr/>
        </p:nvSpPr>
        <p:spPr>
          <a:xfrm>
            <a:off x="6263640" y="3931920"/>
            <a:ext cx="2194560" cy="502920"/>
          </a:xfrm>
          <a:prstGeom prst="rect">
            <a:avLst/>
          </a:prstGeom>
          <a:noFill/>
          <a:ln/>
        </p:spPr>
        <p:txBody>
          <a:bodyPr wrap="square" lIns="0" tIns="0" rIns="0" bIns="0" rtlCol="0" anchor="t"/>
          <a:lstStyle/>
          <a:p>
            <a:pPr indent="0" marL="0">
              <a:buNone/>
            </a:pPr>
            <a:r>
              <a:rPr lang="en-US" sz="1150" dirty="0">
                <a:solidFill>
                  <a:schemeClr val="tx1"/>
                </a:solidFill>
                <a:latin typeface="Arial" pitchFamily="34" charset="0"/>
                <a:ea typeface="Arial" pitchFamily="34" charset="-122"/>
                <a:cs typeface="Arial" pitchFamily="34" charset="-120"/>
              </a:rPr>
              <a:t>Le modèle ne décide jamais qui est le client</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Un conseiller, joignable à tout moment</a:t>
            </a:r>
            <a:endParaRPr lang="en-US" sz="2400" dirty="0"/>
          </a:p>
        </p:txBody>
      </p:sp>
      <p:sp>
        <p:nvSpPr>
          <p:cNvPr id="3" name="Shape 1"/>
          <p:cNvSpPr/>
          <p:nvPr/>
        </p:nvSpPr>
        <p:spPr>
          <a:xfrm>
            <a:off x="6543294" y="969264"/>
            <a:ext cx="2180082" cy="3685032"/>
          </a:xfrm>
          <a:prstGeom prst="roundRect">
            <a:avLst>
              <a:gd name="adj" fmla="val 3355"/>
            </a:avLst>
          </a:prstGeom>
          <a:solidFill>
            <a:schemeClr val="bg1"/>
          </a:solidFill>
          <a:ln w="9525">
            <a:solidFill>
              <a:srgbClr val="DDDDDD"/>
            </a:solidFill>
            <a:prstDash val="solid"/>
          </a:ln>
          <a:effectLst>
            <a:outerShdw sx="100000" sy="100000" kx="0" ky="0" algn="bl" rotWithShape="0" blurRad="101600" dist="25400" dir="5400000">
              <a:srgbClr val="000000">
                <a:alpha val="18000"/>
              </a:srgbClr>
            </a:outerShdw>
          </a:effectLst>
        </p:spPr>
      </p:sp>
      <p:pic>
        <p:nvPicPr>
          <p:cNvPr id="4" name="Image 0" descr="Carte de demande de rendez-vous : canaux et besoin particulier">    </p:cNvPr>
          <p:cNvPicPr>
            <a:picLocks noChangeAspect="1"/>
          </p:cNvPicPr>
          <p:nvPr/>
        </p:nvPicPr>
        <p:blipFill>
          <a:blip r:embed="rId1"/>
          <a:stretch>
            <a:fillRect/>
          </a:stretch>
        </p:blipFill>
        <p:spPr>
          <a:xfrm>
            <a:off x="6579870" y="1005840"/>
            <a:ext cx="2106930" cy="3611880"/>
          </a:xfrm>
          <a:prstGeom prst="rect">
            <a:avLst/>
          </a:prstGeom>
        </p:spPr>
      </p:pic>
      <p:sp>
        <p:nvSpPr>
          <p:cNvPr id="5" name="Text 2"/>
          <p:cNvSpPr txBox="1"/>
          <p:nvPr/>
        </p:nvSpPr>
        <p:spPr>
          <a:xfrm>
            <a:off x="457200" y="1051560"/>
            <a:ext cx="4937760" cy="32004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Quand l’assistant passe la main</a:t>
            </a:r>
            <a:endParaRPr lang="en-US" sz="1500" dirty="0"/>
          </a:p>
        </p:txBody>
      </p:sp>
      <p:sp>
        <p:nvSpPr>
          <p:cNvPr id="6" name="badge-FaHeadset"/>
          <p:cNvSpPr/>
          <p:nvPr/>
        </p:nvSpPr>
        <p:spPr>
          <a:xfrm>
            <a:off x="457200" y="1463040"/>
            <a:ext cx="365760" cy="36576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544982" y="1550822"/>
            <a:ext cx="190195" cy="190195"/>
          </a:xfrm>
          <a:prstGeom prst="rect">
            <a:avLst/>
          </a:prstGeom>
        </p:spPr>
      </p:pic>
      <p:sp>
        <p:nvSpPr>
          <p:cNvPr id="8" name="Text 4"/>
          <p:cNvSpPr txBox="1"/>
          <p:nvPr/>
        </p:nvSpPr>
        <p:spPr>
          <a:xfrm>
            <a:off x="987552" y="1444752"/>
            <a:ext cx="4407408" cy="585216"/>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Bouton « Conseiller » permanent</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Dans l’en-tête, à chaque instant</a:t>
            </a:r>
            <a:endParaRPr lang="en-US" sz="1300" dirty="0"/>
          </a:p>
        </p:txBody>
      </p:sp>
      <p:sp>
        <p:nvSpPr>
          <p:cNvPr id="9" name="badge-FaQuestion"/>
          <p:cNvSpPr/>
          <p:nvPr/>
        </p:nvSpPr>
        <p:spPr>
          <a:xfrm>
            <a:off x="457200" y="2084832"/>
            <a:ext cx="365760" cy="36576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544982" y="2172614"/>
            <a:ext cx="190195" cy="190195"/>
          </a:xfrm>
          <a:prstGeom prst="rect">
            <a:avLst/>
          </a:prstGeom>
        </p:spPr>
      </p:pic>
      <p:sp>
        <p:nvSpPr>
          <p:cNvPr id="11" name="Text 6"/>
          <p:cNvSpPr txBox="1"/>
          <p:nvPr/>
        </p:nvSpPr>
        <p:spPr>
          <a:xfrm>
            <a:off x="987552" y="2066544"/>
            <a:ext cx="4407408" cy="585216"/>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Après 2 incompréhensions</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L’assistant n’insiste pas, il propose un humain</a:t>
            </a:r>
            <a:endParaRPr lang="en-US" sz="1300" dirty="0"/>
          </a:p>
        </p:txBody>
      </p:sp>
      <p:sp>
        <p:nvSpPr>
          <p:cNvPr id="12" name="badge-FaFrown"/>
          <p:cNvSpPr/>
          <p:nvPr/>
        </p:nvSpPr>
        <p:spPr>
          <a:xfrm>
            <a:off x="457200" y="2706624"/>
            <a:ext cx="365760" cy="365760"/>
          </a:xfrm>
          <a:prstGeom prst="ellipse">
            <a:avLst/>
          </a:prstGeom>
          <a:solidFill>
            <a:schemeClr val="accent1"/>
          </a:solidFill>
          <a:ln/>
        </p:spPr>
      </p:sp>
      <p:pic>
        <p:nvPicPr>
          <p:cNvPr id="13" name="Image 3" descr="preencoded.png">    </p:cNvPr>
          <p:cNvPicPr>
            <a:picLocks noChangeAspect="1"/>
          </p:cNvPicPr>
          <p:nvPr/>
        </p:nvPicPr>
        <p:blipFill>
          <a:blip r:embed="rId4"/>
          <a:stretch>
            <a:fillRect/>
          </a:stretch>
        </p:blipFill>
        <p:spPr>
          <a:xfrm>
            <a:off x="544982" y="2794406"/>
            <a:ext cx="190195" cy="190195"/>
          </a:xfrm>
          <a:prstGeom prst="rect">
            <a:avLst/>
          </a:prstGeom>
        </p:spPr>
      </p:pic>
      <p:sp>
        <p:nvSpPr>
          <p:cNvPr id="14" name="Text 8"/>
          <p:cNvSpPr txBox="1"/>
          <p:nvPr/>
        </p:nvSpPr>
        <p:spPr>
          <a:xfrm>
            <a:off x="987552" y="2688336"/>
            <a:ext cx="4407408" cy="585216"/>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Frustration détectée</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 ça marche pas », « inutile »… : relais proposé</a:t>
            </a:r>
            <a:endParaRPr lang="en-US" sz="1300" dirty="0"/>
          </a:p>
        </p:txBody>
      </p:sp>
      <p:sp>
        <p:nvSpPr>
          <p:cNvPr id="15" name="Text 9"/>
          <p:cNvSpPr txBox="1"/>
          <p:nvPr/>
        </p:nvSpPr>
        <p:spPr>
          <a:xfrm>
            <a:off x="457200" y="3383280"/>
            <a:ext cx="4937760" cy="320040"/>
          </a:xfrm>
          <a:prstGeom prst="rect">
            <a:avLst/>
          </a:prstGeom>
          <a:noFill/>
          <a:ln/>
        </p:spPr>
        <p:txBody>
          <a:bodyPr wrap="square" lIns="0" tIns="0" rIns="0" bIns="0" rtlCol="0" anchor="t"/>
          <a:lstStyle/>
          <a:p>
            <a:pPr indent="0" marL="0">
              <a:buNone/>
            </a:pPr>
            <a:r>
              <a:rPr lang="en-US" sz="1500" b="1" dirty="0">
                <a:solidFill>
                  <a:schemeClr val="accent2"/>
                </a:solidFill>
                <a:latin typeface="Arial" pitchFamily="34" charset="0"/>
                <a:ea typeface="Arial" pitchFamily="34" charset="-122"/>
                <a:cs typeface="Arial" pitchFamily="34" charset="-120"/>
              </a:rPr>
              <a:t>Des canaux pour chacun</a:t>
            </a:r>
            <a:endParaRPr lang="en-US" sz="1500" dirty="0"/>
          </a:p>
        </p:txBody>
      </p:sp>
      <p:sp>
        <p:nvSpPr>
          <p:cNvPr id="16" name="Text 10"/>
          <p:cNvSpPr txBox="1"/>
          <p:nvPr/>
        </p:nvSpPr>
        <p:spPr>
          <a:xfrm>
            <a:off x="457200" y="3730752"/>
            <a:ext cx="4937760" cy="868680"/>
          </a:xfrm>
          <a:prstGeom prst="rect">
            <a:avLst/>
          </a:prstGeom>
          <a:noFill/>
          <a:ln/>
        </p:spPr>
        <p:txBody>
          <a:bodyPr wrap="square" lIns="0" tIns="0" rIns="0" bIns="0" rtlCol="0" anchor="t"/>
          <a:lstStyle/>
          <a:p>
            <a:pPr indent="0" marL="0">
              <a:buNone/>
            </a:pPr>
            <a:r>
              <a:rPr lang="en-US" sz="1250" dirty="0">
                <a:solidFill>
                  <a:schemeClr val="tx1"/>
                </a:solidFill>
                <a:latin typeface="Arial" pitchFamily="34" charset="0"/>
                <a:ea typeface="Arial" pitchFamily="34" charset="-122"/>
                <a:cs typeface="Arial" pitchFamily="34" charset="-120"/>
              </a:rPr>
              <a:t>Téléphone, agence, écrit, visio avec interprète en langue des signes (à confirmer). Besoin particulier signalé : LSF, sous-titres, accès fauteuil, aidant, explications simples. Le conseiller reçoit le résumé.</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Copier, aimer, dire ce qui ne va pas</a:t>
            </a:r>
            <a:endParaRPr lang="en-US" sz="2400" dirty="0"/>
          </a:p>
        </p:txBody>
      </p:sp>
      <p:sp>
        <p:nvSpPr>
          <p:cNvPr id="3" name="Shape 1"/>
          <p:cNvSpPr/>
          <p:nvPr/>
        </p:nvSpPr>
        <p:spPr>
          <a:xfrm>
            <a:off x="420624" y="969264"/>
            <a:ext cx="2180082" cy="3685032"/>
          </a:xfrm>
          <a:prstGeom prst="roundRect">
            <a:avLst>
              <a:gd name="adj" fmla="val 3355"/>
            </a:avLst>
          </a:prstGeom>
          <a:solidFill>
            <a:schemeClr val="bg1"/>
          </a:solidFill>
          <a:ln w="9525">
            <a:solidFill>
              <a:srgbClr val="DDDDDD"/>
            </a:solidFill>
            <a:prstDash val="solid"/>
          </a:ln>
          <a:effectLst>
            <a:outerShdw sx="100000" sy="100000" kx="0" ky="0" algn="bl" rotWithShape="0" blurRad="101600" dist="25400" dir="5400000">
              <a:srgbClr val="000000">
                <a:alpha val="18000"/>
              </a:srgbClr>
            </a:outerShdw>
          </a:effectLst>
        </p:spPr>
      </p:sp>
      <p:pic>
        <p:nvPicPr>
          <p:cNvPr id="4" name="Image 0" descr="Formulaire des raisons d’un avis pas utile">    </p:cNvPr>
          <p:cNvPicPr>
            <a:picLocks noChangeAspect="1"/>
          </p:cNvPicPr>
          <p:nvPr/>
        </p:nvPicPr>
        <p:blipFill>
          <a:blip r:embed="rId1"/>
          <a:stretch>
            <a:fillRect/>
          </a:stretch>
        </p:blipFill>
        <p:spPr>
          <a:xfrm>
            <a:off x="457200" y="1005840"/>
            <a:ext cx="2106930" cy="3611880"/>
          </a:xfrm>
          <a:prstGeom prst="rect">
            <a:avLst/>
          </a:prstGeom>
        </p:spPr>
      </p:pic>
      <p:sp>
        <p:nvSpPr>
          <p:cNvPr id="5" name="Text 2"/>
          <p:cNvSpPr txBox="1"/>
          <p:nvPr/>
        </p:nvSpPr>
        <p:spPr>
          <a:xfrm>
            <a:off x="3566160" y="1051560"/>
            <a:ext cx="5120640" cy="365760"/>
          </a:xfrm>
          <a:prstGeom prst="rect">
            <a:avLst/>
          </a:prstGeom>
          <a:noFill/>
          <a:ln/>
        </p:spPr>
        <p:txBody>
          <a:bodyPr wrap="square" lIns="0" tIns="0" rIns="0" bIns="0" rtlCol="0" anchor="t"/>
          <a:lstStyle/>
          <a:p>
            <a:pPr indent="0" marL="0">
              <a:buNone/>
            </a:pPr>
            <a:r>
              <a:rPr lang="en-US" sz="1400" b="1" dirty="0">
                <a:solidFill>
                  <a:schemeClr val="tx2"/>
                </a:solidFill>
                <a:latin typeface="Arial" pitchFamily="34" charset="0"/>
                <a:ea typeface="Arial" pitchFamily="34" charset="-122"/>
                <a:cs typeface="Arial" pitchFamily="34" charset="-120"/>
              </a:rPr>
              <a:t>Sous chaque réponse : copier · utile · pas utile · écouter</a:t>
            </a:r>
            <a:endParaRPr lang="en-US" sz="1400" dirty="0"/>
          </a:p>
        </p:txBody>
      </p:sp>
      <p:sp>
        <p:nvSpPr>
          <p:cNvPr id="6" name="Text 3"/>
          <p:cNvSpPr txBox="1"/>
          <p:nvPr/>
        </p:nvSpPr>
        <p:spPr>
          <a:xfrm>
            <a:off x="3566160" y="1463040"/>
            <a:ext cx="5120640" cy="365760"/>
          </a:xfrm>
          <a:prstGeom prst="rect">
            <a:avLst/>
          </a:prstGeom>
          <a:noFill/>
          <a:ln/>
        </p:spPr>
        <p:txBody>
          <a:bodyPr wrap="square" lIns="0" tIns="0" rIns="0" bIns="0" rtlCol="0" anchor="t"/>
          <a:lstStyle/>
          <a:p>
            <a:pPr indent="0" marL="0">
              <a:buNone/>
            </a:pPr>
            <a:r>
              <a:rPr lang="en-US" sz="1250" dirty="0">
                <a:solidFill>
                  <a:schemeClr val="tx1"/>
                </a:solidFill>
                <a:latin typeface="Arial" pitchFamily="34" charset="0"/>
                <a:ea typeface="Arial" pitchFamily="34" charset="-122"/>
                <a:cs typeface="Arial" pitchFamily="34" charset="-120"/>
              </a:rPr>
              <a:t>« Pas utile » ouvre 8 raisons (plusieurs choix) et un commentaire facultatif :</a:t>
            </a:r>
            <a:endParaRPr lang="en-US" sz="1250" dirty="0"/>
          </a:p>
        </p:txBody>
      </p:sp>
      <p:sp>
        <p:nvSpPr>
          <p:cNvPr id="7" name="Shape 4"/>
          <p:cNvSpPr/>
          <p:nvPr/>
        </p:nvSpPr>
        <p:spPr>
          <a:xfrm>
            <a:off x="3566160" y="1920240"/>
            <a:ext cx="2468880" cy="457200"/>
          </a:xfrm>
          <a:prstGeom prst="roundRect">
            <a:avLst>
              <a:gd name="adj" fmla="val 50000"/>
            </a:avLst>
          </a:prstGeom>
          <a:solidFill>
            <a:schemeClr val="bg2"/>
          </a:solidFill>
          <a:ln w="9525">
            <a:solidFill>
              <a:srgbClr val="CCCCCC"/>
            </a:solidFill>
            <a:prstDash val="solid"/>
          </a:ln>
        </p:spPr>
      </p:sp>
      <p:sp>
        <p:nvSpPr>
          <p:cNvPr id="8" name="Text 5"/>
          <p:cNvSpPr txBox="1"/>
          <p:nvPr/>
        </p:nvSpPr>
        <p:spPr>
          <a:xfrm>
            <a:off x="3703320" y="1920240"/>
            <a:ext cx="2240280" cy="457200"/>
          </a:xfrm>
          <a:prstGeom prst="rect">
            <a:avLst/>
          </a:prstGeom>
          <a:noFill/>
          <a:ln/>
        </p:spPr>
        <p:txBody>
          <a:bodyPr wrap="square" lIns="0" tIns="0" rIns="0" bIns="0" rtlCol="0" anchor="ctr"/>
          <a:lstStyle/>
          <a:p>
            <a:pPr indent="0" marL="0">
              <a:buNone/>
            </a:pPr>
            <a:r>
              <a:rPr lang="en-US" sz="1100" dirty="0">
                <a:solidFill>
                  <a:schemeClr val="tx1"/>
                </a:solidFill>
                <a:latin typeface="Arial" pitchFamily="34" charset="0"/>
                <a:ea typeface="Arial" pitchFamily="34" charset="-122"/>
                <a:cs typeface="Arial" pitchFamily="34" charset="-120"/>
              </a:rPr>
              <a:t>Ça ne répond pas à ma question</a:t>
            </a:r>
            <a:endParaRPr lang="en-US" sz="1100" dirty="0"/>
          </a:p>
        </p:txBody>
      </p:sp>
      <p:sp>
        <p:nvSpPr>
          <p:cNvPr id="9" name="Shape 6"/>
          <p:cNvSpPr/>
          <p:nvPr/>
        </p:nvSpPr>
        <p:spPr>
          <a:xfrm>
            <a:off x="6172200" y="1920240"/>
            <a:ext cx="2468880" cy="457200"/>
          </a:xfrm>
          <a:prstGeom prst="roundRect">
            <a:avLst>
              <a:gd name="adj" fmla="val 50000"/>
            </a:avLst>
          </a:prstGeom>
          <a:solidFill>
            <a:schemeClr val="bg2"/>
          </a:solidFill>
          <a:ln w="9525">
            <a:solidFill>
              <a:srgbClr val="CCCCCC"/>
            </a:solidFill>
            <a:prstDash val="solid"/>
          </a:ln>
        </p:spPr>
      </p:sp>
      <p:sp>
        <p:nvSpPr>
          <p:cNvPr id="10" name="Text 7"/>
          <p:cNvSpPr txBox="1"/>
          <p:nvPr/>
        </p:nvSpPr>
        <p:spPr>
          <a:xfrm>
            <a:off x="6309360" y="1920240"/>
            <a:ext cx="2240280" cy="457200"/>
          </a:xfrm>
          <a:prstGeom prst="rect">
            <a:avLst/>
          </a:prstGeom>
          <a:noFill/>
          <a:ln/>
        </p:spPr>
        <p:txBody>
          <a:bodyPr wrap="square" lIns="0" tIns="0" rIns="0" bIns="0" rtlCol="0" anchor="ctr"/>
          <a:lstStyle/>
          <a:p>
            <a:pPr indent="0" marL="0">
              <a:buNone/>
            </a:pPr>
            <a:r>
              <a:rPr lang="en-US" sz="1100" dirty="0">
                <a:solidFill>
                  <a:schemeClr val="tx1"/>
                </a:solidFill>
                <a:latin typeface="Arial" pitchFamily="34" charset="0"/>
                <a:ea typeface="Arial" pitchFamily="34" charset="-122"/>
                <a:cs typeface="Arial" pitchFamily="34" charset="-120"/>
              </a:rPr>
              <a:t>Information fausse ou pas à jour</a:t>
            </a:r>
            <a:endParaRPr lang="en-US" sz="1100" dirty="0"/>
          </a:p>
        </p:txBody>
      </p:sp>
      <p:sp>
        <p:nvSpPr>
          <p:cNvPr id="11" name="Shape 8"/>
          <p:cNvSpPr/>
          <p:nvPr/>
        </p:nvSpPr>
        <p:spPr>
          <a:xfrm>
            <a:off x="3566160" y="2487168"/>
            <a:ext cx="2468880" cy="457200"/>
          </a:xfrm>
          <a:prstGeom prst="roundRect">
            <a:avLst>
              <a:gd name="adj" fmla="val 50000"/>
            </a:avLst>
          </a:prstGeom>
          <a:solidFill>
            <a:schemeClr val="bg2"/>
          </a:solidFill>
          <a:ln w="9525">
            <a:solidFill>
              <a:srgbClr val="CCCCCC"/>
            </a:solidFill>
            <a:prstDash val="solid"/>
          </a:ln>
        </p:spPr>
      </p:sp>
      <p:sp>
        <p:nvSpPr>
          <p:cNvPr id="12" name="Text 9"/>
          <p:cNvSpPr txBox="1"/>
          <p:nvPr/>
        </p:nvSpPr>
        <p:spPr>
          <a:xfrm>
            <a:off x="3703320" y="2487168"/>
            <a:ext cx="2240280" cy="457200"/>
          </a:xfrm>
          <a:prstGeom prst="rect">
            <a:avLst/>
          </a:prstGeom>
          <a:noFill/>
          <a:ln/>
        </p:spPr>
        <p:txBody>
          <a:bodyPr wrap="square" lIns="0" tIns="0" rIns="0" bIns="0" rtlCol="0" anchor="ctr"/>
          <a:lstStyle/>
          <a:p>
            <a:pPr indent="0" marL="0">
              <a:buNone/>
            </a:pPr>
            <a:r>
              <a:rPr lang="en-US" sz="1100" dirty="0">
                <a:solidFill>
                  <a:schemeClr val="tx1"/>
                </a:solidFill>
                <a:latin typeface="Arial" pitchFamily="34" charset="0"/>
                <a:ea typeface="Arial" pitchFamily="34" charset="-122"/>
                <a:cs typeface="Arial" pitchFamily="34" charset="-120"/>
              </a:rPr>
              <a:t>Pas clair, trop de jargon</a:t>
            </a:r>
            <a:endParaRPr lang="en-US" sz="1100" dirty="0"/>
          </a:p>
        </p:txBody>
      </p:sp>
      <p:sp>
        <p:nvSpPr>
          <p:cNvPr id="13" name="Shape 10"/>
          <p:cNvSpPr/>
          <p:nvPr/>
        </p:nvSpPr>
        <p:spPr>
          <a:xfrm>
            <a:off x="6172200" y="2487168"/>
            <a:ext cx="2468880" cy="457200"/>
          </a:xfrm>
          <a:prstGeom prst="roundRect">
            <a:avLst>
              <a:gd name="adj" fmla="val 50000"/>
            </a:avLst>
          </a:prstGeom>
          <a:solidFill>
            <a:schemeClr val="bg2"/>
          </a:solidFill>
          <a:ln w="9525">
            <a:solidFill>
              <a:srgbClr val="CCCCCC"/>
            </a:solidFill>
            <a:prstDash val="solid"/>
          </a:ln>
        </p:spPr>
      </p:sp>
      <p:sp>
        <p:nvSpPr>
          <p:cNvPr id="14" name="Text 11"/>
          <p:cNvSpPr txBox="1"/>
          <p:nvPr/>
        </p:nvSpPr>
        <p:spPr>
          <a:xfrm>
            <a:off x="6309360" y="2487168"/>
            <a:ext cx="2240280" cy="457200"/>
          </a:xfrm>
          <a:prstGeom prst="rect">
            <a:avLst/>
          </a:prstGeom>
          <a:noFill/>
          <a:ln/>
        </p:spPr>
        <p:txBody>
          <a:bodyPr wrap="square" lIns="0" tIns="0" rIns="0" bIns="0" rtlCol="0" anchor="ctr"/>
          <a:lstStyle/>
          <a:p>
            <a:pPr indent="0" marL="0">
              <a:buNone/>
            </a:pPr>
            <a:r>
              <a:rPr lang="en-US" sz="1100" dirty="0">
                <a:solidFill>
                  <a:schemeClr val="tx1"/>
                </a:solidFill>
                <a:latin typeface="Arial" pitchFamily="34" charset="0"/>
                <a:ea typeface="Arial" pitchFamily="34" charset="-122"/>
                <a:cs typeface="Arial" pitchFamily="34" charset="-120"/>
              </a:rPr>
              <a:t>Trop long</a:t>
            </a:r>
            <a:endParaRPr lang="en-US" sz="1100" dirty="0"/>
          </a:p>
        </p:txBody>
      </p:sp>
      <p:sp>
        <p:nvSpPr>
          <p:cNvPr id="15" name="Shape 12"/>
          <p:cNvSpPr/>
          <p:nvPr/>
        </p:nvSpPr>
        <p:spPr>
          <a:xfrm>
            <a:off x="3566160" y="3054096"/>
            <a:ext cx="2468880" cy="457200"/>
          </a:xfrm>
          <a:prstGeom prst="roundRect">
            <a:avLst>
              <a:gd name="adj" fmla="val 50000"/>
            </a:avLst>
          </a:prstGeom>
          <a:solidFill>
            <a:schemeClr val="bg2"/>
          </a:solidFill>
          <a:ln w="9525">
            <a:solidFill>
              <a:srgbClr val="CCCCCC"/>
            </a:solidFill>
            <a:prstDash val="solid"/>
          </a:ln>
        </p:spPr>
      </p:sp>
      <p:sp>
        <p:nvSpPr>
          <p:cNvPr id="16" name="Text 13"/>
          <p:cNvSpPr txBox="1"/>
          <p:nvPr/>
        </p:nvSpPr>
        <p:spPr>
          <a:xfrm>
            <a:off x="3703320" y="3054096"/>
            <a:ext cx="2240280" cy="457200"/>
          </a:xfrm>
          <a:prstGeom prst="rect">
            <a:avLst/>
          </a:prstGeom>
          <a:noFill/>
          <a:ln/>
        </p:spPr>
        <p:txBody>
          <a:bodyPr wrap="square" lIns="0" tIns="0" rIns="0" bIns="0" rtlCol="0" anchor="ctr"/>
          <a:lstStyle/>
          <a:p>
            <a:pPr indent="0" marL="0">
              <a:buNone/>
            </a:pPr>
            <a:r>
              <a:rPr lang="en-US" sz="1100" dirty="0">
                <a:solidFill>
                  <a:schemeClr val="tx1"/>
                </a:solidFill>
                <a:latin typeface="Arial" pitchFamily="34" charset="0"/>
                <a:ea typeface="Arial" pitchFamily="34" charset="-122"/>
                <a:cs typeface="Arial" pitchFamily="34" charset="-120"/>
              </a:rPr>
              <a:t>Je n’ai pas pu faire ce que je voulais</a:t>
            </a:r>
            <a:endParaRPr lang="en-US" sz="1100" dirty="0"/>
          </a:p>
        </p:txBody>
      </p:sp>
      <p:sp>
        <p:nvSpPr>
          <p:cNvPr id="17" name="Shape 14"/>
          <p:cNvSpPr/>
          <p:nvPr/>
        </p:nvSpPr>
        <p:spPr>
          <a:xfrm>
            <a:off x="6172200" y="3054096"/>
            <a:ext cx="2468880" cy="457200"/>
          </a:xfrm>
          <a:prstGeom prst="roundRect">
            <a:avLst>
              <a:gd name="adj" fmla="val 50000"/>
            </a:avLst>
          </a:prstGeom>
          <a:solidFill>
            <a:srgbClr val="FDF1F2"/>
          </a:solidFill>
          <a:ln w="9525">
            <a:solidFill>
              <a:srgbClr val="9E000B"/>
            </a:solidFill>
            <a:prstDash val="solid"/>
          </a:ln>
        </p:spPr>
      </p:sp>
      <p:sp>
        <p:nvSpPr>
          <p:cNvPr id="18" name="Text 15"/>
          <p:cNvSpPr txBox="1"/>
          <p:nvPr/>
        </p:nvSpPr>
        <p:spPr>
          <a:xfrm>
            <a:off x="6309360" y="3054096"/>
            <a:ext cx="2240280" cy="457200"/>
          </a:xfrm>
          <a:prstGeom prst="rect">
            <a:avLst/>
          </a:prstGeom>
          <a:noFill/>
          <a:ln/>
        </p:spPr>
        <p:txBody>
          <a:bodyPr wrap="square" lIns="0" tIns="0" rIns="0" bIns="0" rtlCol="0" anchor="ctr"/>
          <a:lstStyle/>
          <a:p>
            <a:pPr indent="0" marL="0">
              <a:buNone/>
            </a:pPr>
            <a:r>
              <a:rPr lang="en-US" sz="1100" dirty="0">
                <a:solidFill>
                  <a:schemeClr val="tx1"/>
                </a:solidFill>
                <a:latin typeface="Arial" pitchFamily="34" charset="0"/>
                <a:ea typeface="Arial" pitchFamily="34" charset="-122"/>
                <a:cs typeface="Arial" pitchFamily="34" charset="-120"/>
              </a:rPr>
              <a:t>Difficile à lire ou à écouter</a:t>
            </a:r>
            <a:endParaRPr lang="en-US" sz="1100" dirty="0"/>
          </a:p>
        </p:txBody>
      </p:sp>
      <p:sp>
        <p:nvSpPr>
          <p:cNvPr id="19" name="Shape 16"/>
          <p:cNvSpPr/>
          <p:nvPr/>
        </p:nvSpPr>
        <p:spPr>
          <a:xfrm>
            <a:off x="3566160" y="3621024"/>
            <a:ext cx="2468880" cy="457200"/>
          </a:xfrm>
          <a:prstGeom prst="roundRect">
            <a:avLst>
              <a:gd name="adj" fmla="val 50000"/>
            </a:avLst>
          </a:prstGeom>
          <a:solidFill>
            <a:srgbClr val="FDF1F2"/>
          </a:solidFill>
          <a:ln w="9525">
            <a:solidFill>
              <a:srgbClr val="9E000B"/>
            </a:solidFill>
            <a:prstDash val="solid"/>
          </a:ln>
        </p:spPr>
      </p:sp>
      <p:sp>
        <p:nvSpPr>
          <p:cNvPr id="20" name="Text 17"/>
          <p:cNvSpPr txBox="1"/>
          <p:nvPr/>
        </p:nvSpPr>
        <p:spPr>
          <a:xfrm>
            <a:off x="3703320" y="3621024"/>
            <a:ext cx="2240280" cy="457200"/>
          </a:xfrm>
          <a:prstGeom prst="rect">
            <a:avLst/>
          </a:prstGeom>
          <a:noFill/>
          <a:ln/>
        </p:spPr>
        <p:txBody>
          <a:bodyPr wrap="square" lIns="0" tIns="0" rIns="0" bIns="0" rtlCol="0" anchor="ctr"/>
          <a:lstStyle/>
          <a:p>
            <a:pPr indent="0" marL="0">
              <a:buNone/>
            </a:pPr>
            <a:r>
              <a:rPr lang="en-US" sz="1100" dirty="0">
                <a:solidFill>
                  <a:schemeClr val="tx1"/>
                </a:solidFill>
                <a:latin typeface="Arial" pitchFamily="34" charset="0"/>
                <a:ea typeface="Arial" pitchFamily="34" charset="-122"/>
                <a:cs typeface="Arial" pitchFamily="34" charset="-120"/>
              </a:rPr>
              <a:t>Je préfère parler à un conseiller</a:t>
            </a:r>
            <a:endParaRPr lang="en-US" sz="1100" dirty="0"/>
          </a:p>
        </p:txBody>
      </p:sp>
      <p:sp>
        <p:nvSpPr>
          <p:cNvPr id="21" name="Shape 18"/>
          <p:cNvSpPr/>
          <p:nvPr/>
        </p:nvSpPr>
        <p:spPr>
          <a:xfrm>
            <a:off x="6172200" y="3621024"/>
            <a:ext cx="2468880" cy="457200"/>
          </a:xfrm>
          <a:prstGeom prst="roundRect">
            <a:avLst>
              <a:gd name="adj" fmla="val 50000"/>
            </a:avLst>
          </a:prstGeom>
          <a:solidFill>
            <a:schemeClr val="bg2"/>
          </a:solidFill>
          <a:ln w="9525">
            <a:solidFill>
              <a:srgbClr val="CCCCCC"/>
            </a:solidFill>
            <a:prstDash val="solid"/>
          </a:ln>
        </p:spPr>
      </p:sp>
      <p:sp>
        <p:nvSpPr>
          <p:cNvPr id="22" name="Text 19"/>
          <p:cNvSpPr txBox="1"/>
          <p:nvPr/>
        </p:nvSpPr>
        <p:spPr>
          <a:xfrm>
            <a:off x="6309360" y="3621024"/>
            <a:ext cx="2240280" cy="457200"/>
          </a:xfrm>
          <a:prstGeom prst="rect">
            <a:avLst/>
          </a:prstGeom>
          <a:noFill/>
          <a:ln/>
        </p:spPr>
        <p:txBody>
          <a:bodyPr wrap="square" lIns="0" tIns="0" rIns="0" bIns="0" rtlCol="0" anchor="ctr"/>
          <a:lstStyle/>
          <a:p>
            <a:pPr indent="0" marL="0">
              <a:buNone/>
            </a:pPr>
            <a:r>
              <a:rPr lang="en-US" sz="1100" dirty="0">
                <a:solidFill>
                  <a:schemeClr val="tx1"/>
                </a:solidFill>
                <a:latin typeface="Arial" pitchFamily="34" charset="0"/>
                <a:ea typeface="Arial" pitchFamily="34" charset="-122"/>
                <a:cs typeface="Arial" pitchFamily="34" charset="-120"/>
              </a:rPr>
              <a:t>Autre raison</a:t>
            </a:r>
            <a:endParaRPr lang="en-US" sz="1100" dirty="0"/>
          </a:p>
        </p:txBody>
      </p:sp>
      <p:sp>
        <p:nvSpPr>
          <p:cNvPr id="23" name="Text 20"/>
          <p:cNvSpPr txBox="1"/>
          <p:nvPr/>
        </p:nvSpPr>
        <p:spPr>
          <a:xfrm>
            <a:off x="3566160" y="4251960"/>
            <a:ext cx="5120640" cy="411480"/>
          </a:xfrm>
          <a:prstGeom prst="rect">
            <a:avLst/>
          </a:prstGeom>
          <a:noFill/>
          <a:ln/>
        </p:spPr>
        <p:txBody>
          <a:bodyPr wrap="square" lIns="0" tIns="0" rIns="0" bIns="0" rtlCol="0" anchor="t"/>
          <a:lstStyle/>
          <a:p>
            <a:pPr indent="0" marL="0">
              <a:buNone/>
            </a:pPr>
            <a:r>
              <a:rPr lang="en-US" sz="1100" i="1" dirty="0">
                <a:solidFill>
                  <a:schemeClr val="accent6"/>
                </a:solidFill>
                <a:latin typeface="Arial" pitchFamily="34" charset="0"/>
                <a:ea typeface="Arial" pitchFamily="34" charset="-122"/>
                <a:cs typeface="Arial" pitchFamily="34" charset="-120"/>
              </a:rPr>
              <a:t>En rouge : « difficile à lire ou à écouter » remonte les problèmes d’accessibilité ; « conseiller » déclenche le relais.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046720" cy="457200"/>
          </a:xfrm>
          <a:prstGeom prst="rect">
            <a:avLst/>
          </a:prstGeom>
          <a:noFill/>
          <a:ln/>
        </p:spPr>
        <p:txBody>
          <a:bodyPr wrap="square" rtlCol="0"/>
          <a:lstStyle/>
          <a:p>
            <a:pPr indent="0" marL="0">
              <a:buNone/>
            </a:pPr>
            <a:r>
              <a:rPr lang="en-US" sz="1600" b="1" dirty="0">
                <a:solidFill>
                  <a:schemeClr val="bg1"/>
                </a:solidFill>
              </a:rPr>
              <a:t>04</a:t>
            </a:r>
            <a:endParaRPr lang="en-US" sz="1600" dirty="0"/>
          </a:p>
        </p:txBody>
      </p:sp>
      <p:sp>
        <p:nvSpPr>
          <p:cNvPr id="3" name="Text 0"/>
          <p:cNvSpPr/>
          <p:nvPr>
            <p:ph idx="101" type="title" hasCustomPrompt="1"/>
          </p:nvPr>
        </p:nvSpPr>
        <p:spPr>
          <a:xfrm>
            <a:off x="548640" y="1874520"/>
            <a:ext cx="8046720" cy="1097280"/>
          </a:xfrm>
          <a:prstGeom prst="rect">
            <a:avLst/>
          </a:prstGeom>
          <a:noFill/>
          <a:ln/>
        </p:spPr>
        <p:txBody>
          <a:bodyPr wrap="square" rtlCol="0" anchor="t"/>
          <a:lstStyle/>
          <a:p>
            <a:pPr algn="l" indent="0" marL="0">
              <a:buNone/>
            </a:pPr>
            <a:r>
              <a:rPr lang="en-US" sz="3600" b="1" dirty="0">
                <a:solidFill>
                  <a:schemeClr val="bg1"/>
                </a:solidFill>
              </a:rPr>
              <a:t>Pilotage et technique</a:t>
            </a:r>
            <a:endParaRPr lang="en-US" sz="3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Le backoffice : voir, mesurer, comprendre</a:t>
            </a:r>
            <a:endParaRPr lang="en-US" sz="2400" dirty="0"/>
          </a:p>
        </p:txBody>
      </p:sp>
      <p:sp>
        <p:nvSpPr>
          <p:cNvPr id="3" name="Shape 1"/>
          <p:cNvSpPr/>
          <p:nvPr/>
        </p:nvSpPr>
        <p:spPr>
          <a:xfrm>
            <a:off x="420624" y="1014984"/>
            <a:ext cx="5010912" cy="3159252"/>
          </a:xfrm>
          <a:prstGeom prst="roundRect">
            <a:avLst>
              <a:gd name="adj" fmla="val 2315"/>
            </a:avLst>
          </a:prstGeom>
          <a:solidFill>
            <a:schemeClr val="bg1"/>
          </a:solidFill>
          <a:ln w="9525">
            <a:solidFill>
              <a:srgbClr val="DDDDDD"/>
            </a:solidFill>
            <a:prstDash val="solid"/>
          </a:ln>
          <a:effectLst>
            <a:outerShdw sx="100000" sy="100000" kx="0" ky="0" algn="bl" rotWithShape="0" blurRad="101600" dist="25400" dir="5400000">
              <a:srgbClr val="000000">
                <a:alpha val="18000"/>
              </a:srgbClr>
            </a:outerShdw>
          </a:effectLst>
        </p:spPr>
      </p:sp>
      <p:pic>
        <p:nvPicPr>
          <p:cNvPr id="4" name="Image 0" descr="Vue d’ensemble du backoffice : indicateurs, tokens par jour, raisons des avis négatifs">    </p:cNvPr>
          <p:cNvPicPr>
            <a:picLocks noChangeAspect="1"/>
          </p:cNvPicPr>
          <p:nvPr/>
        </p:nvPicPr>
        <p:blipFill>
          <a:blip r:embed="rId1"/>
          <a:stretch>
            <a:fillRect/>
          </a:stretch>
        </p:blipFill>
        <p:spPr>
          <a:xfrm>
            <a:off x="457200" y="1051560"/>
            <a:ext cx="4937760" cy="3086100"/>
          </a:xfrm>
          <a:prstGeom prst="rect">
            <a:avLst/>
          </a:prstGeom>
        </p:spPr>
      </p:pic>
      <p:sp>
        <p:nvSpPr>
          <p:cNvPr id="5" name="badge-FaChartBar"/>
          <p:cNvSpPr/>
          <p:nvPr/>
        </p:nvSpPr>
        <p:spPr>
          <a:xfrm>
            <a:off x="5669280" y="1051560"/>
            <a:ext cx="365760" cy="365760"/>
          </a:xfrm>
          <a:prstGeom prst="ellipse">
            <a:avLst/>
          </a:prstGeom>
          <a:solidFill>
            <a:schemeClr val="accent1"/>
          </a:solidFill>
          <a:ln/>
        </p:spPr>
      </p:sp>
      <p:pic>
        <p:nvPicPr>
          <p:cNvPr id="6" name="Image 1" descr="preencoded.png">    </p:cNvPr>
          <p:cNvPicPr>
            <a:picLocks noChangeAspect="1"/>
          </p:cNvPicPr>
          <p:nvPr/>
        </p:nvPicPr>
        <p:blipFill>
          <a:blip r:embed="rId2"/>
          <a:stretch>
            <a:fillRect/>
          </a:stretch>
        </p:blipFill>
        <p:spPr>
          <a:xfrm>
            <a:off x="5757062" y="1139342"/>
            <a:ext cx="190195" cy="190195"/>
          </a:xfrm>
          <a:prstGeom prst="rect">
            <a:avLst/>
          </a:prstGeom>
        </p:spPr>
      </p:pic>
      <p:sp>
        <p:nvSpPr>
          <p:cNvPr id="7" name="Text 3"/>
          <p:cNvSpPr txBox="1"/>
          <p:nvPr/>
        </p:nvSpPr>
        <p:spPr>
          <a:xfrm>
            <a:off x="6199632" y="1033272"/>
            <a:ext cx="2487168" cy="859536"/>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Indicateurs clés</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Satisfaction, actions, relais, incompréhensions, accessibilité</a:t>
            </a:r>
            <a:endParaRPr lang="en-US" sz="1300" dirty="0"/>
          </a:p>
        </p:txBody>
      </p:sp>
      <p:sp>
        <p:nvSpPr>
          <p:cNvPr id="8" name="badge-FaCoins"/>
          <p:cNvSpPr/>
          <p:nvPr/>
        </p:nvSpPr>
        <p:spPr>
          <a:xfrm>
            <a:off x="5669280" y="1947672"/>
            <a:ext cx="365760" cy="365760"/>
          </a:xfrm>
          <a:prstGeom prst="ellipse">
            <a:avLst/>
          </a:prstGeom>
          <a:solidFill>
            <a:schemeClr val="accent1"/>
          </a:solidFill>
          <a:ln/>
        </p:spPr>
      </p:sp>
      <p:pic>
        <p:nvPicPr>
          <p:cNvPr id="9" name="Image 2" descr="preencoded.png">    </p:cNvPr>
          <p:cNvPicPr>
            <a:picLocks noChangeAspect="1"/>
          </p:cNvPicPr>
          <p:nvPr/>
        </p:nvPicPr>
        <p:blipFill>
          <a:blip r:embed="rId3"/>
          <a:stretch>
            <a:fillRect/>
          </a:stretch>
        </p:blipFill>
        <p:spPr>
          <a:xfrm>
            <a:off x="5757062" y="2035454"/>
            <a:ext cx="190195" cy="190195"/>
          </a:xfrm>
          <a:prstGeom prst="rect">
            <a:avLst/>
          </a:prstGeom>
        </p:spPr>
      </p:pic>
      <p:sp>
        <p:nvSpPr>
          <p:cNvPr id="10" name="Text 5"/>
          <p:cNvSpPr txBox="1"/>
          <p:nvPr/>
        </p:nvSpPr>
        <p:spPr>
          <a:xfrm>
            <a:off x="6199632" y="1929384"/>
            <a:ext cx="2487168" cy="859536"/>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Consommation</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Tokens en entrée et en sortie, coût par conversation (fictif)</a:t>
            </a:r>
            <a:endParaRPr lang="en-US" sz="1300" dirty="0"/>
          </a:p>
        </p:txBody>
      </p:sp>
      <p:sp>
        <p:nvSpPr>
          <p:cNvPr id="11" name="badge-FaServer"/>
          <p:cNvSpPr/>
          <p:nvPr/>
        </p:nvSpPr>
        <p:spPr>
          <a:xfrm>
            <a:off x="5669280" y="2843784"/>
            <a:ext cx="365760" cy="365760"/>
          </a:xfrm>
          <a:prstGeom prst="ellipse">
            <a:avLst/>
          </a:prstGeom>
          <a:solidFill>
            <a:schemeClr val="accent1"/>
          </a:solidFill>
          <a:ln/>
        </p:spPr>
      </p:sp>
      <p:pic>
        <p:nvPicPr>
          <p:cNvPr id="12" name="Image 3" descr="preencoded.png">    </p:cNvPr>
          <p:cNvPicPr>
            <a:picLocks noChangeAspect="1"/>
          </p:cNvPicPr>
          <p:nvPr/>
        </p:nvPicPr>
        <p:blipFill>
          <a:blip r:embed="rId4"/>
          <a:stretch>
            <a:fillRect/>
          </a:stretch>
        </p:blipFill>
        <p:spPr>
          <a:xfrm>
            <a:off x="5757062" y="2931566"/>
            <a:ext cx="190195" cy="190195"/>
          </a:xfrm>
          <a:prstGeom prst="rect">
            <a:avLst/>
          </a:prstGeom>
        </p:spPr>
      </p:pic>
      <p:sp>
        <p:nvSpPr>
          <p:cNvPr id="13" name="Text 7"/>
          <p:cNvSpPr txBox="1"/>
          <p:nvPr/>
        </p:nvSpPr>
        <p:spPr>
          <a:xfrm>
            <a:off x="6199632" y="2825496"/>
            <a:ext cx="2487168" cy="859536"/>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Modèles</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Groq en principal, taux de bascule vers le secours, latence</a:t>
            </a:r>
            <a:endParaRPr lang="en-US" sz="1300" dirty="0"/>
          </a:p>
        </p:txBody>
      </p:sp>
      <p:sp>
        <p:nvSpPr>
          <p:cNvPr id="14" name="badge-FaComments"/>
          <p:cNvSpPr/>
          <p:nvPr/>
        </p:nvSpPr>
        <p:spPr>
          <a:xfrm>
            <a:off x="5669280" y="3739896"/>
            <a:ext cx="365760" cy="365760"/>
          </a:xfrm>
          <a:prstGeom prst="ellipse">
            <a:avLst/>
          </a:prstGeom>
          <a:solidFill>
            <a:schemeClr val="accent1"/>
          </a:solidFill>
          <a:ln/>
        </p:spPr>
      </p:sp>
      <p:pic>
        <p:nvPicPr>
          <p:cNvPr id="15" name="Image 4" descr="preencoded.png">    </p:cNvPr>
          <p:cNvPicPr>
            <a:picLocks noChangeAspect="1"/>
          </p:cNvPicPr>
          <p:nvPr/>
        </p:nvPicPr>
        <p:blipFill>
          <a:blip r:embed="rId5"/>
          <a:stretch>
            <a:fillRect/>
          </a:stretch>
        </p:blipFill>
        <p:spPr>
          <a:xfrm>
            <a:off x="5757062" y="3827678"/>
            <a:ext cx="190195" cy="190195"/>
          </a:xfrm>
          <a:prstGeom prst="rect">
            <a:avLst/>
          </a:prstGeom>
        </p:spPr>
      </p:pic>
      <p:sp>
        <p:nvSpPr>
          <p:cNvPr id="16" name="Text 9"/>
          <p:cNvSpPr txBox="1"/>
          <p:nvPr/>
        </p:nvSpPr>
        <p:spPr>
          <a:xfrm>
            <a:off x="6199632" y="3721608"/>
            <a:ext cx="2487168" cy="859536"/>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Conversations</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Fil complet, tokens et avis par message, filtres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La boucle d’amélioration de l’agent</a:t>
            </a:r>
            <a:endParaRPr lang="en-US" sz="2400" dirty="0"/>
          </a:p>
        </p:txBody>
      </p:sp>
      <p:sp>
        <p:nvSpPr>
          <p:cNvPr id="3" name="Shape 1"/>
          <p:cNvSpPr/>
          <p:nvPr/>
        </p:nvSpPr>
        <p:spPr>
          <a:xfrm>
            <a:off x="420624" y="2295144"/>
            <a:ext cx="3730752" cy="2359152"/>
          </a:xfrm>
          <a:prstGeom prst="roundRect">
            <a:avLst>
              <a:gd name="adj" fmla="val 3101"/>
            </a:avLst>
          </a:prstGeom>
          <a:solidFill>
            <a:schemeClr val="bg1"/>
          </a:solidFill>
          <a:ln w="9525">
            <a:solidFill>
              <a:srgbClr val="DDDDDD"/>
            </a:solidFill>
            <a:prstDash val="solid"/>
          </a:ln>
          <a:effectLst>
            <a:outerShdw sx="100000" sy="100000" kx="0" ky="0" algn="bl" rotWithShape="0" blurRad="101600" dist="25400" dir="5400000">
              <a:srgbClr val="000000">
                <a:alpha val="18000"/>
              </a:srgbClr>
            </a:outerShdw>
          </a:effectLst>
        </p:spPr>
      </p:sp>
      <p:pic>
        <p:nvPicPr>
          <p:cNvPr id="4" name="Image 0" descr="Onglet À améliorer : question, réponse, raisons et réponse attendue">    </p:cNvPr>
          <p:cNvPicPr>
            <a:picLocks noChangeAspect="1"/>
          </p:cNvPicPr>
          <p:nvPr/>
        </p:nvPicPr>
        <p:blipFill>
          <a:blip r:embed="rId1"/>
          <a:stretch>
            <a:fillRect/>
          </a:stretch>
        </p:blipFill>
        <p:spPr>
          <a:xfrm>
            <a:off x="457200" y="2331720"/>
            <a:ext cx="3657600" cy="2286000"/>
          </a:xfrm>
          <a:prstGeom prst="rect">
            <a:avLst/>
          </a:prstGeom>
        </p:spPr>
      </p:pic>
      <p:sp>
        <p:nvSpPr>
          <p:cNvPr id="5" name="badge-FaThumbsDown"/>
          <p:cNvSpPr/>
          <p:nvPr/>
        </p:nvSpPr>
        <p:spPr>
          <a:xfrm>
            <a:off x="1024128" y="1051560"/>
            <a:ext cx="457200" cy="457200"/>
          </a:xfrm>
          <a:prstGeom prst="ellipse">
            <a:avLst/>
          </a:prstGeom>
          <a:solidFill>
            <a:schemeClr val="accent1"/>
          </a:solidFill>
          <a:ln/>
        </p:spPr>
      </p:sp>
      <p:pic>
        <p:nvPicPr>
          <p:cNvPr id="6" name="Image 1" descr="preencoded.png">    </p:cNvPr>
          <p:cNvPicPr>
            <a:picLocks noChangeAspect="1"/>
          </p:cNvPicPr>
          <p:nvPr/>
        </p:nvPicPr>
        <p:blipFill>
          <a:blip r:embed="rId2"/>
          <a:stretch>
            <a:fillRect/>
          </a:stretch>
        </p:blipFill>
        <p:spPr>
          <a:xfrm>
            <a:off x="1133856" y="1161288"/>
            <a:ext cx="237744" cy="237744"/>
          </a:xfrm>
          <a:prstGeom prst="rect">
            <a:avLst/>
          </a:prstGeom>
        </p:spPr>
      </p:pic>
      <p:sp>
        <p:nvSpPr>
          <p:cNvPr id="7" name="Text 3"/>
          <p:cNvSpPr txBox="1"/>
          <p:nvPr/>
        </p:nvSpPr>
        <p:spPr>
          <a:xfrm>
            <a:off x="502920" y="1572768"/>
            <a:ext cx="1600200" cy="640080"/>
          </a:xfrm>
          <a:prstGeom prst="rect">
            <a:avLst/>
          </a:prstGeom>
          <a:noFill/>
          <a:ln/>
        </p:spPr>
        <p:txBody>
          <a:bodyPr wrap="square" lIns="0" tIns="0" rIns="0" bIns="0" rtlCol="0" anchor="t"/>
          <a:lstStyle/>
          <a:p>
            <a:pPr algn="ctr" indent="0" marL="0">
              <a:buNone/>
            </a:pPr>
            <a:r>
              <a:rPr lang="en-US" sz="1150" b="1" dirty="0">
                <a:solidFill>
                  <a:schemeClr val="tx2"/>
                </a:solidFill>
                <a:latin typeface="Arial" pitchFamily="34" charset="0"/>
                <a:ea typeface="Arial" pitchFamily="34" charset="-122"/>
                <a:cs typeface="Arial" pitchFamily="34" charset="-120"/>
              </a:rPr>
              <a:t>Avis négatif ou incompréhension</a:t>
            </a:r>
            <a:endParaRPr lang="en-US" sz="1150" dirty="0"/>
          </a:p>
        </p:txBody>
      </p:sp>
      <p:sp>
        <p:nvSpPr>
          <p:cNvPr id="8" name="Shape 4"/>
          <p:cNvSpPr/>
          <p:nvPr/>
        </p:nvSpPr>
        <p:spPr>
          <a:xfrm>
            <a:off x="1572768" y="1280160"/>
            <a:ext cx="502920" cy="0"/>
          </a:xfrm>
          <a:prstGeom prst="line">
            <a:avLst/>
          </a:prstGeom>
          <a:noFill/>
          <a:ln w="15875">
            <a:solidFill>
              <a:srgbClr val="BBBBBB"/>
            </a:solidFill>
            <a:prstDash val="solid"/>
            <a:tailEnd type="triangle"/>
          </a:ln>
        </p:spPr>
      </p:sp>
      <p:sp>
        <p:nvSpPr>
          <p:cNvPr id="9" name="badge-FaClipboardList"/>
          <p:cNvSpPr/>
          <p:nvPr/>
        </p:nvSpPr>
        <p:spPr>
          <a:xfrm>
            <a:off x="2706624" y="1051560"/>
            <a:ext cx="457200" cy="457200"/>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2816352" y="1161288"/>
            <a:ext cx="237744" cy="237744"/>
          </a:xfrm>
          <a:prstGeom prst="rect">
            <a:avLst/>
          </a:prstGeom>
        </p:spPr>
      </p:pic>
      <p:sp>
        <p:nvSpPr>
          <p:cNvPr id="11" name="Text 6"/>
          <p:cNvSpPr txBox="1"/>
          <p:nvPr/>
        </p:nvSpPr>
        <p:spPr>
          <a:xfrm>
            <a:off x="2185416" y="1572768"/>
            <a:ext cx="1600200" cy="640080"/>
          </a:xfrm>
          <a:prstGeom prst="rect">
            <a:avLst/>
          </a:prstGeom>
          <a:noFill/>
          <a:ln/>
        </p:spPr>
        <p:txBody>
          <a:bodyPr wrap="square" lIns="0" tIns="0" rIns="0" bIns="0" rtlCol="0" anchor="t"/>
          <a:lstStyle/>
          <a:p>
            <a:pPr algn="ctr" indent="0" marL="0">
              <a:buNone/>
            </a:pPr>
            <a:r>
              <a:rPr lang="en-US" sz="1150" b="1" dirty="0">
                <a:solidFill>
                  <a:schemeClr val="tx2"/>
                </a:solidFill>
                <a:latin typeface="Arial" pitchFamily="34" charset="0"/>
                <a:ea typeface="Arial" pitchFamily="34" charset="-122"/>
                <a:cs typeface="Arial" pitchFamily="34" charset="-120"/>
              </a:rPr>
              <a:t>Onglet « À améliorer »</a:t>
            </a:r>
            <a:endParaRPr lang="en-US" sz="1150" dirty="0"/>
          </a:p>
        </p:txBody>
      </p:sp>
      <p:sp>
        <p:nvSpPr>
          <p:cNvPr id="12" name="Shape 7"/>
          <p:cNvSpPr/>
          <p:nvPr/>
        </p:nvSpPr>
        <p:spPr>
          <a:xfrm>
            <a:off x="3255264" y="1280160"/>
            <a:ext cx="502920" cy="0"/>
          </a:xfrm>
          <a:prstGeom prst="line">
            <a:avLst/>
          </a:prstGeom>
          <a:noFill/>
          <a:ln w="15875">
            <a:solidFill>
              <a:srgbClr val="BBBBBB"/>
            </a:solidFill>
            <a:prstDash val="solid"/>
            <a:tailEnd type="triangle"/>
          </a:ln>
        </p:spPr>
      </p:sp>
      <p:sp>
        <p:nvSpPr>
          <p:cNvPr id="13" name="badge-FaPen"/>
          <p:cNvSpPr/>
          <p:nvPr/>
        </p:nvSpPr>
        <p:spPr>
          <a:xfrm>
            <a:off x="4389120" y="1051560"/>
            <a:ext cx="457200" cy="45720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4498848" y="1161288"/>
            <a:ext cx="237744" cy="237744"/>
          </a:xfrm>
          <a:prstGeom prst="rect">
            <a:avLst/>
          </a:prstGeom>
        </p:spPr>
      </p:pic>
      <p:sp>
        <p:nvSpPr>
          <p:cNvPr id="15" name="Text 9"/>
          <p:cNvSpPr txBox="1"/>
          <p:nvPr/>
        </p:nvSpPr>
        <p:spPr>
          <a:xfrm>
            <a:off x="3867912" y="1572768"/>
            <a:ext cx="1600200" cy="640080"/>
          </a:xfrm>
          <a:prstGeom prst="rect">
            <a:avLst/>
          </a:prstGeom>
          <a:noFill/>
          <a:ln/>
        </p:spPr>
        <p:txBody>
          <a:bodyPr wrap="square" lIns="0" tIns="0" rIns="0" bIns="0" rtlCol="0" anchor="t"/>
          <a:lstStyle/>
          <a:p>
            <a:pPr algn="ctr" indent="0" marL="0">
              <a:buNone/>
            </a:pPr>
            <a:r>
              <a:rPr lang="en-US" sz="1150" b="1" dirty="0">
                <a:solidFill>
                  <a:schemeClr val="tx2"/>
                </a:solidFill>
                <a:latin typeface="Arial" pitchFamily="34" charset="0"/>
                <a:ea typeface="Arial" pitchFamily="34" charset="-122"/>
                <a:cs typeface="Arial" pitchFamily="34" charset="-120"/>
              </a:rPr>
              <a:t>Réponse attendue écrite</a:t>
            </a:r>
            <a:endParaRPr lang="en-US" sz="1150" dirty="0"/>
          </a:p>
        </p:txBody>
      </p:sp>
      <p:sp>
        <p:nvSpPr>
          <p:cNvPr id="16" name="Shape 10"/>
          <p:cNvSpPr/>
          <p:nvPr/>
        </p:nvSpPr>
        <p:spPr>
          <a:xfrm>
            <a:off x="4937760" y="1280160"/>
            <a:ext cx="502920" cy="0"/>
          </a:xfrm>
          <a:prstGeom prst="line">
            <a:avLst/>
          </a:prstGeom>
          <a:noFill/>
          <a:ln w="15875">
            <a:solidFill>
              <a:srgbClr val="BBBBBB"/>
            </a:solidFill>
            <a:prstDash val="solid"/>
            <a:tailEnd type="triangle"/>
          </a:ln>
        </p:spPr>
      </p:sp>
      <p:sp>
        <p:nvSpPr>
          <p:cNvPr id="17" name="badge-FaFileExport"/>
          <p:cNvSpPr/>
          <p:nvPr/>
        </p:nvSpPr>
        <p:spPr>
          <a:xfrm>
            <a:off x="6071616" y="1051560"/>
            <a:ext cx="457200" cy="457200"/>
          </a:xfrm>
          <a:prstGeom prst="ellipse">
            <a:avLst/>
          </a:prstGeom>
          <a:solidFill>
            <a:schemeClr val="accent1"/>
          </a:solidFill>
          <a:ln/>
        </p:spPr>
      </p:sp>
      <p:pic>
        <p:nvPicPr>
          <p:cNvPr id="18" name="Image 4" descr="preencoded.png">    </p:cNvPr>
          <p:cNvPicPr>
            <a:picLocks noChangeAspect="1"/>
          </p:cNvPicPr>
          <p:nvPr/>
        </p:nvPicPr>
        <p:blipFill>
          <a:blip r:embed="rId5"/>
          <a:stretch>
            <a:fillRect/>
          </a:stretch>
        </p:blipFill>
        <p:spPr>
          <a:xfrm>
            <a:off x="6181344" y="1161288"/>
            <a:ext cx="237744" cy="237744"/>
          </a:xfrm>
          <a:prstGeom prst="rect">
            <a:avLst/>
          </a:prstGeom>
        </p:spPr>
      </p:pic>
      <p:sp>
        <p:nvSpPr>
          <p:cNvPr id="19" name="Text 12"/>
          <p:cNvSpPr txBox="1"/>
          <p:nvPr/>
        </p:nvSpPr>
        <p:spPr>
          <a:xfrm>
            <a:off x="5550408" y="1572768"/>
            <a:ext cx="1600200" cy="640080"/>
          </a:xfrm>
          <a:prstGeom prst="rect">
            <a:avLst/>
          </a:prstGeom>
          <a:noFill/>
          <a:ln/>
        </p:spPr>
        <p:txBody>
          <a:bodyPr wrap="square" lIns="0" tIns="0" rIns="0" bIns="0" rtlCol="0" anchor="t"/>
          <a:lstStyle/>
          <a:p>
            <a:pPr algn="ctr" indent="0" marL="0">
              <a:buNone/>
            </a:pPr>
            <a:r>
              <a:rPr lang="en-US" sz="1150" b="1" dirty="0">
                <a:solidFill>
                  <a:schemeClr val="tx2"/>
                </a:solidFill>
                <a:latin typeface="Arial" pitchFamily="34" charset="0"/>
                <a:ea typeface="Arial" pitchFamily="34" charset="-122"/>
                <a:cs typeface="Arial" pitchFamily="34" charset="-120"/>
              </a:rPr>
              <a:t>Export JSONL / CSV</a:t>
            </a:r>
            <a:endParaRPr lang="en-US" sz="1150" dirty="0"/>
          </a:p>
        </p:txBody>
      </p:sp>
      <p:sp>
        <p:nvSpPr>
          <p:cNvPr id="20" name="Shape 13"/>
          <p:cNvSpPr/>
          <p:nvPr/>
        </p:nvSpPr>
        <p:spPr>
          <a:xfrm>
            <a:off x="6620256" y="1280160"/>
            <a:ext cx="502920" cy="0"/>
          </a:xfrm>
          <a:prstGeom prst="line">
            <a:avLst/>
          </a:prstGeom>
          <a:noFill/>
          <a:ln w="15875">
            <a:solidFill>
              <a:srgbClr val="BBBBBB"/>
            </a:solidFill>
            <a:prstDash val="solid"/>
            <a:tailEnd type="triangle"/>
          </a:ln>
        </p:spPr>
      </p:sp>
      <p:sp>
        <p:nvSpPr>
          <p:cNvPr id="21" name="badge-FaSyncAlt"/>
          <p:cNvSpPr/>
          <p:nvPr/>
        </p:nvSpPr>
        <p:spPr>
          <a:xfrm>
            <a:off x="7754112" y="1051560"/>
            <a:ext cx="457200" cy="457200"/>
          </a:xfrm>
          <a:prstGeom prst="ellipse">
            <a:avLst/>
          </a:prstGeom>
          <a:solidFill>
            <a:schemeClr val="accent1"/>
          </a:solidFill>
          <a:ln/>
        </p:spPr>
      </p:sp>
      <p:pic>
        <p:nvPicPr>
          <p:cNvPr id="22" name="Image 5" descr="preencoded.png">    </p:cNvPr>
          <p:cNvPicPr>
            <a:picLocks noChangeAspect="1"/>
          </p:cNvPicPr>
          <p:nvPr/>
        </p:nvPicPr>
        <p:blipFill>
          <a:blip r:embed="rId6"/>
          <a:stretch>
            <a:fillRect/>
          </a:stretch>
        </p:blipFill>
        <p:spPr>
          <a:xfrm>
            <a:off x="7863840" y="1161288"/>
            <a:ext cx="237744" cy="237744"/>
          </a:xfrm>
          <a:prstGeom prst="rect">
            <a:avLst/>
          </a:prstGeom>
        </p:spPr>
      </p:pic>
      <p:sp>
        <p:nvSpPr>
          <p:cNvPr id="23" name="Text 15"/>
          <p:cNvSpPr txBox="1"/>
          <p:nvPr/>
        </p:nvSpPr>
        <p:spPr>
          <a:xfrm>
            <a:off x="7232904" y="1572768"/>
            <a:ext cx="1600200" cy="640080"/>
          </a:xfrm>
          <a:prstGeom prst="rect">
            <a:avLst/>
          </a:prstGeom>
          <a:noFill/>
          <a:ln/>
        </p:spPr>
        <p:txBody>
          <a:bodyPr wrap="square" lIns="0" tIns="0" rIns="0" bIns="0" rtlCol="0" anchor="t"/>
          <a:lstStyle/>
          <a:p>
            <a:pPr algn="ctr" indent="0" marL="0">
              <a:buNone/>
            </a:pPr>
            <a:r>
              <a:rPr lang="en-US" sz="1150" b="1" dirty="0">
                <a:solidFill>
                  <a:schemeClr val="tx2"/>
                </a:solidFill>
                <a:latin typeface="Arial" pitchFamily="34" charset="0"/>
                <a:ea typeface="Arial" pitchFamily="34" charset="-122"/>
                <a:cs typeface="Arial" pitchFamily="34" charset="-120"/>
              </a:rPr>
              <a:t>Prompt, base de connaissances ou fine-tuning</a:t>
            </a:r>
            <a:endParaRPr lang="en-US" sz="1150" dirty="0"/>
          </a:p>
        </p:txBody>
      </p:sp>
      <p:sp>
        <p:nvSpPr>
          <p:cNvPr id="24" name="Text 16"/>
          <p:cNvSpPr txBox="1"/>
          <p:nvPr/>
        </p:nvSpPr>
        <p:spPr>
          <a:xfrm>
            <a:off x="5486400" y="2377440"/>
            <a:ext cx="3200400" cy="2194560"/>
          </a:xfrm>
          <a:prstGeom prst="rect">
            <a:avLst/>
          </a:prstGeom>
          <a:noFill/>
          <a:ln/>
        </p:spPr>
        <p:txBody>
          <a:bodyPr wrap="square" lIns="0" tIns="0" rIns="0" bIns="0" rtlCol="0" anchor="t"/>
          <a:lstStyle/>
          <a:p>
            <a:pPr indent="0" marL="0">
              <a:buNone/>
            </a:pPr>
            <a:r>
              <a:rPr lang="en-US" sz="1300" b="1" dirty="0">
                <a:solidFill>
                  <a:schemeClr val="accent2"/>
                </a:solidFill>
                <a:latin typeface="Arial" pitchFamily="34" charset="0"/>
                <a:ea typeface="Arial" pitchFamily="34" charset="-122"/>
                <a:cs typeface="Arial" pitchFamily="34" charset="-120"/>
              </a:rPr>
              <a:t>Notre conseil : </a:t>
            </a:r>
            <a:pPr indent="0" marL="0">
              <a:buNone/>
            </a:pPr>
            <a:r>
              <a:rPr lang="en-US" sz="1300" dirty="0">
                <a:solidFill>
                  <a:schemeClr val="tx1"/>
                </a:solidFill>
                <a:latin typeface="Arial" pitchFamily="34" charset="0"/>
                <a:ea typeface="Arial" pitchFamily="34" charset="-122"/>
                <a:cs typeface="Arial" pitchFamily="34" charset="-120"/>
              </a:rPr>
              <a:t>la plupart des corrections passent d’abord par le prompt et la base de connaissances. Le fine-tuning vient ensuite, une fois un jeu d’exemples validé.</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Architecture : un front prêt à brancher</a:t>
            </a:r>
            <a:endParaRPr lang="en-US" sz="2400" dirty="0"/>
          </a:p>
        </p:txBody>
      </p:sp>
      <p:sp>
        <p:nvSpPr>
          <p:cNvPr id="3" name="Shape 1"/>
          <p:cNvSpPr/>
          <p:nvPr/>
        </p:nvSpPr>
        <p:spPr>
          <a:xfrm>
            <a:off x="457200" y="1188720"/>
            <a:ext cx="2377440" cy="1234440"/>
          </a:xfrm>
          <a:prstGeom prst="roundRect">
            <a:avLst>
              <a:gd name="adj" fmla="val 7407"/>
            </a:avLst>
          </a:prstGeom>
          <a:solidFill>
            <a:srgbClr val="F4F4F5"/>
          </a:solidFill>
          <a:ln/>
        </p:spPr>
      </p:sp>
      <p:sp>
        <p:nvSpPr>
          <p:cNvPr id="4" name="Text 2"/>
          <p:cNvSpPr txBox="1"/>
          <p:nvPr/>
        </p:nvSpPr>
        <p:spPr>
          <a:xfrm>
            <a:off x="594360" y="1280160"/>
            <a:ext cx="2103120" cy="1051560"/>
          </a:xfrm>
          <a:prstGeom prst="rect">
            <a:avLst/>
          </a:prstGeom>
          <a:noFill/>
          <a:ln/>
        </p:spPr>
        <p:txBody>
          <a:bodyPr wrap="square" lIns="0" tIns="0" rIns="0" bIns="0" rtlCol="0" anchor="ctr"/>
          <a:lstStyle/>
          <a:p>
            <a:pPr algn="ctr" indent="0" marL="0">
              <a:buNone/>
            </a:pPr>
            <a:r>
              <a:rPr lang="en-US" sz="1200" b="1" dirty="0">
                <a:solidFill>
                  <a:schemeClr val="tx2"/>
                </a:solidFill>
                <a:latin typeface="Arial" pitchFamily="34" charset="0"/>
                <a:ea typeface="Arial" pitchFamily="34" charset="-122"/>
                <a:cs typeface="Arial" pitchFamily="34" charset="-120"/>
              </a:rPr>
              <a:t>Front (ce prototype)</a:t>
            </a:r>
            <a:endParaRPr lang="en-US" sz="1200" dirty="0"/>
          </a:p>
          <a:p>
            <a:pPr algn="ctr" indent="0" marL="0">
              <a:buNone/>
            </a:pPr>
            <a:r>
              <a:rPr lang="en-US" sz="1200" dirty="0">
                <a:solidFill>
                  <a:schemeClr val="tx2"/>
                </a:solidFill>
                <a:latin typeface="Arial" pitchFamily="34" charset="0"/>
                <a:ea typeface="Arial" pitchFamily="34" charset="-122"/>
                <a:cs typeface="Arial" pitchFamily="34" charset="-120"/>
              </a:rPr>
              <a:t>HTML, CSS, JS · AgentClient · rendu des blocs · accessibilité</a:t>
            </a:r>
            <a:endParaRPr lang="en-US" sz="1200" dirty="0"/>
          </a:p>
        </p:txBody>
      </p:sp>
      <p:sp>
        <p:nvSpPr>
          <p:cNvPr id="5" name="Shape 3"/>
          <p:cNvSpPr/>
          <p:nvPr/>
        </p:nvSpPr>
        <p:spPr>
          <a:xfrm>
            <a:off x="3383280" y="1188720"/>
            <a:ext cx="2377440" cy="1234440"/>
          </a:xfrm>
          <a:prstGeom prst="roundRect">
            <a:avLst>
              <a:gd name="adj" fmla="val 7407"/>
            </a:avLst>
          </a:prstGeom>
          <a:solidFill>
            <a:srgbClr val="F4F4F5"/>
          </a:solidFill>
          <a:ln/>
        </p:spPr>
      </p:sp>
      <p:sp>
        <p:nvSpPr>
          <p:cNvPr id="6" name="Text 4"/>
          <p:cNvSpPr txBox="1"/>
          <p:nvPr/>
        </p:nvSpPr>
        <p:spPr>
          <a:xfrm>
            <a:off x="3520440" y="1280160"/>
            <a:ext cx="2103120" cy="1051560"/>
          </a:xfrm>
          <a:prstGeom prst="rect">
            <a:avLst/>
          </a:prstGeom>
          <a:noFill/>
          <a:ln/>
        </p:spPr>
        <p:txBody>
          <a:bodyPr wrap="square" lIns="0" tIns="0" rIns="0" bIns="0" rtlCol="0" anchor="ctr"/>
          <a:lstStyle/>
          <a:p>
            <a:pPr algn="ctr" indent="0" marL="0">
              <a:buNone/>
            </a:pPr>
            <a:r>
              <a:rPr lang="en-US" sz="1200" b="1" dirty="0">
                <a:solidFill>
                  <a:schemeClr val="tx2"/>
                </a:solidFill>
                <a:latin typeface="Arial" pitchFamily="34" charset="0"/>
                <a:ea typeface="Arial" pitchFamily="34" charset="-122"/>
                <a:cs typeface="Arial" pitchFamily="34" charset="-120"/>
              </a:rPr>
              <a:t>API backend (à construire)</a:t>
            </a:r>
            <a:endParaRPr lang="en-US" sz="1200" dirty="0"/>
          </a:p>
          <a:p>
            <a:pPr algn="ctr" indent="0" marL="0">
              <a:buNone/>
            </a:pPr>
            <a:r>
              <a:rPr lang="en-US" sz="1200" dirty="0">
                <a:solidFill>
                  <a:schemeClr val="tx2"/>
                </a:solidFill>
                <a:latin typeface="Arial" pitchFamily="34" charset="0"/>
                <a:ea typeface="Arial" pitchFamily="34" charset="-122"/>
                <a:cs typeface="Arial" pitchFamily="34" charset="-120"/>
              </a:rPr>
              <a:t>/api/agent · /feedback · session, traçabilité, exécution</a:t>
            </a:r>
            <a:endParaRPr lang="en-US" sz="1200" dirty="0"/>
          </a:p>
        </p:txBody>
      </p:sp>
      <p:sp>
        <p:nvSpPr>
          <p:cNvPr id="7" name="Shape 5"/>
          <p:cNvSpPr/>
          <p:nvPr/>
        </p:nvSpPr>
        <p:spPr>
          <a:xfrm>
            <a:off x="6309360" y="914400"/>
            <a:ext cx="2377440" cy="777240"/>
          </a:xfrm>
          <a:prstGeom prst="roundRect">
            <a:avLst>
              <a:gd name="adj" fmla="val 11765"/>
            </a:avLst>
          </a:prstGeom>
          <a:solidFill>
            <a:srgbClr val="C5000E"/>
          </a:solidFill>
          <a:ln/>
        </p:spPr>
      </p:sp>
      <p:sp>
        <p:nvSpPr>
          <p:cNvPr id="8" name="Text 6"/>
          <p:cNvSpPr txBox="1"/>
          <p:nvPr/>
        </p:nvSpPr>
        <p:spPr>
          <a:xfrm>
            <a:off x="6446520" y="1005840"/>
            <a:ext cx="2103120" cy="594360"/>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Groq (principal)</a:t>
            </a:r>
            <a:endParaRPr lang="en-US" sz="1200" dirty="0"/>
          </a:p>
          <a:p>
            <a:pPr algn="ctr" indent="0" marL="0">
              <a:buNone/>
            </a:pPr>
            <a:r>
              <a:rPr lang="en-US" sz="1200" dirty="0">
                <a:solidFill>
                  <a:schemeClr val="bg1"/>
                </a:solidFill>
                <a:latin typeface="Arial" pitchFamily="34" charset="0"/>
                <a:ea typeface="Arial" pitchFamily="34" charset="-122"/>
                <a:cs typeface="Arial" pitchFamily="34" charset="-120"/>
              </a:rPr>
              <a:t>modèle à choisir</a:t>
            </a:r>
            <a:endParaRPr lang="en-US" sz="1200" dirty="0"/>
          </a:p>
        </p:txBody>
      </p:sp>
      <p:sp>
        <p:nvSpPr>
          <p:cNvPr id="9" name="Shape 7"/>
          <p:cNvSpPr/>
          <p:nvPr/>
        </p:nvSpPr>
        <p:spPr>
          <a:xfrm>
            <a:off x="6309360" y="1920240"/>
            <a:ext cx="2377440" cy="777240"/>
          </a:xfrm>
          <a:prstGeom prst="roundRect">
            <a:avLst>
              <a:gd name="adj" fmla="val 11765"/>
            </a:avLst>
          </a:prstGeom>
          <a:solidFill>
            <a:srgbClr val="3E454A"/>
          </a:solidFill>
          <a:ln/>
        </p:spPr>
      </p:sp>
      <p:sp>
        <p:nvSpPr>
          <p:cNvPr id="10" name="Text 8"/>
          <p:cNvSpPr txBox="1"/>
          <p:nvPr/>
        </p:nvSpPr>
        <p:spPr>
          <a:xfrm>
            <a:off x="6446520" y="2011680"/>
            <a:ext cx="2103120" cy="594360"/>
          </a:xfrm>
          <a:prstGeom prst="rect">
            <a:avLst/>
          </a:prstGeom>
          <a:noFill/>
          <a:ln/>
        </p:spPr>
        <p:txBody>
          <a:bodyPr wrap="square" lIns="0" tIns="0" rIns="0" bIns="0" rtlCol="0" anchor="ctr"/>
          <a:lstStyle/>
          <a:p>
            <a:pPr algn="ctr" indent="0" marL="0">
              <a:buNone/>
            </a:pPr>
            <a:r>
              <a:rPr lang="en-US" sz="1200" b="1" dirty="0">
                <a:solidFill>
                  <a:schemeClr val="bg1"/>
                </a:solidFill>
                <a:latin typeface="Arial" pitchFamily="34" charset="0"/>
                <a:ea typeface="Arial" pitchFamily="34" charset="-122"/>
                <a:cs typeface="Arial" pitchFamily="34" charset="-120"/>
              </a:rPr>
              <a:t>Fournisseur de secours</a:t>
            </a:r>
            <a:endParaRPr lang="en-US" sz="1200" dirty="0"/>
          </a:p>
          <a:p>
            <a:pPr algn="ctr" indent="0" marL="0">
              <a:buNone/>
            </a:pPr>
            <a:r>
              <a:rPr lang="en-US" sz="1200" dirty="0">
                <a:solidFill>
                  <a:schemeClr val="bg1"/>
                </a:solidFill>
                <a:latin typeface="Arial" pitchFamily="34" charset="0"/>
                <a:ea typeface="Arial" pitchFamily="34" charset="-122"/>
                <a:cs typeface="Arial" pitchFamily="34" charset="-120"/>
              </a:rPr>
              <a:t>si erreur ou délai dépassé</a:t>
            </a:r>
            <a:endParaRPr lang="en-US" sz="1200" dirty="0"/>
          </a:p>
        </p:txBody>
      </p:sp>
      <p:sp>
        <p:nvSpPr>
          <p:cNvPr id="11" name="Shape 9"/>
          <p:cNvSpPr/>
          <p:nvPr/>
        </p:nvSpPr>
        <p:spPr>
          <a:xfrm>
            <a:off x="2852928" y="1801368"/>
            <a:ext cx="512064" cy="0"/>
          </a:xfrm>
          <a:prstGeom prst="line">
            <a:avLst/>
          </a:prstGeom>
          <a:noFill/>
          <a:ln w="19050">
            <a:solidFill>
              <a:srgbClr val="888888"/>
            </a:solidFill>
            <a:prstDash val="solid"/>
            <a:headEnd type="triangle"/>
            <a:tailEnd type="triangle"/>
          </a:ln>
        </p:spPr>
      </p:sp>
      <p:sp>
        <p:nvSpPr>
          <p:cNvPr id="12" name="Shape 10"/>
          <p:cNvSpPr/>
          <p:nvPr/>
        </p:nvSpPr>
        <p:spPr>
          <a:xfrm flipV="1">
            <a:off x="5779008" y="1325880"/>
            <a:ext cx="512064" cy="274320"/>
          </a:xfrm>
          <a:prstGeom prst="line">
            <a:avLst/>
          </a:prstGeom>
          <a:noFill/>
          <a:ln w="19050">
            <a:solidFill>
              <a:srgbClr val="888888"/>
            </a:solidFill>
            <a:prstDash val="solid"/>
            <a:tailEnd type="triangle"/>
          </a:ln>
        </p:spPr>
      </p:sp>
      <p:sp>
        <p:nvSpPr>
          <p:cNvPr id="13" name="Shape 11"/>
          <p:cNvSpPr/>
          <p:nvPr/>
        </p:nvSpPr>
        <p:spPr>
          <a:xfrm>
            <a:off x="5779008" y="2011680"/>
            <a:ext cx="512064" cy="274320"/>
          </a:xfrm>
          <a:prstGeom prst="line">
            <a:avLst/>
          </a:prstGeom>
          <a:noFill/>
          <a:ln w="19050">
            <a:solidFill>
              <a:srgbClr val="888888"/>
            </a:solidFill>
            <a:prstDash val="solid"/>
            <a:tailEnd type="triangle"/>
          </a:ln>
        </p:spPr>
      </p:sp>
      <p:sp>
        <p:nvSpPr>
          <p:cNvPr id="14" name="Shape 12"/>
          <p:cNvSpPr/>
          <p:nvPr/>
        </p:nvSpPr>
        <p:spPr>
          <a:xfrm>
            <a:off x="457200" y="2880360"/>
            <a:ext cx="4023360" cy="1051560"/>
          </a:xfrm>
          <a:prstGeom prst="roundRect">
            <a:avLst>
              <a:gd name="adj" fmla="val 8696"/>
            </a:avLst>
          </a:prstGeom>
          <a:solidFill>
            <a:schemeClr val="bg2"/>
          </a:solidFill>
          <a:ln/>
        </p:spPr>
      </p:sp>
      <p:sp>
        <p:nvSpPr>
          <p:cNvPr id="15" name="Text 13"/>
          <p:cNvSpPr txBox="1"/>
          <p:nvPr/>
        </p:nvSpPr>
        <p:spPr>
          <a:xfrm>
            <a:off x="640080" y="2999232"/>
            <a:ext cx="3657600" cy="868680"/>
          </a:xfrm>
          <a:prstGeom prst="rect">
            <a:avLst/>
          </a:prstGeom>
          <a:noFill/>
          <a:ln/>
        </p:spPr>
        <p:txBody>
          <a:bodyPr wrap="square" lIns="0" tIns="0" rIns="0" bIns="0" rtlCol="0" anchor="t"/>
          <a:lstStyle/>
          <a:p>
            <a:pPr indent="0" marL="0">
              <a:buNone/>
            </a:pPr>
            <a:r>
              <a:rPr lang="en-US" sz="1200" b="1" dirty="0">
                <a:solidFill>
                  <a:schemeClr val="accent2"/>
                </a:solidFill>
                <a:latin typeface="Arial" pitchFamily="34" charset="0"/>
                <a:ea typeface="Arial" pitchFamily="34" charset="-122"/>
                <a:cs typeface="Arial" pitchFamily="34" charset="-120"/>
              </a:rPr>
              <a:t>Envoyé par le front</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texte ou action · context.locale · context.a11y (taille, police, langage simplifié, voix)</a:t>
            </a:r>
            <a:endParaRPr lang="en-US" sz="1200" dirty="0"/>
          </a:p>
        </p:txBody>
      </p:sp>
      <p:sp>
        <p:nvSpPr>
          <p:cNvPr id="16" name="Shape 14"/>
          <p:cNvSpPr/>
          <p:nvPr/>
        </p:nvSpPr>
        <p:spPr>
          <a:xfrm>
            <a:off x="4663440" y="2880360"/>
            <a:ext cx="4023360" cy="1051560"/>
          </a:xfrm>
          <a:prstGeom prst="roundRect">
            <a:avLst>
              <a:gd name="adj" fmla="val 8696"/>
            </a:avLst>
          </a:prstGeom>
          <a:solidFill>
            <a:schemeClr val="bg2"/>
          </a:solidFill>
          <a:ln/>
        </p:spPr>
      </p:sp>
      <p:sp>
        <p:nvSpPr>
          <p:cNvPr id="17" name="Text 15"/>
          <p:cNvSpPr txBox="1"/>
          <p:nvPr/>
        </p:nvSpPr>
        <p:spPr>
          <a:xfrm>
            <a:off x="4846320" y="2999232"/>
            <a:ext cx="3657600" cy="868680"/>
          </a:xfrm>
          <a:prstGeom prst="rect">
            <a:avLst/>
          </a:prstGeom>
          <a:noFill/>
          <a:ln/>
        </p:spPr>
        <p:txBody>
          <a:bodyPr wrap="square" lIns="0" tIns="0" rIns="0" bIns="0" rtlCol="0" anchor="t"/>
          <a:lstStyle/>
          <a:p>
            <a:pPr indent="0" marL="0">
              <a:buNone/>
            </a:pPr>
            <a:r>
              <a:rPr lang="en-US" sz="1200" b="1" dirty="0">
                <a:solidFill>
                  <a:schemeClr val="accent2"/>
                </a:solidFill>
                <a:latin typeface="Arial" pitchFamily="34" charset="0"/>
                <a:ea typeface="Arial" pitchFamily="34" charset="-122"/>
                <a:cs typeface="Arial" pitchFamily="34" charset="-120"/>
              </a:rPr>
              <a:t>Renvoyé par l’agent</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blocs : texte (+ version simple), choix, formulaire, confirmation, succès, sources… · meta.usage (tokens) · meta.model (groq ou secours)</a:t>
            </a:r>
            <a:endParaRPr lang="en-US" sz="1200" dirty="0"/>
          </a:p>
        </p:txBody>
      </p:sp>
      <p:sp>
        <p:nvSpPr>
          <p:cNvPr id="18" name="badge-FaLock"/>
          <p:cNvSpPr/>
          <p:nvPr/>
        </p:nvSpPr>
        <p:spPr>
          <a:xfrm>
            <a:off x="457200" y="4069080"/>
            <a:ext cx="384048" cy="384048"/>
          </a:xfrm>
          <a:prstGeom prst="ellipse">
            <a:avLst/>
          </a:prstGeom>
          <a:solidFill>
            <a:schemeClr val="accent1"/>
          </a:solidFill>
          <a:ln/>
        </p:spPr>
      </p:sp>
      <p:pic>
        <p:nvPicPr>
          <p:cNvPr id="19" name="Image 0" descr="preencoded.png">    </p:cNvPr>
          <p:cNvPicPr>
            <a:picLocks noChangeAspect="1"/>
          </p:cNvPicPr>
          <p:nvPr/>
        </p:nvPicPr>
        <p:blipFill>
          <a:blip r:embed="rId1"/>
          <a:stretch>
            <a:fillRect/>
          </a:stretch>
        </p:blipFill>
        <p:spPr>
          <a:xfrm>
            <a:off x="549372" y="4161252"/>
            <a:ext cx="199705" cy="199705"/>
          </a:xfrm>
          <a:prstGeom prst="rect">
            <a:avLst/>
          </a:prstGeom>
        </p:spPr>
      </p:pic>
      <p:sp>
        <p:nvSpPr>
          <p:cNvPr id="20" name="Text 17"/>
          <p:cNvSpPr txBox="1"/>
          <p:nvPr/>
        </p:nvSpPr>
        <p:spPr>
          <a:xfrm>
            <a:off x="1005840" y="4050792"/>
            <a:ext cx="7680960" cy="60350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Sécurité</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Un clic sur Confirmer envoie seulement un identifiant : le serveur exécute, trace et vérifie l’identité depuis la session, jamais depuis le modèle.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8046720" cy="457200"/>
          </a:xfrm>
          <a:prstGeom prst="rect">
            <a:avLst/>
          </a:prstGeom>
          <a:noFill/>
          <a:ln/>
        </p:spPr>
        <p:txBody>
          <a:bodyPr wrap="square" rtlCol="0"/>
          <a:lstStyle/>
          <a:p>
            <a:pPr indent="0" marL="0">
              <a:buNone/>
            </a:pPr>
            <a:r>
              <a:rPr lang="en-US" sz="1600" b="1" dirty="0">
                <a:solidFill>
                  <a:schemeClr val="bg1"/>
                </a:solidFill>
              </a:rPr>
              <a:t>05</a:t>
            </a:r>
            <a:endParaRPr lang="en-US" sz="1600" dirty="0"/>
          </a:p>
        </p:txBody>
      </p:sp>
      <p:sp>
        <p:nvSpPr>
          <p:cNvPr id="3" name="Text 0"/>
          <p:cNvSpPr/>
          <p:nvPr>
            <p:ph idx="101" type="title" hasCustomPrompt="1"/>
          </p:nvPr>
        </p:nvSpPr>
        <p:spPr>
          <a:xfrm>
            <a:off x="548640" y="1874520"/>
            <a:ext cx="8046720" cy="1097280"/>
          </a:xfrm>
          <a:prstGeom prst="rect">
            <a:avLst/>
          </a:prstGeom>
          <a:noFill/>
          <a:ln/>
        </p:spPr>
        <p:txBody>
          <a:bodyPr wrap="square" rtlCol="0" anchor="t"/>
          <a:lstStyle/>
          <a:p>
            <a:pPr algn="l" indent="0" marL="0">
              <a:buNone/>
            </a:pPr>
            <a:r>
              <a:rPr lang="en-US" sz="3600" b="1" dirty="0">
                <a:solidFill>
                  <a:schemeClr val="bg1"/>
                </a:solidFill>
              </a:rPr>
              <a:t>Conformité et suite</a:t>
            </a:r>
            <a:endParaRPr lang="en-US" sz="3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Le niveau de conformité que nous recommandons</a:t>
            </a:r>
            <a:endParaRPr lang="en-US" sz="2400" dirty="0"/>
          </a:p>
        </p:txBody>
      </p:sp>
      <p:sp>
        <p:nvSpPr>
          <p:cNvPr id="3" name="Shape 1"/>
          <p:cNvSpPr/>
          <p:nvPr/>
        </p:nvSpPr>
        <p:spPr>
          <a:xfrm>
            <a:off x="457200" y="1051560"/>
            <a:ext cx="2606040" cy="2468880"/>
          </a:xfrm>
          <a:prstGeom prst="roundRect">
            <a:avLst>
              <a:gd name="adj" fmla="val 3704"/>
            </a:avLst>
          </a:prstGeom>
          <a:solidFill>
            <a:schemeClr val="bg2"/>
          </a:solidFill>
          <a:ln/>
        </p:spPr>
      </p:sp>
      <p:sp>
        <p:nvSpPr>
          <p:cNvPr id="4" name="badge-FaGavel"/>
          <p:cNvSpPr/>
          <p:nvPr/>
        </p:nvSpPr>
        <p:spPr>
          <a:xfrm>
            <a:off x="685800" y="1234440"/>
            <a:ext cx="502920" cy="502920"/>
          </a:xfrm>
          <a:prstGeom prst="ellipse">
            <a:avLst/>
          </a:prstGeom>
          <a:solidFill>
            <a:srgbClr val="9E000B"/>
          </a:solidFill>
          <a:ln/>
        </p:spPr>
      </p:sp>
      <p:pic>
        <p:nvPicPr>
          <p:cNvPr id="5" name="Image 0" descr="preencoded.png">    </p:cNvPr>
          <p:cNvPicPr>
            <a:picLocks noChangeAspect="1"/>
          </p:cNvPicPr>
          <p:nvPr/>
        </p:nvPicPr>
        <p:blipFill>
          <a:blip r:embed="rId1"/>
          <a:stretch>
            <a:fillRect/>
          </a:stretch>
        </p:blipFill>
        <p:spPr>
          <a:xfrm>
            <a:off x="806501" y="1355141"/>
            <a:ext cx="261518" cy="261518"/>
          </a:xfrm>
          <a:prstGeom prst="rect">
            <a:avLst/>
          </a:prstGeom>
        </p:spPr>
      </p:pic>
      <p:sp>
        <p:nvSpPr>
          <p:cNvPr id="6" name="Text 3"/>
          <p:cNvSpPr txBox="1"/>
          <p:nvPr/>
        </p:nvSpPr>
        <p:spPr>
          <a:xfrm>
            <a:off x="1325880" y="1280160"/>
            <a:ext cx="1645920" cy="411480"/>
          </a:xfrm>
          <a:prstGeom prst="rect">
            <a:avLst/>
          </a:prstGeom>
          <a:noFill/>
          <a:ln/>
        </p:spPr>
        <p:txBody>
          <a:bodyPr wrap="square" lIns="0" tIns="0" rIns="0" bIns="0" rtlCol="0" anchor="ctr"/>
          <a:lstStyle/>
          <a:p>
            <a:pPr indent="0" marL="0">
              <a:buNone/>
            </a:pPr>
            <a:r>
              <a:rPr lang="en-US" sz="1600" b="1" dirty="0">
                <a:solidFill>
                  <a:schemeClr val="tx2"/>
                </a:solidFill>
                <a:latin typeface="Arial" pitchFamily="34" charset="0"/>
                <a:ea typeface="Arial" pitchFamily="34" charset="-122"/>
                <a:cs typeface="Arial" pitchFamily="34" charset="-120"/>
              </a:rPr>
              <a:t>Obligatoire</a:t>
            </a:r>
            <a:endParaRPr lang="en-US" sz="1600" dirty="0"/>
          </a:p>
        </p:txBody>
      </p:sp>
      <p:sp>
        <p:nvSpPr>
          <p:cNvPr id="7" name="Text 4"/>
          <p:cNvSpPr txBox="1"/>
          <p:nvPr/>
        </p:nvSpPr>
        <p:spPr>
          <a:xfrm>
            <a:off x="685800" y="1874520"/>
            <a:ext cx="2194560" cy="1600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RGAA 4.1.2 niveau AA (base WCAG 2.1 AA) et norme EN 301 549, imposés par l’European Accessibility Act. Déclaration d’accessibilité publiée.</a:t>
            </a:r>
            <a:endParaRPr lang="en-US" sz="1200" dirty="0"/>
          </a:p>
        </p:txBody>
      </p:sp>
      <p:sp>
        <p:nvSpPr>
          <p:cNvPr id="8" name="Shape 5"/>
          <p:cNvSpPr/>
          <p:nvPr/>
        </p:nvSpPr>
        <p:spPr>
          <a:xfrm>
            <a:off x="3246120" y="1051560"/>
            <a:ext cx="2606040" cy="2468880"/>
          </a:xfrm>
          <a:prstGeom prst="roundRect">
            <a:avLst>
              <a:gd name="adj" fmla="val 3704"/>
            </a:avLst>
          </a:prstGeom>
          <a:solidFill>
            <a:schemeClr val="bg2"/>
          </a:solidFill>
          <a:ln/>
        </p:spPr>
      </p:sp>
      <p:sp>
        <p:nvSpPr>
          <p:cNvPr id="9" name="badge-FaArrowUp"/>
          <p:cNvSpPr/>
          <p:nvPr/>
        </p:nvSpPr>
        <p:spPr>
          <a:xfrm>
            <a:off x="3474720" y="1234440"/>
            <a:ext cx="502920" cy="502920"/>
          </a:xfrm>
          <a:prstGeom prst="ellipse">
            <a:avLst/>
          </a:prstGeom>
          <a:solidFill>
            <a:srgbClr val="C5000E"/>
          </a:solidFill>
          <a:ln/>
        </p:spPr>
      </p:sp>
      <p:pic>
        <p:nvPicPr>
          <p:cNvPr id="10" name="Image 1" descr="preencoded.png">    </p:cNvPr>
          <p:cNvPicPr>
            <a:picLocks noChangeAspect="1"/>
          </p:cNvPicPr>
          <p:nvPr/>
        </p:nvPicPr>
        <p:blipFill>
          <a:blip r:embed="rId2"/>
          <a:stretch>
            <a:fillRect/>
          </a:stretch>
        </p:blipFill>
        <p:spPr>
          <a:xfrm>
            <a:off x="3595421" y="1355141"/>
            <a:ext cx="261518" cy="261518"/>
          </a:xfrm>
          <a:prstGeom prst="rect">
            <a:avLst/>
          </a:prstGeom>
        </p:spPr>
      </p:pic>
      <p:sp>
        <p:nvSpPr>
          <p:cNvPr id="11" name="Text 7"/>
          <p:cNvSpPr txBox="1"/>
          <p:nvPr/>
        </p:nvSpPr>
        <p:spPr>
          <a:xfrm>
            <a:off x="4114800" y="1280160"/>
            <a:ext cx="1645920" cy="411480"/>
          </a:xfrm>
          <a:prstGeom prst="rect">
            <a:avLst/>
          </a:prstGeom>
          <a:noFill/>
          <a:ln/>
        </p:spPr>
        <p:txBody>
          <a:bodyPr wrap="square" lIns="0" tIns="0" rIns="0" bIns="0" rtlCol="0" anchor="ctr"/>
          <a:lstStyle/>
          <a:p>
            <a:pPr indent="0" marL="0">
              <a:buNone/>
            </a:pPr>
            <a:r>
              <a:rPr lang="en-US" sz="1600" b="1" dirty="0">
                <a:solidFill>
                  <a:schemeClr val="tx2"/>
                </a:solidFill>
                <a:latin typeface="Arial" pitchFamily="34" charset="0"/>
                <a:ea typeface="Arial" pitchFamily="34" charset="-122"/>
                <a:cs typeface="Arial" pitchFamily="34" charset="-120"/>
              </a:rPr>
              <a:t>En avance</a:t>
            </a:r>
            <a:endParaRPr lang="en-US" sz="1600" dirty="0"/>
          </a:p>
        </p:txBody>
      </p:sp>
      <p:sp>
        <p:nvSpPr>
          <p:cNvPr id="12" name="Text 8"/>
          <p:cNvSpPr txBox="1"/>
          <p:nvPr/>
        </p:nvSpPr>
        <p:spPr>
          <a:xfrm>
            <a:off x="3474720" y="1874520"/>
            <a:ext cx="2194560" cy="1600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WCAG 2.2 AA : focus jamais masqué, cibles d’au moins 24 px, aide toujours au même endroit, authentification sans mémorisation.</a:t>
            </a:r>
            <a:endParaRPr lang="en-US" sz="1200" dirty="0"/>
          </a:p>
        </p:txBody>
      </p:sp>
      <p:sp>
        <p:nvSpPr>
          <p:cNvPr id="13" name="Shape 9"/>
          <p:cNvSpPr/>
          <p:nvPr/>
        </p:nvSpPr>
        <p:spPr>
          <a:xfrm>
            <a:off x="6035040" y="1051560"/>
            <a:ext cx="2606040" cy="2468880"/>
          </a:xfrm>
          <a:prstGeom prst="roundRect">
            <a:avLst>
              <a:gd name="adj" fmla="val 3704"/>
            </a:avLst>
          </a:prstGeom>
          <a:solidFill>
            <a:schemeClr val="bg2"/>
          </a:solidFill>
          <a:ln/>
        </p:spPr>
      </p:sp>
      <p:sp>
        <p:nvSpPr>
          <p:cNvPr id="14" name="badge-FaStar"/>
          <p:cNvSpPr/>
          <p:nvPr/>
        </p:nvSpPr>
        <p:spPr>
          <a:xfrm>
            <a:off x="6263640" y="1234440"/>
            <a:ext cx="502920" cy="502920"/>
          </a:xfrm>
          <a:prstGeom prst="ellipse">
            <a:avLst/>
          </a:prstGeom>
          <a:solidFill>
            <a:srgbClr val="3E454A"/>
          </a:solidFill>
          <a:ln/>
        </p:spPr>
      </p:sp>
      <p:pic>
        <p:nvPicPr>
          <p:cNvPr id="15" name="Image 2" descr="preencoded.png">    </p:cNvPr>
          <p:cNvPicPr>
            <a:picLocks noChangeAspect="1"/>
          </p:cNvPicPr>
          <p:nvPr/>
        </p:nvPicPr>
        <p:blipFill>
          <a:blip r:embed="rId3"/>
          <a:stretch>
            <a:fillRect/>
          </a:stretch>
        </p:blipFill>
        <p:spPr>
          <a:xfrm>
            <a:off x="6384341" y="1355141"/>
            <a:ext cx="261518" cy="261518"/>
          </a:xfrm>
          <a:prstGeom prst="rect">
            <a:avLst/>
          </a:prstGeom>
        </p:spPr>
      </p:pic>
      <p:sp>
        <p:nvSpPr>
          <p:cNvPr id="16" name="Text 11"/>
          <p:cNvSpPr txBox="1"/>
          <p:nvPr/>
        </p:nvSpPr>
        <p:spPr>
          <a:xfrm>
            <a:off x="6903720" y="1280160"/>
            <a:ext cx="1645920" cy="411480"/>
          </a:xfrm>
          <a:prstGeom prst="rect">
            <a:avLst/>
          </a:prstGeom>
          <a:noFill/>
          <a:ln/>
        </p:spPr>
        <p:txBody>
          <a:bodyPr wrap="square" lIns="0" tIns="0" rIns="0" bIns="0" rtlCol="0" anchor="ctr"/>
          <a:lstStyle/>
          <a:p>
            <a:pPr indent="0" marL="0">
              <a:buNone/>
            </a:pPr>
            <a:r>
              <a:rPr lang="en-US" sz="1600" b="1" dirty="0">
                <a:solidFill>
                  <a:schemeClr val="tx2"/>
                </a:solidFill>
                <a:latin typeface="Arial" pitchFamily="34" charset="0"/>
                <a:ea typeface="Arial" pitchFamily="34" charset="-122"/>
                <a:cs typeface="Arial" pitchFamily="34" charset="-120"/>
              </a:rPr>
              <a:t>Bonus visibles (AAA)</a:t>
            </a:r>
            <a:endParaRPr lang="en-US" sz="1600" dirty="0"/>
          </a:p>
        </p:txBody>
      </p:sp>
      <p:sp>
        <p:nvSpPr>
          <p:cNvPr id="17" name="Text 12"/>
          <p:cNvSpPr txBox="1"/>
          <p:nvPr/>
        </p:nvSpPr>
        <p:spPr>
          <a:xfrm>
            <a:off x="6263640" y="1874520"/>
            <a:ext cx="2194560" cy="1600200"/>
          </a:xfrm>
          <a:prstGeom prst="rect">
            <a:avLst/>
          </a:prstGeom>
          <a:noFill/>
          <a:ln/>
        </p:spPr>
        <p:txBody>
          <a:bodyPr wrap="square" lIns="0" tIns="0" rIns="0" bIns="0" rtlCol="0" anchor="t"/>
          <a:lstStyle/>
          <a:p>
            <a:pPr indent="0" marL="0">
              <a:buNone/>
            </a:pPr>
            <a:r>
              <a:rPr lang="en-US" sz="1200" dirty="0">
                <a:solidFill>
                  <a:schemeClr val="tx1"/>
                </a:solidFill>
                <a:latin typeface="Arial" pitchFamily="34" charset="0"/>
                <a:ea typeface="Arial" pitchFamily="34" charset="-122"/>
                <a:cs typeface="Arial" pitchFamily="34" charset="-120"/>
              </a:rPr>
              <a:t>Contraste 7:1 en mode renforcé, cibles de 44 px, langage simplifié, animations désactivables.</a:t>
            </a:r>
            <a:endParaRPr lang="en-US" sz="1200" dirty="0"/>
          </a:p>
        </p:txBody>
      </p:sp>
      <p:sp>
        <p:nvSpPr>
          <p:cNvPr id="18" name="badge-FaUserCheck"/>
          <p:cNvSpPr/>
          <p:nvPr/>
        </p:nvSpPr>
        <p:spPr>
          <a:xfrm>
            <a:off x="457200" y="3749040"/>
            <a:ext cx="411480" cy="411480"/>
          </a:xfrm>
          <a:prstGeom prst="ellipse">
            <a:avLst/>
          </a:prstGeom>
          <a:solidFill>
            <a:schemeClr val="accent1"/>
          </a:solidFill>
          <a:ln/>
        </p:spPr>
      </p:sp>
      <p:pic>
        <p:nvPicPr>
          <p:cNvPr id="19" name="Image 3" descr="preencoded.png">    </p:cNvPr>
          <p:cNvPicPr>
            <a:picLocks noChangeAspect="1"/>
          </p:cNvPicPr>
          <p:nvPr/>
        </p:nvPicPr>
        <p:blipFill>
          <a:blip r:embed="rId4"/>
          <a:stretch>
            <a:fillRect/>
          </a:stretch>
        </p:blipFill>
        <p:spPr>
          <a:xfrm>
            <a:off x="555955" y="3847795"/>
            <a:ext cx="213970" cy="213970"/>
          </a:xfrm>
          <a:prstGeom prst="rect">
            <a:avLst/>
          </a:prstGeom>
        </p:spPr>
      </p:pic>
      <p:sp>
        <p:nvSpPr>
          <p:cNvPr id="20" name="Text 14"/>
          <p:cNvSpPr txBox="1"/>
          <p:nvPr/>
        </p:nvSpPr>
        <p:spPr>
          <a:xfrm>
            <a:off x="1033272" y="3730752"/>
            <a:ext cx="7653528" cy="832104"/>
          </a:xfrm>
          <a:prstGeom prst="rect">
            <a:avLst/>
          </a:prstGeom>
          <a:noFill/>
          <a:ln/>
        </p:spPr>
        <p:txBody>
          <a:bodyPr wrap="square" lIns="0" tIns="0" rIns="0" bIns="0" rtlCol="0" anchor="t"/>
          <a:lstStyle/>
          <a:p>
            <a:pPr indent="0" marL="0">
              <a:spcAft>
                <a:spcPts val="200"/>
              </a:spcAft>
              <a:buNone/>
            </a:pPr>
            <a:r>
              <a:rPr lang="en-US" sz="1300" b="1" dirty="0">
                <a:solidFill>
                  <a:schemeClr val="tx2"/>
                </a:solidFill>
                <a:latin typeface="Arial" pitchFamily="34" charset="0"/>
                <a:ea typeface="Arial" pitchFamily="34" charset="-122"/>
                <a:cs typeface="Arial" pitchFamily="34" charset="-120"/>
              </a:rPr>
              <a:t>Prouver plutôt que promettre</a:t>
            </a:r>
            <a:endParaRPr lang="en-US" sz="1300" dirty="0"/>
          </a:p>
          <a:p>
            <a:pPr indent="0" marL="0">
              <a:spcAft>
                <a:spcPts val="200"/>
              </a:spcAft>
              <a:buNone/>
            </a:pPr>
            <a:r>
              <a:rPr lang="en-US" sz="1300" dirty="0">
                <a:solidFill>
                  <a:schemeClr val="tx1"/>
                </a:solidFill>
                <a:latin typeface="Arial" pitchFamily="34" charset="0"/>
                <a:ea typeface="Arial" pitchFamily="34" charset="-122"/>
                <a:cs typeface="Arial" pitchFamily="34" charset="-120"/>
              </a:rPr>
              <a:t>Audit RGAA par un tiers, tests avec NVDA, JAWS, VoiceOver et TalkBack, tests utilisateurs avec des personnes concernées, textes FALC relus.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Ce qui reste à confirmer avec BPCE</a:t>
            </a:r>
            <a:endParaRPr lang="en-US" sz="2400" dirty="0"/>
          </a:p>
        </p:txBody>
      </p:sp>
      <p:sp>
        <p:nvSpPr>
          <p:cNvPr id="3" name="badge-FaUniversity"/>
          <p:cNvSpPr/>
          <p:nvPr/>
        </p:nvSpPr>
        <p:spPr>
          <a:xfrm>
            <a:off x="457200" y="1097280"/>
            <a:ext cx="411480" cy="411480"/>
          </a:xfrm>
          <a:prstGeom prst="ellipse">
            <a:avLst/>
          </a:prstGeom>
          <a:solidFill>
            <a:schemeClr val="accent6"/>
          </a:solidFill>
          <a:ln/>
        </p:spPr>
      </p:sp>
      <p:pic>
        <p:nvPicPr>
          <p:cNvPr id="4" name="Image 0" descr="preencoded.png">    </p:cNvPr>
          <p:cNvPicPr>
            <a:picLocks noChangeAspect="1"/>
          </p:cNvPicPr>
          <p:nvPr/>
        </p:nvPicPr>
        <p:blipFill>
          <a:blip r:embed="rId1"/>
          <a:stretch>
            <a:fillRect/>
          </a:stretch>
        </p:blipFill>
        <p:spPr>
          <a:xfrm>
            <a:off x="555955" y="1196035"/>
            <a:ext cx="213970" cy="213970"/>
          </a:xfrm>
          <a:prstGeom prst="rect">
            <a:avLst/>
          </a:prstGeom>
        </p:spPr>
      </p:pic>
      <p:sp>
        <p:nvSpPr>
          <p:cNvPr id="5" name="Text 2"/>
          <p:cNvSpPr txBox="1"/>
          <p:nvPr/>
        </p:nvSpPr>
        <p:spPr>
          <a:xfrm>
            <a:off x="1024128" y="1051560"/>
            <a:ext cx="3474720" cy="1097280"/>
          </a:xfrm>
          <a:prstGeom prst="rect">
            <a:avLst/>
          </a:prstGeom>
          <a:noFill/>
          <a:ln/>
        </p:spPr>
        <p:txBody>
          <a:bodyPr wrap="square" lIns="0" tIns="0" rIns="0" bIns="0" rtlCol="0" anchor="t"/>
          <a:lstStyle/>
          <a:p>
            <a:pPr indent="0" marL="0">
              <a:buNone/>
            </a:pPr>
            <a:r>
              <a:rPr lang="en-US" sz="1200" b="1" dirty="0">
                <a:solidFill>
                  <a:schemeClr val="tx2"/>
                </a:solidFill>
                <a:latin typeface="Arial" pitchFamily="34" charset="0"/>
                <a:ea typeface="Arial" pitchFamily="34" charset="-122"/>
                <a:cs typeface="Arial" pitchFamily="34" charset="-120"/>
              </a:rPr>
              <a:t>Métier</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Procédures réelles (code par courrier, opposition en ligne), délais, frais, seuils de la gestion privée, numéro d’opposition, taux</a:t>
            </a:r>
            <a:endParaRPr lang="en-US" sz="1200" dirty="0"/>
          </a:p>
        </p:txBody>
      </p:sp>
      <p:sp>
        <p:nvSpPr>
          <p:cNvPr id="6" name="badge-FaHeadset"/>
          <p:cNvSpPr/>
          <p:nvPr/>
        </p:nvSpPr>
        <p:spPr>
          <a:xfrm>
            <a:off x="4663440" y="1097280"/>
            <a:ext cx="411480" cy="411480"/>
          </a:xfrm>
          <a:prstGeom prst="ellipse">
            <a:avLst/>
          </a:prstGeom>
          <a:solidFill>
            <a:schemeClr val="accent6"/>
          </a:solidFill>
          <a:ln/>
        </p:spPr>
      </p:sp>
      <p:pic>
        <p:nvPicPr>
          <p:cNvPr id="7" name="Image 1" descr="preencoded.png">    </p:cNvPr>
          <p:cNvPicPr>
            <a:picLocks noChangeAspect="1"/>
          </p:cNvPicPr>
          <p:nvPr/>
        </p:nvPicPr>
        <p:blipFill>
          <a:blip r:embed="rId2"/>
          <a:stretch>
            <a:fillRect/>
          </a:stretch>
        </p:blipFill>
        <p:spPr>
          <a:xfrm>
            <a:off x="4762195" y="1196035"/>
            <a:ext cx="213970" cy="213970"/>
          </a:xfrm>
          <a:prstGeom prst="rect">
            <a:avLst/>
          </a:prstGeom>
        </p:spPr>
      </p:pic>
      <p:sp>
        <p:nvSpPr>
          <p:cNvPr id="8" name="Text 4"/>
          <p:cNvSpPr txBox="1"/>
          <p:nvPr/>
        </p:nvSpPr>
        <p:spPr>
          <a:xfrm>
            <a:off x="5230368" y="1051560"/>
            <a:ext cx="3474720" cy="1097280"/>
          </a:xfrm>
          <a:prstGeom prst="rect">
            <a:avLst/>
          </a:prstGeom>
          <a:noFill/>
          <a:ln/>
        </p:spPr>
        <p:txBody>
          <a:bodyPr wrap="square" lIns="0" tIns="0" rIns="0" bIns="0" rtlCol="0" anchor="t"/>
          <a:lstStyle/>
          <a:p>
            <a:pPr indent="0" marL="0">
              <a:buNone/>
            </a:pPr>
            <a:r>
              <a:rPr lang="en-US" sz="1200" b="1" dirty="0">
                <a:solidFill>
                  <a:schemeClr val="tx2"/>
                </a:solidFill>
                <a:latin typeface="Arial" pitchFamily="34" charset="0"/>
                <a:ea typeface="Arial" pitchFamily="34" charset="-122"/>
                <a:cs typeface="Arial" pitchFamily="34" charset="-120"/>
              </a:rPr>
              <a:t>Relais</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Canaux réels : visio avec interprète LSF, échange par écrit, rendez-vous accessible</a:t>
            </a:r>
            <a:endParaRPr lang="en-US" sz="1200" dirty="0"/>
          </a:p>
        </p:txBody>
      </p:sp>
      <p:sp>
        <p:nvSpPr>
          <p:cNvPr id="9" name="badge-FaUserShield"/>
          <p:cNvSpPr/>
          <p:nvPr/>
        </p:nvSpPr>
        <p:spPr>
          <a:xfrm>
            <a:off x="457200" y="2286000"/>
            <a:ext cx="411480" cy="411480"/>
          </a:xfrm>
          <a:prstGeom prst="ellipse">
            <a:avLst/>
          </a:prstGeom>
          <a:solidFill>
            <a:schemeClr val="accent6"/>
          </a:solidFill>
          <a:ln/>
        </p:spPr>
      </p:sp>
      <p:pic>
        <p:nvPicPr>
          <p:cNvPr id="10" name="Image 2" descr="preencoded.png">    </p:cNvPr>
          <p:cNvPicPr>
            <a:picLocks noChangeAspect="1"/>
          </p:cNvPicPr>
          <p:nvPr/>
        </p:nvPicPr>
        <p:blipFill>
          <a:blip r:embed="rId3"/>
          <a:stretch>
            <a:fillRect/>
          </a:stretch>
        </p:blipFill>
        <p:spPr>
          <a:xfrm>
            <a:off x="555955" y="2384755"/>
            <a:ext cx="213970" cy="213970"/>
          </a:xfrm>
          <a:prstGeom prst="rect">
            <a:avLst/>
          </a:prstGeom>
        </p:spPr>
      </p:pic>
      <p:sp>
        <p:nvSpPr>
          <p:cNvPr id="11" name="Text 6"/>
          <p:cNvSpPr txBox="1"/>
          <p:nvPr/>
        </p:nvSpPr>
        <p:spPr>
          <a:xfrm>
            <a:off x="1024128" y="2240280"/>
            <a:ext cx="3474720" cy="1097280"/>
          </a:xfrm>
          <a:prstGeom prst="rect">
            <a:avLst/>
          </a:prstGeom>
          <a:noFill/>
          <a:ln/>
        </p:spPr>
        <p:txBody>
          <a:bodyPr wrap="square" lIns="0" tIns="0" rIns="0" bIns="0" rtlCol="0" anchor="t"/>
          <a:lstStyle/>
          <a:p>
            <a:pPr indent="0" marL="0">
              <a:buNone/>
            </a:pPr>
            <a:r>
              <a:rPr lang="en-US" sz="1200" b="1" dirty="0">
                <a:solidFill>
                  <a:schemeClr val="tx2"/>
                </a:solidFill>
                <a:latin typeface="Arial" pitchFamily="34" charset="0"/>
                <a:ea typeface="Arial" pitchFamily="34" charset="-122"/>
                <a:cs typeface="Arial" pitchFamily="34" charset="-120"/>
              </a:rPr>
              <a:t>Données</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Durée de conservation (hypothèse : 6 mois), finalités, avis du DPO ; dictée vocale via un service tiers</a:t>
            </a:r>
            <a:endParaRPr lang="en-US" sz="1200" dirty="0"/>
          </a:p>
        </p:txBody>
      </p:sp>
      <p:sp>
        <p:nvSpPr>
          <p:cNvPr id="12" name="badge-FaServer"/>
          <p:cNvSpPr/>
          <p:nvPr/>
        </p:nvSpPr>
        <p:spPr>
          <a:xfrm>
            <a:off x="4663440" y="2286000"/>
            <a:ext cx="411480" cy="411480"/>
          </a:xfrm>
          <a:prstGeom prst="ellipse">
            <a:avLst/>
          </a:prstGeom>
          <a:solidFill>
            <a:schemeClr val="accent6"/>
          </a:solidFill>
          <a:ln/>
        </p:spPr>
      </p:sp>
      <p:pic>
        <p:nvPicPr>
          <p:cNvPr id="13" name="Image 3" descr="preencoded.png">    </p:cNvPr>
          <p:cNvPicPr>
            <a:picLocks noChangeAspect="1"/>
          </p:cNvPicPr>
          <p:nvPr/>
        </p:nvPicPr>
        <p:blipFill>
          <a:blip r:embed="rId4"/>
          <a:stretch>
            <a:fillRect/>
          </a:stretch>
        </p:blipFill>
        <p:spPr>
          <a:xfrm>
            <a:off x="4762195" y="2384755"/>
            <a:ext cx="213970" cy="213970"/>
          </a:xfrm>
          <a:prstGeom prst="rect">
            <a:avLst/>
          </a:prstGeom>
        </p:spPr>
      </p:pic>
      <p:sp>
        <p:nvSpPr>
          <p:cNvPr id="14" name="Text 8"/>
          <p:cNvSpPr txBox="1"/>
          <p:nvPr/>
        </p:nvSpPr>
        <p:spPr>
          <a:xfrm>
            <a:off x="5230368" y="2240280"/>
            <a:ext cx="3474720" cy="1097280"/>
          </a:xfrm>
          <a:prstGeom prst="rect">
            <a:avLst/>
          </a:prstGeom>
          <a:noFill/>
          <a:ln/>
        </p:spPr>
        <p:txBody>
          <a:bodyPr wrap="square" lIns="0" tIns="0" rIns="0" bIns="0" rtlCol="0" anchor="t"/>
          <a:lstStyle/>
          <a:p>
            <a:pPr indent="0" marL="0">
              <a:buNone/>
            </a:pPr>
            <a:r>
              <a:rPr lang="en-US" sz="1200" b="1" dirty="0">
                <a:solidFill>
                  <a:schemeClr val="tx2"/>
                </a:solidFill>
                <a:latin typeface="Arial" pitchFamily="34" charset="0"/>
                <a:ea typeface="Arial" pitchFamily="34" charset="-122"/>
                <a:cs typeface="Arial" pitchFamily="34" charset="-120"/>
              </a:rPr>
              <a:t>Technique</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Modèle Groq, fournisseur de secours, seuil de bascule, tarifs réels, routes de l’API</a:t>
            </a:r>
            <a:endParaRPr lang="en-US" sz="1200" dirty="0"/>
          </a:p>
        </p:txBody>
      </p:sp>
      <p:sp>
        <p:nvSpPr>
          <p:cNvPr id="15" name="badge-FaShieldAlt"/>
          <p:cNvSpPr/>
          <p:nvPr/>
        </p:nvSpPr>
        <p:spPr>
          <a:xfrm>
            <a:off x="457200" y="3474720"/>
            <a:ext cx="411480" cy="411480"/>
          </a:xfrm>
          <a:prstGeom prst="ellipse">
            <a:avLst/>
          </a:prstGeom>
          <a:solidFill>
            <a:schemeClr val="accent6"/>
          </a:solidFill>
          <a:ln/>
        </p:spPr>
      </p:sp>
      <p:pic>
        <p:nvPicPr>
          <p:cNvPr id="16" name="Image 4" descr="preencoded.png">    </p:cNvPr>
          <p:cNvPicPr>
            <a:picLocks noChangeAspect="1"/>
          </p:cNvPicPr>
          <p:nvPr/>
        </p:nvPicPr>
        <p:blipFill>
          <a:blip r:embed="rId5"/>
          <a:stretch>
            <a:fillRect/>
          </a:stretch>
        </p:blipFill>
        <p:spPr>
          <a:xfrm>
            <a:off x="555955" y="3573475"/>
            <a:ext cx="213970" cy="213970"/>
          </a:xfrm>
          <a:prstGeom prst="rect">
            <a:avLst/>
          </a:prstGeom>
        </p:spPr>
      </p:pic>
      <p:sp>
        <p:nvSpPr>
          <p:cNvPr id="17" name="Text 10"/>
          <p:cNvSpPr txBox="1"/>
          <p:nvPr/>
        </p:nvSpPr>
        <p:spPr>
          <a:xfrm>
            <a:off x="1024128" y="3429000"/>
            <a:ext cx="3474720" cy="1097280"/>
          </a:xfrm>
          <a:prstGeom prst="rect">
            <a:avLst/>
          </a:prstGeom>
          <a:noFill/>
          <a:ln/>
        </p:spPr>
        <p:txBody>
          <a:bodyPr wrap="square" lIns="0" tIns="0" rIns="0" bIns="0" rtlCol="0" anchor="t"/>
          <a:lstStyle/>
          <a:p>
            <a:pPr indent="0" marL="0">
              <a:buNone/>
            </a:pPr>
            <a:r>
              <a:rPr lang="en-US" sz="1200" b="1" dirty="0">
                <a:solidFill>
                  <a:schemeClr val="tx2"/>
                </a:solidFill>
                <a:latin typeface="Arial" pitchFamily="34" charset="0"/>
                <a:ea typeface="Arial" pitchFamily="34" charset="-122"/>
                <a:cs typeface="Arial" pitchFamily="34" charset="-120"/>
              </a:rPr>
              <a:t>Sécurité</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Pas de validation vocale des opérations : à confirmer, ou validation renforcée</a:t>
            </a:r>
            <a:endParaRPr lang="en-US" sz="1200" dirty="0"/>
          </a:p>
        </p:txBody>
      </p:sp>
      <p:sp>
        <p:nvSpPr>
          <p:cNvPr id="18" name="badge-FaLink"/>
          <p:cNvSpPr/>
          <p:nvPr/>
        </p:nvSpPr>
        <p:spPr>
          <a:xfrm>
            <a:off x="4663440" y="3474720"/>
            <a:ext cx="411480" cy="411480"/>
          </a:xfrm>
          <a:prstGeom prst="ellipse">
            <a:avLst/>
          </a:prstGeom>
          <a:solidFill>
            <a:schemeClr val="accent6"/>
          </a:solidFill>
          <a:ln/>
        </p:spPr>
      </p:sp>
      <p:pic>
        <p:nvPicPr>
          <p:cNvPr id="19" name="Image 5" descr="preencoded.png">    </p:cNvPr>
          <p:cNvPicPr>
            <a:picLocks noChangeAspect="1"/>
          </p:cNvPicPr>
          <p:nvPr/>
        </p:nvPicPr>
        <p:blipFill>
          <a:blip r:embed="rId6"/>
          <a:stretch>
            <a:fillRect/>
          </a:stretch>
        </p:blipFill>
        <p:spPr>
          <a:xfrm>
            <a:off x="4762195" y="3573475"/>
            <a:ext cx="213970" cy="213970"/>
          </a:xfrm>
          <a:prstGeom prst="rect">
            <a:avLst/>
          </a:prstGeom>
        </p:spPr>
      </p:pic>
      <p:sp>
        <p:nvSpPr>
          <p:cNvPr id="20" name="Text 12"/>
          <p:cNvSpPr txBox="1"/>
          <p:nvPr/>
        </p:nvSpPr>
        <p:spPr>
          <a:xfrm>
            <a:off x="5230368" y="3429000"/>
            <a:ext cx="3474720" cy="1097280"/>
          </a:xfrm>
          <a:prstGeom prst="rect">
            <a:avLst/>
          </a:prstGeom>
          <a:noFill/>
          <a:ln/>
        </p:spPr>
        <p:txBody>
          <a:bodyPr wrap="square" lIns="0" tIns="0" rIns="0" bIns="0" rtlCol="0" anchor="t"/>
          <a:lstStyle/>
          <a:p>
            <a:pPr indent="0" marL="0">
              <a:buNone/>
            </a:pPr>
            <a:r>
              <a:rPr lang="en-US" sz="1200" b="1" dirty="0">
                <a:solidFill>
                  <a:schemeClr val="tx2"/>
                </a:solidFill>
                <a:latin typeface="Arial" pitchFamily="34" charset="0"/>
                <a:ea typeface="Arial" pitchFamily="34" charset="-122"/>
                <a:cs typeface="Arial" pitchFamily="34" charset="-120"/>
              </a:rPr>
              <a:t>Liens</a:t>
            </a:r>
            <a:endParaRPr lang="en-US" sz="1200" dirty="0"/>
          </a:p>
          <a:p>
            <a:pPr indent="0" marL="0">
              <a:buNone/>
            </a:pPr>
            <a:r>
              <a:rPr lang="en-US" sz="1200" dirty="0">
                <a:solidFill>
                  <a:schemeClr val="tx1"/>
                </a:solidFill>
                <a:latin typeface="Arial" pitchFamily="34" charset="0"/>
                <a:ea typeface="Arial" pitchFamily="34" charset="-122"/>
                <a:cs typeface="Arial" pitchFamily="34" charset="-120"/>
              </a:rPr>
              <a:t>Écrans cibles de l’espace client et de l’appli Banxo (aujourd’hui simulés)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400" b="1" dirty="0">
                <a:solidFill>
                  <a:schemeClr val="tx2"/>
                </a:solidFill>
              </a:rPr>
              <a:t>Prochaines étapes</a:t>
            </a:r>
            <a:endParaRPr lang="en-US" sz="2400" dirty="0"/>
          </a:p>
        </p:txBody>
      </p:sp>
      <p:sp>
        <p:nvSpPr>
          <p:cNvPr id="3" name="Shape 1"/>
          <p:cNvSpPr/>
          <p:nvPr/>
        </p:nvSpPr>
        <p:spPr>
          <a:xfrm>
            <a:off x="868680" y="2057400"/>
            <a:ext cx="7406640" cy="0"/>
          </a:xfrm>
          <a:prstGeom prst="line">
            <a:avLst/>
          </a:prstGeom>
          <a:noFill/>
          <a:ln w="25400">
            <a:solidFill>
              <a:srgbClr val="DDDDDD"/>
            </a:solidFill>
            <a:prstDash val="solid"/>
          </a:ln>
        </p:spPr>
      </p:sp>
      <p:sp>
        <p:nvSpPr>
          <p:cNvPr id="4" name="Shape 2"/>
          <p:cNvSpPr/>
          <p:nvPr/>
        </p:nvSpPr>
        <p:spPr>
          <a:xfrm>
            <a:off x="960120" y="1737360"/>
            <a:ext cx="640080" cy="640080"/>
          </a:xfrm>
          <a:prstGeom prst="ellipse">
            <a:avLst/>
          </a:prstGeom>
          <a:solidFill>
            <a:schemeClr val="accent1"/>
          </a:solidFill>
          <a:ln w="38100">
            <a:solidFill>
              <a:schemeClr val="bg1"/>
            </a:solidFill>
            <a:prstDash val="solid"/>
          </a:ln>
        </p:spPr>
      </p:sp>
      <p:sp>
        <p:nvSpPr>
          <p:cNvPr id="5" name="Text 3"/>
          <p:cNvSpPr txBox="1"/>
          <p:nvPr/>
        </p:nvSpPr>
        <p:spPr>
          <a:xfrm>
            <a:off x="960120"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457200" y="2606040"/>
            <a:ext cx="1645920" cy="45720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Brancher l’agent</a:t>
            </a:r>
            <a:endParaRPr lang="en-US" sz="1400" dirty="0"/>
          </a:p>
        </p:txBody>
      </p:sp>
      <p:sp>
        <p:nvSpPr>
          <p:cNvPr id="7" name="Text 5"/>
          <p:cNvSpPr txBox="1"/>
          <p:nvPr/>
        </p:nvSpPr>
        <p:spPr>
          <a:xfrm>
            <a:off x="502920" y="3108960"/>
            <a:ext cx="1554480" cy="1097280"/>
          </a:xfrm>
          <a:prstGeom prst="rect">
            <a:avLst/>
          </a:prstGeom>
          <a:noFill/>
          <a:ln/>
        </p:spPr>
        <p:txBody>
          <a:bodyPr wrap="square" lIns="0" tIns="0" rIns="0" bIns="0" rtlCol="0" anchor="t"/>
          <a:lstStyle/>
          <a:p>
            <a:pPr algn="ctr" indent="0" marL="0">
              <a:buNone/>
            </a:pPr>
            <a:r>
              <a:rPr lang="en-US" sz="1200" dirty="0">
                <a:solidFill>
                  <a:schemeClr val="tx1"/>
                </a:solidFill>
                <a:latin typeface="Arial" pitchFamily="34" charset="0"/>
                <a:ea typeface="Arial" pitchFamily="34" charset="-122"/>
                <a:cs typeface="Arial" pitchFamily="34" charset="-120"/>
              </a:rPr>
              <a:t>API backend, Groq et secours, prompt et base de connaissances</a:t>
            </a:r>
            <a:endParaRPr lang="en-US" sz="1200" dirty="0"/>
          </a:p>
        </p:txBody>
      </p:sp>
      <p:sp>
        <p:nvSpPr>
          <p:cNvPr id="8" name="Shape 6"/>
          <p:cNvSpPr/>
          <p:nvPr/>
        </p:nvSpPr>
        <p:spPr>
          <a:xfrm>
            <a:off x="2642616" y="1737360"/>
            <a:ext cx="640080" cy="640080"/>
          </a:xfrm>
          <a:prstGeom prst="ellipse">
            <a:avLst/>
          </a:prstGeom>
          <a:solidFill>
            <a:schemeClr val="accent1"/>
          </a:solidFill>
          <a:ln w="38100">
            <a:solidFill>
              <a:schemeClr val="bg1"/>
            </a:solidFill>
            <a:prstDash val="solid"/>
          </a:ln>
        </p:spPr>
      </p:sp>
      <p:sp>
        <p:nvSpPr>
          <p:cNvPr id="9" name="Text 7"/>
          <p:cNvSpPr txBox="1"/>
          <p:nvPr/>
        </p:nvSpPr>
        <p:spPr>
          <a:xfrm>
            <a:off x="2642616"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2</a:t>
            </a:r>
            <a:endParaRPr lang="en-US" sz="2000" dirty="0"/>
          </a:p>
        </p:txBody>
      </p:sp>
      <p:sp>
        <p:nvSpPr>
          <p:cNvPr id="10" name="Text 8"/>
          <p:cNvSpPr txBox="1"/>
          <p:nvPr/>
        </p:nvSpPr>
        <p:spPr>
          <a:xfrm>
            <a:off x="2139696" y="2606040"/>
            <a:ext cx="1645920" cy="45720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Tester avec les publics</a:t>
            </a:r>
            <a:endParaRPr lang="en-US" sz="1400" dirty="0"/>
          </a:p>
        </p:txBody>
      </p:sp>
      <p:sp>
        <p:nvSpPr>
          <p:cNvPr id="11" name="Text 9"/>
          <p:cNvSpPr txBox="1"/>
          <p:nvPr/>
        </p:nvSpPr>
        <p:spPr>
          <a:xfrm>
            <a:off x="2185416" y="3108960"/>
            <a:ext cx="1554480" cy="1097280"/>
          </a:xfrm>
          <a:prstGeom prst="rect">
            <a:avLst/>
          </a:prstGeom>
          <a:noFill/>
          <a:ln/>
        </p:spPr>
        <p:txBody>
          <a:bodyPr wrap="square" lIns="0" tIns="0" rIns="0" bIns="0" rtlCol="0" anchor="t"/>
          <a:lstStyle/>
          <a:p>
            <a:pPr algn="ctr" indent="0" marL="0">
              <a:buNone/>
            </a:pPr>
            <a:r>
              <a:rPr lang="en-US" sz="1200" dirty="0">
                <a:solidFill>
                  <a:schemeClr val="tx1"/>
                </a:solidFill>
                <a:latin typeface="Arial" pitchFamily="34" charset="0"/>
                <a:ea typeface="Arial" pitchFamily="34" charset="-122"/>
                <a:cs typeface="Arial" pitchFamily="34" charset="-120"/>
              </a:rPr>
              <a:t>Lecteurs d’écran, seniors, personnes dys ou sourdes</a:t>
            </a:r>
            <a:endParaRPr lang="en-US" sz="1200" dirty="0"/>
          </a:p>
        </p:txBody>
      </p:sp>
      <p:sp>
        <p:nvSpPr>
          <p:cNvPr id="12" name="Shape 10"/>
          <p:cNvSpPr/>
          <p:nvPr/>
        </p:nvSpPr>
        <p:spPr>
          <a:xfrm>
            <a:off x="4325112" y="1737360"/>
            <a:ext cx="640080" cy="640080"/>
          </a:xfrm>
          <a:prstGeom prst="ellipse">
            <a:avLst/>
          </a:prstGeom>
          <a:solidFill>
            <a:schemeClr val="accent1"/>
          </a:solidFill>
          <a:ln w="38100">
            <a:solidFill>
              <a:schemeClr val="bg1"/>
            </a:solidFill>
            <a:prstDash val="solid"/>
          </a:ln>
        </p:spPr>
      </p:sp>
      <p:sp>
        <p:nvSpPr>
          <p:cNvPr id="13" name="Text 11"/>
          <p:cNvSpPr txBox="1"/>
          <p:nvPr/>
        </p:nvSpPr>
        <p:spPr>
          <a:xfrm>
            <a:off x="4325112"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3</a:t>
            </a:r>
            <a:endParaRPr lang="en-US" sz="2000" dirty="0"/>
          </a:p>
        </p:txBody>
      </p:sp>
      <p:sp>
        <p:nvSpPr>
          <p:cNvPr id="14" name="Text 12"/>
          <p:cNvSpPr txBox="1"/>
          <p:nvPr/>
        </p:nvSpPr>
        <p:spPr>
          <a:xfrm>
            <a:off x="3822192" y="2606040"/>
            <a:ext cx="1645920" cy="45720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Auditer</a:t>
            </a:r>
            <a:endParaRPr lang="en-US" sz="1400" dirty="0"/>
          </a:p>
        </p:txBody>
      </p:sp>
      <p:sp>
        <p:nvSpPr>
          <p:cNvPr id="15" name="Text 13"/>
          <p:cNvSpPr txBox="1"/>
          <p:nvPr/>
        </p:nvSpPr>
        <p:spPr>
          <a:xfrm>
            <a:off x="3867912" y="3108960"/>
            <a:ext cx="1554480" cy="1097280"/>
          </a:xfrm>
          <a:prstGeom prst="rect">
            <a:avLst/>
          </a:prstGeom>
          <a:noFill/>
          <a:ln/>
        </p:spPr>
        <p:txBody>
          <a:bodyPr wrap="square" lIns="0" tIns="0" rIns="0" bIns="0" rtlCol="0" anchor="t"/>
          <a:lstStyle/>
          <a:p>
            <a:pPr algn="ctr" indent="0" marL="0">
              <a:buNone/>
            </a:pPr>
            <a:r>
              <a:rPr lang="en-US" sz="1200" dirty="0">
                <a:solidFill>
                  <a:schemeClr val="tx1"/>
                </a:solidFill>
                <a:latin typeface="Arial" pitchFamily="34" charset="0"/>
                <a:ea typeface="Arial" pitchFamily="34" charset="-122"/>
                <a:cs typeface="Arial" pitchFamily="34" charset="-120"/>
              </a:rPr>
              <a:t>Audit RGAA, relecture FALC, avis du DPO</a:t>
            </a:r>
            <a:endParaRPr lang="en-US" sz="1200" dirty="0"/>
          </a:p>
        </p:txBody>
      </p:sp>
      <p:sp>
        <p:nvSpPr>
          <p:cNvPr id="16" name="Shape 14"/>
          <p:cNvSpPr/>
          <p:nvPr/>
        </p:nvSpPr>
        <p:spPr>
          <a:xfrm>
            <a:off x="6007608" y="1737360"/>
            <a:ext cx="640080" cy="640080"/>
          </a:xfrm>
          <a:prstGeom prst="ellipse">
            <a:avLst/>
          </a:prstGeom>
          <a:solidFill>
            <a:schemeClr val="accent1"/>
          </a:solidFill>
          <a:ln w="38100">
            <a:solidFill>
              <a:schemeClr val="bg1"/>
            </a:solidFill>
            <a:prstDash val="solid"/>
          </a:ln>
        </p:spPr>
      </p:sp>
      <p:sp>
        <p:nvSpPr>
          <p:cNvPr id="17" name="Text 15"/>
          <p:cNvSpPr txBox="1"/>
          <p:nvPr/>
        </p:nvSpPr>
        <p:spPr>
          <a:xfrm>
            <a:off x="6007608"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4</a:t>
            </a:r>
            <a:endParaRPr lang="en-US" sz="2000" dirty="0"/>
          </a:p>
        </p:txBody>
      </p:sp>
      <p:sp>
        <p:nvSpPr>
          <p:cNvPr id="18" name="Text 16"/>
          <p:cNvSpPr txBox="1"/>
          <p:nvPr/>
        </p:nvSpPr>
        <p:spPr>
          <a:xfrm>
            <a:off x="5504688" y="2606040"/>
            <a:ext cx="1645920" cy="45720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Étendre</a:t>
            </a:r>
            <a:endParaRPr lang="en-US" sz="1400" dirty="0"/>
          </a:p>
        </p:txBody>
      </p:sp>
      <p:sp>
        <p:nvSpPr>
          <p:cNvPr id="19" name="Text 17"/>
          <p:cNvSpPr txBox="1"/>
          <p:nvPr/>
        </p:nvSpPr>
        <p:spPr>
          <a:xfrm>
            <a:off x="5550408" y="3108960"/>
            <a:ext cx="1554480" cy="1097280"/>
          </a:xfrm>
          <a:prstGeom prst="rect">
            <a:avLst/>
          </a:prstGeom>
          <a:noFill/>
          <a:ln/>
        </p:spPr>
        <p:txBody>
          <a:bodyPr wrap="square" lIns="0" tIns="0" rIns="0" bIns="0" rtlCol="0" anchor="t"/>
          <a:lstStyle/>
          <a:p>
            <a:pPr algn="ctr" indent="0" marL="0">
              <a:buNone/>
            </a:pPr>
            <a:r>
              <a:rPr lang="en-US" sz="1200" dirty="0">
                <a:solidFill>
                  <a:schemeClr val="tx1"/>
                </a:solidFill>
                <a:latin typeface="Arial" pitchFamily="34" charset="0"/>
                <a:ea typeface="Arial" pitchFamily="34" charset="-122"/>
                <a:cs typeface="Arial" pitchFamily="34" charset="-120"/>
              </a:rPr>
              <a:t>Appli Banxo, arabe et langues de droite à gauche</a:t>
            </a:r>
            <a:endParaRPr lang="en-US" sz="1200" dirty="0"/>
          </a:p>
        </p:txBody>
      </p:sp>
      <p:sp>
        <p:nvSpPr>
          <p:cNvPr id="20" name="Shape 18"/>
          <p:cNvSpPr/>
          <p:nvPr/>
        </p:nvSpPr>
        <p:spPr>
          <a:xfrm>
            <a:off x="7690104" y="1737360"/>
            <a:ext cx="640080" cy="640080"/>
          </a:xfrm>
          <a:prstGeom prst="ellipse">
            <a:avLst/>
          </a:prstGeom>
          <a:solidFill>
            <a:schemeClr val="accent1"/>
          </a:solidFill>
          <a:ln w="38100">
            <a:solidFill>
              <a:schemeClr val="bg1"/>
            </a:solidFill>
            <a:prstDash val="solid"/>
          </a:ln>
        </p:spPr>
      </p:sp>
      <p:sp>
        <p:nvSpPr>
          <p:cNvPr id="21" name="Text 19"/>
          <p:cNvSpPr txBox="1"/>
          <p:nvPr/>
        </p:nvSpPr>
        <p:spPr>
          <a:xfrm>
            <a:off x="7690104"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Arial" pitchFamily="34" charset="0"/>
                <a:ea typeface="Arial" pitchFamily="34" charset="-122"/>
                <a:cs typeface="Arial" pitchFamily="34" charset="-120"/>
              </a:rPr>
              <a:t>5</a:t>
            </a:r>
            <a:endParaRPr lang="en-US" sz="2000" dirty="0"/>
          </a:p>
        </p:txBody>
      </p:sp>
      <p:sp>
        <p:nvSpPr>
          <p:cNvPr id="22" name="Text 20"/>
          <p:cNvSpPr txBox="1"/>
          <p:nvPr/>
        </p:nvSpPr>
        <p:spPr>
          <a:xfrm>
            <a:off x="7187184" y="2606040"/>
            <a:ext cx="1645920" cy="457200"/>
          </a:xfrm>
          <a:prstGeom prst="rect">
            <a:avLst/>
          </a:prstGeom>
          <a:noFill/>
          <a:ln/>
        </p:spPr>
        <p:txBody>
          <a:bodyPr wrap="square" lIns="0" tIns="0" rIns="0" bIns="0" rtlCol="0" anchor="t"/>
          <a:lstStyle/>
          <a:p>
            <a:pPr algn="ctr" indent="0" marL="0">
              <a:buNone/>
            </a:pPr>
            <a:r>
              <a:rPr lang="en-US" sz="1400" b="1" dirty="0">
                <a:solidFill>
                  <a:schemeClr val="tx2"/>
                </a:solidFill>
                <a:latin typeface="Arial" pitchFamily="34" charset="0"/>
                <a:ea typeface="Arial" pitchFamily="34" charset="-122"/>
                <a:cs typeface="Arial" pitchFamily="34" charset="-120"/>
              </a:rPr>
              <a:t>Améliorer en continu</a:t>
            </a:r>
            <a:endParaRPr lang="en-US" sz="1400" dirty="0"/>
          </a:p>
        </p:txBody>
      </p:sp>
      <p:sp>
        <p:nvSpPr>
          <p:cNvPr id="23" name="Text 21"/>
          <p:cNvSpPr txBox="1"/>
          <p:nvPr/>
        </p:nvSpPr>
        <p:spPr>
          <a:xfrm>
            <a:off x="7232904" y="3108960"/>
            <a:ext cx="1554480" cy="1097280"/>
          </a:xfrm>
          <a:prstGeom prst="rect">
            <a:avLst/>
          </a:prstGeom>
          <a:noFill/>
          <a:ln/>
        </p:spPr>
        <p:txBody>
          <a:bodyPr wrap="square" lIns="0" tIns="0" rIns="0" bIns="0" rtlCol="0" anchor="t"/>
          <a:lstStyle/>
          <a:p>
            <a:pPr algn="ctr" indent="0" marL="0">
              <a:buNone/>
            </a:pPr>
            <a:r>
              <a:rPr lang="en-US" sz="1200" dirty="0">
                <a:solidFill>
                  <a:schemeClr val="tx1"/>
                </a:solidFill>
                <a:latin typeface="Arial" pitchFamily="34" charset="0"/>
                <a:ea typeface="Arial" pitchFamily="34" charset="-122"/>
                <a:cs typeface="Arial" pitchFamily="34" charset="-120"/>
              </a:rPr>
              <a:t>Revue hebdomadaire des réponses à corriger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nchor="b"/>
          <a:lstStyle/>
          <a:p>
            <a:pPr algn="l" indent="0" marL="0">
              <a:buNone/>
            </a:pPr>
            <a:r>
              <a:rPr lang="en-US" sz="3800" b="1" dirty="0">
                <a:solidFill>
                  <a:schemeClr val="bg1"/>
                </a:solidFill>
              </a:rPr>
              <a:t>Une banque qui se comprend, s’écoute et se parle</a:t>
            </a:r>
            <a:endParaRPr lang="en-US" sz="3800" dirty="0"/>
          </a:p>
        </p:txBody>
      </p:sp>
      <p:sp>
        <p:nvSpPr>
          <p:cNvPr id="3" name="Text 0"/>
          <p:cNvSpPr/>
          <p:nvPr>
            <p:ph idx="101" type="body" hasCustomPrompt="1"/>
          </p:nvPr>
        </p:nvSpPr>
        <p:spPr>
          <a:xfrm>
            <a:off x="548640" y="2834640"/>
            <a:ext cx="8046720" cy="1280160"/>
          </a:xfrm>
          <a:prstGeom prst="rect">
            <a:avLst/>
          </a:prstGeom>
          <a:noFill/>
          <a:ln/>
        </p:spPr>
        <p:txBody>
          <a:bodyPr wrap="square" rtlCol="0" anchor="t"/>
          <a:lstStyle/>
          <a:p>
            <a:pPr indent="0" marL="0">
              <a:buNone/>
            </a:pPr>
            <a:r>
              <a:rPr lang="en-US" sz="1600" b="1" dirty="0">
                <a:solidFill>
                  <a:schemeClr val="bg1"/>
                </a:solidFill>
              </a:rPr>
              <a:t>Merci</a:t>
            </a:r>
            <a:endParaRPr lang="en-US" sz="1600" dirty="0"/>
          </a:p>
          <a:p>
            <a:pPr indent="0" marL="0">
              <a:buNone/>
            </a:pPr>
            <a:r>
              <a:rPr lang="en-US" sz="1600" dirty="0">
                <a:solidFill>
                  <a:schemeClr val="bg1"/>
                </a:solidFill>
              </a:rPr>
              <a:t>Questions et démo en direct</a:t>
            </a:r>
            <a:endParaRPr lang="en-US" sz="1600" dirty="0"/>
          </a:p>
        </p:txBody>
      </p:sp>
      <p:pic>
        <p:nvPicPr>
          <p:cNvPr id="4" name="Image 0" descr="preencoded.png">    </p:cNvPr>
          <p:cNvPicPr>
            <a:picLocks noChangeAspect="1"/>
          </p:cNvPicPr>
          <p:nvPr/>
        </p:nvPicPr>
        <p:blipFill>
          <a:blip r:embed="rId1"/>
          <a:stretch>
            <a:fillRect/>
          </a:stretch>
        </p:blipFill>
        <p:spPr>
          <a:xfrm>
            <a:off x="7818120" y="457200"/>
            <a:ext cx="777240" cy="777240"/>
          </a:xfrm>
          <a:prstGeom prst="rect">
            <a:avLst/>
          </a:prstGeom>
        </p:spPr>
      </p:pic>
    </p:spTree>
  </p:cSld>
  <p:clrMapOvr>
    <a:masterClrMapping/>
  </p:clrMapOvr>
</p:sld>
</file>

<file path=ppt/theme/theme1.xml><?xml version="1.0" encoding="utf-8"?>
<a:theme xmlns:a="http://schemas.openxmlformats.org/drawingml/2006/main" name="Caisse Epargne Assistant">
  <a:themeElements>
    <a:clrScheme name="Caisse Epargne Assistant">
      <a:dk1>
        <a:srgbClr val="2F2F2F"/>
      </a:dk1>
      <a:lt1>
        <a:srgbClr val="FFFFFF"/>
      </a:lt1>
      <a:dk2>
        <a:srgbClr val="3E454A"/>
      </a:dk2>
      <a:lt2>
        <a:srgbClr val="F4F4F5"/>
      </a:lt2>
      <a:accent1>
        <a:srgbClr val="C5000E"/>
      </a:accent1>
      <a:accent2>
        <a:srgbClr val="9E000B"/>
      </a:accent2>
      <a:accent3>
        <a:srgbClr val="1E7B3A"/>
      </a:accent3>
      <a:accent4>
        <a:srgbClr val="1D4F91"/>
      </a:accent4>
      <a:accent5>
        <a:srgbClr val="8A5A00"/>
      </a:accent5>
      <a:accent6>
        <a:srgbClr val="666666"/>
      </a:accent6>
      <a:hlink>
        <a:srgbClr val="9E000B"/>
      </a:hlink>
      <a:folHlink>
        <a:srgbClr val="6E0008"/>
      </a:folHlink>
    </a:clrScheme>
    <a:fontScheme name="Caisse Epargne Assista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Assistant IA Caisse d’Epargne : accessible à tous</dc:title>
  <dc:subject>PptxGenJS Presentation</dc:subject>
  <dc:creator>Équipe hackathon IA for Impact</dc:creator>
  <cp:lastModifiedBy>Équipe hackathon IA for Impact</cp:lastModifiedBy>
  <cp:revision>1</cp:revision>
  <dcterms:created xsi:type="dcterms:W3CDTF">2026-10-10T01:39:59Z</dcterms:created>
  <dcterms:modified xsi:type="dcterms:W3CDTF">2026-10-10T01:39:59Z</dcterms:modified>
</cp:coreProperties>
</file>