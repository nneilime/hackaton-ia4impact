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ExtraBold"/>
      <p:bold r:id="rId18"/>
      <p:boldItalic r:id="rId19"/>
    </p:embeddedFont>
    <p:embeddedFont>
      <p:font typeface="Cabin Condense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90Ob+QxiF7t3yzh5Zf+x0Frv8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Condensed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abinCondense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ExtraBold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Extra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r>
              <a:rPr lang="en-US"/>
              <a:t>Visual on this slide was generated with Microsoft Copilot.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r>
              <a:rPr lang="en-US"/>
              <a:t>Visual on this slide was generated with Microsoft Copilot.</a:t>
            </a:r>
            <a:br>
              <a:rPr lang="en-US"/>
            </a:br>
            <a:r>
              <a:rPr lang="en-US"/>
              <a:t>Architecture présentée comme proposition de cadrage à confirmer avec les équipes.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r>
              <a:rPr lang="en-US"/>
              <a:t>Visual on this slide was generated with Microsoft Copilot.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Charte graphique et mises en page : chartePresentation.pptx fournie par le demandeur.</a:t>
            </a:r>
            <a:br>
              <a:rPr lang="en-US"/>
            </a:br>
            <a:r>
              <a:rPr lang="en-US"/>
              <a:t>Contenu métier : fiche Défis IA4Impact BPCE-SI fournie dans la conversation.</a:t>
            </a:r>
            <a:br>
              <a:rPr lang="en-US"/>
            </a:br>
            <a:r>
              <a:rPr lang="en-US"/>
              <a:t>Les critères détaillés sont des propositions de mesure pour le démonstrateur.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re" showMasterSp="0">
  <p:cSld name="13_Titr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>
            <p:ph idx="2" type="pic"/>
          </p:nvPr>
        </p:nvSpPr>
        <p:spPr>
          <a:xfrm>
            <a:off x="4847861" y="4088"/>
            <a:ext cx="7344139" cy="688551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" name="Google Shape;12;p11"/>
          <p:cNvSpPr txBox="1"/>
          <p:nvPr>
            <p:ph type="ctrTitle"/>
          </p:nvPr>
        </p:nvSpPr>
        <p:spPr>
          <a:xfrm>
            <a:off x="1152000" y="2468894"/>
            <a:ext cx="6528725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67"/>
              <a:buFont typeface="Cabin Condensed"/>
              <a:buNone/>
              <a:defRPr b="1" i="0" sz="5867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1152000" y="4041879"/>
            <a:ext cx="6528725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3" type="body"/>
          </p:nvPr>
        </p:nvSpPr>
        <p:spPr>
          <a:xfrm rot="-5400000">
            <a:off x="-1017226" y="3347001"/>
            <a:ext cx="2794537" cy="1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ctr">
              <a:spcBef>
                <a:spcPts val="187"/>
              </a:spcBef>
              <a:spcAft>
                <a:spcPts val="0"/>
              </a:spcAft>
              <a:buClr>
                <a:srgbClr val="BFBFBF"/>
              </a:buClr>
              <a:buSzPts val="933"/>
              <a:buFont typeface="Arial"/>
              <a:buNone/>
              <a:defRPr b="0" i="0" sz="933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" name="Google Shape;1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8352" y="6091218"/>
            <a:ext cx="2063285" cy="338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419" y="452669"/>
            <a:ext cx="3456003" cy="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5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4847861" y="2143"/>
            <a:ext cx="7344139" cy="688551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23" name="Google Shape;23;p1"/>
          <p:cNvSpPr txBox="1"/>
          <p:nvPr>
            <p:ph type="ctrTitle"/>
          </p:nvPr>
        </p:nvSpPr>
        <p:spPr>
          <a:xfrm>
            <a:off x="1152000" y="2468894"/>
            <a:ext cx="6528725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67"/>
              <a:buNone/>
            </a:pPr>
            <a:r>
              <a:rPr b="0" i="0" lang="en-US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Titre de la présentation</a:t>
            </a:r>
            <a:endParaRPr/>
          </a:p>
        </p:txBody>
      </p:sp>
      <p:sp>
        <p:nvSpPr>
          <p:cNvPr id="24" name="Google Shape;24;p1"/>
          <p:cNvSpPr txBox="1"/>
          <p:nvPr>
            <p:ph idx="1" type="body"/>
          </p:nvPr>
        </p:nvSpPr>
        <p:spPr>
          <a:xfrm>
            <a:off x="1152000" y="4041879"/>
            <a:ext cx="6528725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None/>
            </a:pPr>
            <a:r>
              <a:rPr b="0" i="0" lang="en-US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Sous-titre de la présentation</a:t>
            </a:r>
            <a:endParaRPr/>
          </a:p>
        </p:txBody>
      </p:sp>
      <p:sp>
        <p:nvSpPr>
          <p:cNvPr id="25" name="Google Shape;25;p1"/>
          <p:cNvSpPr txBox="1"/>
          <p:nvPr>
            <p:ph idx="3" type="body"/>
          </p:nvPr>
        </p:nvSpPr>
        <p:spPr>
          <a:xfrm rot="-5400000">
            <a:off x="-981155" y="2228800"/>
            <a:ext cx="2794537" cy="1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Septembre 2026</a:t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5000" y="1544320"/>
            <a:ext cx="7599256" cy="3769360"/>
          </a:xfrm>
          <a:prstGeom prst="rect">
            <a:avLst/>
          </a:prstGeom>
          <a:solidFill>
            <a:schemeClr val="lt1">
              <a:alpha val="4392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r>
              <a:t/>
            </a:r>
            <a:endParaRPr b="0" i="0" sz="24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69831" y="1672363"/>
            <a:ext cx="7349595" cy="3513275"/>
          </a:xfrm>
          <a:prstGeom prst="rect">
            <a:avLst/>
          </a:prstGeom>
          <a:solidFill>
            <a:schemeClr val="lt1">
              <a:alpha val="4392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r>
              <a:t/>
            </a:r>
            <a:endParaRPr b="0" i="0" sz="24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85070" y="1713236"/>
            <a:ext cx="7119117" cy="3251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r>
              <a:t/>
            </a:r>
            <a:endParaRPr b="0" i="0" sz="24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542907" y="1965932"/>
            <a:ext cx="0" cy="18079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" name="Google Shape;30;p1"/>
          <p:cNvSpPr/>
          <p:nvPr/>
        </p:nvSpPr>
        <p:spPr>
          <a:xfrm>
            <a:off x="9740352" y="634080"/>
            <a:ext cx="2135297" cy="285976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"/>
          <p:cNvSpPr/>
          <p:nvPr/>
        </p:nvSpPr>
        <p:spPr>
          <a:xfrm>
            <a:off x="658368" y="1965960"/>
            <a:ext cx="5212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DÉFI IA4IMPACT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58368" y="2624328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Du besoin au résultat, sans chercher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71895" y="2963197"/>
            <a:ext cx="5212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Un assistant conversationnel de confiance pour guider clients et prospects vers la bonne réponse, la bonne action et le bon relais humain.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58368" y="51663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BPCE-SI • IA for Impact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621792" y="24231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SOMMAIRE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1920240" y="3072384"/>
            <a:ext cx="502920" cy="1"/>
          </a:xfrm>
          <a:prstGeom prst="straightConnector1">
            <a:avLst/>
          </a:prstGeom>
          <a:noFill/>
          <a:ln cap="flat" cmpd="sng" w="152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/>
          <p:nvPr/>
        </p:nvSpPr>
        <p:spPr>
          <a:xfrm>
            <a:off x="3063240" y="731520"/>
            <a:ext cx="7818120" cy="539496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520440" y="1188720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4160520" y="1344168"/>
            <a:ext cx="164592" cy="1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4443984" y="119786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 défi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520440" y="1938528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4160520" y="2093976"/>
            <a:ext cx="164592" cy="1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4443984" y="194767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Les irritants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520440" y="26883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4160520" y="2843784"/>
            <a:ext cx="164592" cy="1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4443984" y="26974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vision cible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520440" y="3438144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4B4B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DB4B4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4160520" y="3593592"/>
            <a:ext cx="164592" cy="1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2"/>
          <p:cNvSpPr/>
          <p:nvPr/>
        </p:nvSpPr>
        <p:spPr>
          <a:xfrm>
            <a:off x="4443984" y="344728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L’expérience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520440" y="4187952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79E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5579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4160520" y="4343400"/>
            <a:ext cx="164592" cy="1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2"/>
          <p:cNvSpPr/>
          <p:nvPr/>
        </p:nvSpPr>
        <p:spPr>
          <a:xfrm>
            <a:off x="4443984" y="4197096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solution de confiance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520440" y="4937760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818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AB81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4160520" y="5093208"/>
            <a:ext cx="164592" cy="1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"/>
          <p:cNvSpPr/>
          <p:nvPr/>
        </p:nvSpPr>
        <p:spPr>
          <a:xfrm>
            <a:off x="4443984" y="4946904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 démonstrateur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2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2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02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RENDRE LA BANQUE COMPRÉHENSIBLE ET ACTIONNABLE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Une intention simple devient trop souvent un parcours complexe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03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594360" y="129844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LE DÉFI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94360" y="1719072"/>
            <a:ext cx="5074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Permettre aux clients et prospects de se renseigner et d’agir en autonomie sur un besoin précis.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94360" y="26974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Réclamation • Code perdu • Crédit • Conseil • Services associés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94360" y="3749040"/>
            <a:ext cx="4892040" cy="1234440"/>
          </a:xfrm>
          <a:prstGeom prst="roundRect">
            <a:avLst>
              <a:gd fmla="val 2963" name="adj"/>
            </a:avLst>
          </a:prstGeom>
          <a:solidFill>
            <a:srgbClr val="581D74"/>
          </a:solidFill>
          <a:ln cap="flat" cmpd="sng" w="12700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68680" y="400507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B9E4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D9B9E4"/>
                </a:solidFill>
                <a:latin typeface="Arial"/>
                <a:ea typeface="Arial"/>
                <a:cs typeface="Arial"/>
                <a:sym typeface="Arial"/>
              </a:rPr>
              <a:t>PROMESSE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68680" y="434340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réponse contextualisée qui conduit au résultat sans errance.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2f639a14a8.png" id="82" name="Google Shape;82;p3"/>
          <p:cNvPicPr preferRelativeResize="0"/>
          <p:nvPr/>
        </p:nvPicPr>
        <p:blipFill rotWithShape="1">
          <a:blip r:embed="rId4">
            <a:alphaModFix/>
          </a:blip>
          <a:srcRect b="0" l="14583" r="14583" t="0"/>
          <a:stretch/>
        </p:blipFill>
        <p:spPr>
          <a:xfrm>
            <a:off x="6126480" y="1097280"/>
            <a:ext cx="544068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AUJOURD’HUI, LE CLIENT ASSEMBLE LUI-MÊME LE PARCOURS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Cinq frictions alimentent l’abandon et les changements de canal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04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502920" y="1600200"/>
            <a:ext cx="201168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05840" y="1874520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85800" y="27889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Information difficilement accessible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816352" y="1600200"/>
            <a:ext cx="201168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B3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319272" y="1874520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999232" y="27889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Parcours fragmentés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129784" y="1600200"/>
            <a:ext cx="201168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A1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632704" y="1874520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312664" y="27889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Vocabulaire bancaire complexe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443216" y="1600200"/>
            <a:ext cx="201168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B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946136" y="1874520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4B4B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DB4B4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626096" y="27889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Recherche et ressaisie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756648" y="1600200"/>
            <a:ext cx="2011680" cy="3337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5557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259568" y="1874520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79E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55579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9939528" y="2788920"/>
            <a:ext cx="1645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Abandon ou changement de canal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60120" y="5440680"/>
            <a:ext cx="10195560" cy="502920"/>
          </a:xfrm>
          <a:prstGeom prst="rect">
            <a:avLst/>
          </a:prstGeom>
          <a:solidFill>
            <a:srgbClr val="581D74"/>
          </a:solidFill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CONSÉQUENCE  |  Une réponse inégale selon le point d’entrée, plutôt qu’un résultat cohérent de bout en bout.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PASSER DE « JE CHERCHE » À « C’EST FAIT »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Un assistant unique, orienté intention et résultat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05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640080" y="14173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JE CHERCHE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651760" y="1389888"/>
            <a:ext cx="1828800" cy="475488"/>
          </a:xfrm>
          <a:prstGeom prst="chevron">
            <a:avLst>
              <a:gd fmla="val 50000" name="adj"/>
            </a:avLst>
          </a:prstGeom>
          <a:solidFill>
            <a:srgbClr val="EAE4EE"/>
          </a:solidFill>
          <a:ln cap="flat" cmpd="sng" w="12700">
            <a:solidFill>
              <a:srgbClr val="EA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99432" y="14173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JE COMPRENDS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766560" y="1389888"/>
            <a:ext cx="1828800" cy="475488"/>
          </a:xfrm>
          <a:prstGeom prst="chevron">
            <a:avLst>
              <a:gd fmla="val 50000" name="adj"/>
            </a:avLst>
          </a:prstGeom>
          <a:solidFill>
            <a:srgbClr val="EAE4EE"/>
          </a:solidFill>
          <a:ln cap="flat" cmpd="sng" w="12700">
            <a:solidFill>
              <a:srgbClr val="EA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796528" y="1417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C’EST FAIT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58368" y="2331720"/>
            <a:ext cx="5138928" cy="1225296"/>
          </a:xfrm>
          <a:prstGeom prst="roundRect">
            <a:avLst>
              <a:gd fmla="val 3731" name="adj"/>
            </a:avLst>
          </a:prstGeom>
          <a:solidFill>
            <a:srgbClr val="FFFFFF"/>
          </a:solidFill>
          <a:ln cap="flat" cmpd="sng" w="15225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22960" y="2514600"/>
            <a:ext cx="4809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Réclamation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41248" y="2907792"/>
            <a:ext cx="47731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Comprendre le motif et guider vers la démarche adaptée.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236208" y="2331720"/>
            <a:ext cx="5138928" cy="1225296"/>
          </a:xfrm>
          <a:prstGeom prst="roundRect">
            <a:avLst>
              <a:gd fmla="val 3731" name="adj"/>
            </a:avLst>
          </a:prstGeom>
          <a:solidFill>
            <a:srgbClr val="FFFFFF"/>
          </a:solidFill>
          <a:ln cap="flat" cmpd="sng" w="15225">
            <a:solidFill>
              <a:srgbClr val="B3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0" y="2514600"/>
            <a:ext cx="4809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Code perdu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419088" y="2907792"/>
            <a:ext cx="47731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Qualifier la situation et orienter vers la récupération sécurisée.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58368" y="3904488"/>
            <a:ext cx="5138928" cy="1225296"/>
          </a:xfrm>
          <a:prstGeom prst="roundRect">
            <a:avLst>
              <a:gd fmla="val 3731" name="adj"/>
            </a:avLst>
          </a:prstGeom>
          <a:solidFill>
            <a:srgbClr val="FFFFFF"/>
          </a:solidFill>
          <a:ln cap="flat" cmpd="sng" w="15225">
            <a:solidFill>
              <a:srgbClr val="00A1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22960" y="4087368"/>
            <a:ext cx="4809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Crédit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41248" y="4480560"/>
            <a:ext cx="47731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Expliquer les options puis conduire vers la simulation ou le conseiller.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236208" y="3904488"/>
            <a:ext cx="5138928" cy="1225296"/>
          </a:xfrm>
          <a:prstGeom prst="roundRect">
            <a:avLst>
              <a:gd fmla="val 3731" name="adj"/>
            </a:avLst>
          </a:prstGeom>
          <a:solidFill>
            <a:srgbClr val="FFFFFF"/>
          </a:solidFill>
          <a:ln cap="flat" cmpd="sng" w="15225">
            <a:solidFill>
              <a:srgbClr val="EAB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00800" y="4087368"/>
            <a:ext cx="4809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81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B818"/>
                </a:solidFill>
                <a:latin typeface="Arial"/>
                <a:ea typeface="Arial"/>
                <a:cs typeface="Arial"/>
                <a:sym typeface="Arial"/>
              </a:rPr>
              <a:t>Gestion privée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19088" y="4480560"/>
            <a:ext cx="477316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Clarifier le besoin et proposer le bon niveau d’accompagnement.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UNE CONVERSATION COURTE MÈNE À LA BONNE ACTION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Compréhension, recommandation et exécution dans une expérience continue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06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097280" y="1463040"/>
            <a:ext cx="822960" cy="822960"/>
          </a:xfrm>
          <a:prstGeom prst="ellipse">
            <a:avLst/>
          </a:prstGeom>
          <a:solidFill>
            <a:srgbClr val="581D7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97280" y="170992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>
            <a:off x="1920240" y="1874520"/>
            <a:ext cx="914400" cy="1"/>
          </a:xfrm>
          <a:prstGeom prst="straightConnector1">
            <a:avLst/>
          </a:prstGeom>
          <a:noFill/>
          <a:ln cap="flat" cmpd="sng" w="25400">
            <a:solidFill>
              <a:srgbClr val="BDBD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6"/>
          <p:cNvSpPr/>
          <p:nvPr/>
        </p:nvSpPr>
        <p:spPr>
          <a:xfrm>
            <a:off x="566928" y="256032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Exprimer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66928" y="3063240"/>
            <a:ext cx="1874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Décrire le besoin avec ses propres mots.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383280" y="1463040"/>
            <a:ext cx="822960" cy="822960"/>
          </a:xfrm>
          <a:prstGeom prst="ellipse">
            <a:avLst/>
          </a:prstGeom>
          <a:solidFill>
            <a:srgbClr val="B34A8C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383280" y="170992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4206240" y="1874520"/>
            <a:ext cx="914400" cy="1"/>
          </a:xfrm>
          <a:prstGeom prst="straightConnector1">
            <a:avLst/>
          </a:prstGeom>
          <a:noFill/>
          <a:ln cap="flat" cmpd="sng" w="25400">
            <a:solidFill>
              <a:srgbClr val="BDBD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6"/>
          <p:cNvSpPr/>
          <p:nvPr/>
        </p:nvSpPr>
        <p:spPr>
          <a:xfrm>
            <a:off x="2852928" y="256032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Comprendre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852928" y="3063240"/>
            <a:ext cx="1874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Reformuler et demander les précisions utiles.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669280" y="1463040"/>
            <a:ext cx="822960" cy="822960"/>
          </a:xfrm>
          <a:prstGeom prst="ellipse">
            <a:avLst/>
          </a:prstGeom>
          <a:solidFill>
            <a:srgbClr val="00A1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669280" y="170992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6"/>
          <p:cNvCxnSpPr/>
          <p:nvPr/>
        </p:nvCxnSpPr>
        <p:spPr>
          <a:xfrm>
            <a:off x="6492240" y="1874520"/>
            <a:ext cx="914400" cy="1"/>
          </a:xfrm>
          <a:prstGeom prst="straightConnector1">
            <a:avLst/>
          </a:prstGeom>
          <a:noFill/>
          <a:ln cap="flat" cmpd="sng" w="25400">
            <a:solidFill>
              <a:srgbClr val="BDBD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6"/>
          <p:cNvSpPr/>
          <p:nvPr/>
        </p:nvSpPr>
        <p:spPr>
          <a:xfrm>
            <a:off x="5138928" y="256032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Expliquer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138928" y="3063240"/>
            <a:ext cx="1874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Répondre simplement avec des sources.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955280" y="1463040"/>
            <a:ext cx="822960" cy="822960"/>
          </a:xfrm>
          <a:prstGeom prst="ellipse">
            <a:avLst/>
          </a:prstGeom>
          <a:solidFill>
            <a:srgbClr val="DB4B4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955280" y="170992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6"/>
          <p:cNvCxnSpPr/>
          <p:nvPr/>
        </p:nvCxnSpPr>
        <p:spPr>
          <a:xfrm>
            <a:off x="8778240" y="1874520"/>
            <a:ext cx="914400" cy="1"/>
          </a:xfrm>
          <a:prstGeom prst="straightConnector1">
            <a:avLst/>
          </a:prstGeom>
          <a:noFill/>
          <a:ln cap="flat" cmpd="sng" w="25400">
            <a:solidFill>
              <a:srgbClr val="BDBDB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6"/>
          <p:cNvSpPr/>
          <p:nvPr/>
        </p:nvSpPr>
        <p:spPr>
          <a:xfrm>
            <a:off x="7424928" y="256032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4B4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DB4B4B"/>
                </a:solidFill>
                <a:latin typeface="Arial"/>
                <a:ea typeface="Arial"/>
                <a:cs typeface="Arial"/>
                <a:sym typeface="Arial"/>
              </a:rPr>
              <a:t>Agir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424928" y="3063240"/>
            <a:ext cx="1874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Proposer le lien, le formulaire ou la simulation.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241280" y="1463040"/>
            <a:ext cx="822960" cy="822960"/>
          </a:xfrm>
          <a:prstGeom prst="ellipse">
            <a:avLst/>
          </a:prstGeom>
          <a:solidFill>
            <a:srgbClr val="55579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241280" y="170992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710928" y="2560320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79E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55579E"/>
                </a:solidFill>
                <a:latin typeface="Arial"/>
                <a:ea typeface="Arial"/>
                <a:cs typeface="Arial"/>
                <a:sym typeface="Arial"/>
              </a:rPr>
              <a:t>Relayer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710928" y="3063240"/>
            <a:ext cx="18745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Passer à un humain avec le contexte.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097280" y="4800600"/>
            <a:ext cx="10012680" cy="868680"/>
          </a:xfrm>
          <a:prstGeom prst="roundRect">
            <a:avLst>
              <a:gd fmla="val 16667" name="adj"/>
            </a:avLst>
          </a:prstGeom>
          <a:solidFill>
            <a:srgbClr val="F3EDF6"/>
          </a:solidFill>
          <a:ln cap="flat" cmpd="sng" w="12700">
            <a:solidFill>
              <a:srgbClr val="DED2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417320" y="5102352"/>
            <a:ext cx="9372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Moment de vérité : l’utilisateur va du besoin au résultat sans devoir chercher où cliquer.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DES CONTENUS BANCAIRES VALIDÉS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Le socle transforme l’intention en réponse fiable puis en action maîtrisée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7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07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b68c289df6.png"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10245" r="10245" t="0"/>
          <a:stretch/>
        </p:blipFill>
        <p:spPr>
          <a:xfrm>
            <a:off x="502920" y="1234440"/>
            <a:ext cx="594360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6720840" y="1298448"/>
            <a:ext cx="4846320" cy="987552"/>
          </a:xfrm>
          <a:prstGeom prst="roundRect">
            <a:avLst>
              <a:gd fmla="val 4630" name="adj"/>
            </a:avLst>
          </a:prstGeom>
          <a:solidFill>
            <a:srgbClr val="FFFFFF"/>
          </a:solidFill>
          <a:ln cap="flat" cmpd="sng" w="15225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885432" y="1481328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Comprendre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903720" y="18745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Intention, contexte, langage naturel et accessibilité.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720840" y="2505456"/>
            <a:ext cx="4846320" cy="987552"/>
          </a:xfrm>
          <a:prstGeom prst="roundRect">
            <a:avLst>
              <a:gd fmla="val 4630" name="adj"/>
            </a:avLst>
          </a:prstGeom>
          <a:solidFill>
            <a:srgbClr val="FFFFFF"/>
          </a:solidFill>
          <a:ln cap="flat" cmpd="sng" w="15225">
            <a:solidFill>
              <a:srgbClr val="00A1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885432" y="2688336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Ancrer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903720" y="308152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Recherche dans les contenus bancaires et services associés.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720840" y="3712464"/>
            <a:ext cx="4846320" cy="987552"/>
          </a:xfrm>
          <a:prstGeom prst="roundRect">
            <a:avLst>
              <a:gd fmla="val 4630" name="adj"/>
            </a:avLst>
          </a:prstGeom>
          <a:solidFill>
            <a:srgbClr val="FFFFFF"/>
          </a:solidFill>
          <a:ln cap="flat" cmpd="sng" w="15225">
            <a:solidFill>
              <a:srgbClr val="DB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885432" y="3895344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4B4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B4B4B"/>
                </a:solidFill>
                <a:latin typeface="Arial"/>
                <a:ea typeface="Arial"/>
                <a:cs typeface="Arial"/>
                <a:sym typeface="Arial"/>
              </a:rPr>
              <a:t>Sécuriser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903720" y="428853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Limites, consentement, traçabilité et protection des données.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720840" y="4919472"/>
            <a:ext cx="4846320" cy="987552"/>
          </a:xfrm>
          <a:prstGeom prst="roundRect">
            <a:avLst>
              <a:gd fmla="val 4630" name="adj"/>
            </a:avLst>
          </a:prstGeom>
          <a:solidFill>
            <a:srgbClr val="FFFFFF"/>
          </a:solidFill>
          <a:ln cap="flat" cmpd="sng" w="15225">
            <a:solidFill>
              <a:srgbClr val="5557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885432" y="5102352"/>
            <a:ext cx="4517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79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5579E"/>
                </a:solidFill>
                <a:latin typeface="Arial"/>
                <a:ea typeface="Arial"/>
                <a:cs typeface="Arial"/>
                <a:sym typeface="Arial"/>
              </a:rPr>
              <a:t>Agir ou relayer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903720" y="549554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Action guidée ou passage au conseiller avec le contexte utile.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CONFIANCE DEVIENT UNE FONCTIONNALITÉ VISIBLE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La simplicité ne doit jamais réduire le contrôle de l’utilisateur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8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08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209" name="Google Shape;2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1e881d7d1.png" id="210" name="Google Shape;210;p8"/>
          <p:cNvPicPr preferRelativeResize="0"/>
          <p:nvPr/>
        </p:nvPicPr>
        <p:blipFill rotWithShape="1">
          <a:blip r:embed="rId4">
            <a:alphaModFix/>
          </a:blip>
          <a:srcRect b="0" l="15749" r="15749" t="0"/>
          <a:stretch/>
        </p:blipFill>
        <p:spPr>
          <a:xfrm>
            <a:off x="502920" y="1234440"/>
            <a:ext cx="5120640" cy="49834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8"/>
          <p:cNvCxnSpPr/>
          <p:nvPr/>
        </p:nvCxnSpPr>
        <p:spPr>
          <a:xfrm>
            <a:off x="6080760" y="1847088"/>
            <a:ext cx="594360" cy="1"/>
          </a:xfrm>
          <a:prstGeom prst="straightConnector1">
            <a:avLst/>
          </a:prstGeom>
          <a:noFill/>
          <a:ln cap="flat" cmpd="sng" w="50800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8"/>
          <p:cNvSpPr/>
          <p:nvPr/>
        </p:nvSpPr>
        <p:spPr>
          <a:xfrm>
            <a:off x="6903720" y="14173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Transparence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903720" y="18288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Montrer la source, la logique et les limites de la réponse.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>
            <a:off x="6080760" y="2990088"/>
            <a:ext cx="594360" cy="1"/>
          </a:xfrm>
          <a:prstGeom prst="straightConnector1">
            <a:avLst/>
          </a:prstGeom>
          <a:noFill/>
          <a:ln cap="flat" cmpd="sng" w="50800">
            <a:solidFill>
              <a:srgbClr val="B34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8"/>
          <p:cNvSpPr/>
          <p:nvPr/>
        </p:nvSpPr>
        <p:spPr>
          <a:xfrm>
            <a:off x="6903720" y="25603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Contrôle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903720" y="29718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Conserver des choix explicites, modifiables et réversibles.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8"/>
          <p:cNvCxnSpPr/>
          <p:nvPr/>
        </p:nvCxnSpPr>
        <p:spPr>
          <a:xfrm>
            <a:off x="6080760" y="4133088"/>
            <a:ext cx="594360" cy="1"/>
          </a:xfrm>
          <a:prstGeom prst="straightConnector1">
            <a:avLst/>
          </a:prstGeom>
          <a:noFill/>
          <a:ln cap="flat" cmpd="sng" w="50800">
            <a:solidFill>
              <a:srgbClr val="DB4B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6903720" y="37033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4B4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DB4B4B"/>
                </a:solidFill>
                <a:latin typeface="Arial"/>
                <a:ea typeface="Arial"/>
                <a:cs typeface="Arial"/>
                <a:sym typeface="Arial"/>
              </a:rPr>
              <a:t>Sécurité &amp; RGPD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903720" y="41148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Limiter les données et protéger les échanges.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8"/>
          <p:cNvCxnSpPr/>
          <p:nvPr/>
        </p:nvCxnSpPr>
        <p:spPr>
          <a:xfrm>
            <a:off x="6080760" y="5276088"/>
            <a:ext cx="594360" cy="1"/>
          </a:xfrm>
          <a:prstGeom prst="straightConnector1">
            <a:avLst/>
          </a:prstGeom>
          <a:noFill/>
          <a:ln cap="flat" cmpd="sng" w="50800">
            <a:solidFill>
              <a:srgbClr val="00A1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8"/>
          <p:cNvSpPr/>
          <p:nvPr/>
        </p:nvSpPr>
        <p:spPr>
          <a:xfrm>
            <a:off x="6903720" y="48463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Relais humain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903720" y="525780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Assurer une reprise fluide, notamment pour l’accessibilité.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1920240" y="310896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TROUVER UN RÉSULTAT PROBANT SANS CHERCHER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920240" y="704088"/>
            <a:ext cx="8503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Un périmètre resserré et un prototype immédiatement testable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384048" y="6473952"/>
            <a:ext cx="11430000" cy="1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411480" y="6537960"/>
            <a:ext cx="29260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BPCE SI  |  Défi IA4Impact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577840" y="6537960"/>
            <a:ext cx="1005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09 / 09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ork/charte/ppt/media/image2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4" y="6517853"/>
            <a:ext cx="914400" cy="14994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594360" y="1234440"/>
            <a:ext cx="3337560" cy="4892040"/>
          </a:xfrm>
          <a:prstGeom prst="roundRect">
            <a:avLst>
              <a:gd fmla="val 16667" name="adj"/>
            </a:avLst>
          </a:prstGeom>
          <a:solidFill>
            <a:srgbClr val="581D74"/>
          </a:solidFill>
          <a:ln cap="flat" cmpd="sng" w="12700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14400" y="160020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C6E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DFC6E8"/>
                </a:solidFill>
                <a:latin typeface="Arial"/>
                <a:ea typeface="Arial"/>
                <a:cs typeface="Arial"/>
                <a:sym typeface="Arial"/>
              </a:rPr>
              <a:t>LIVRABLE ATTENDU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14400" y="2194560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assistant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14400" y="4023360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Démontré sur 2 à 3 parcours réels, avec sources, garde-fous et relais humain.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097280" y="5349240"/>
            <a:ext cx="2331720" cy="347472"/>
          </a:xfrm>
          <a:prstGeom prst="rect">
            <a:avLst/>
          </a:prstGeom>
          <a:solidFill>
            <a:srgbClr val="EAB81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PO • ÉQUIPE PROJET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297680" y="1234440"/>
            <a:ext cx="333756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5225">
            <a:solidFill>
              <a:srgbClr val="581D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462272" y="1417320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81D74"/>
                </a:solidFill>
                <a:latin typeface="Arial"/>
                <a:ea typeface="Arial"/>
                <a:cs typeface="Arial"/>
                <a:sym typeface="Arial"/>
              </a:rPr>
              <a:t>Efficacité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480560" y="1810512"/>
            <a:ext cx="2971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tâche aboutit sans navigation exploratoire.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955280" y="1234440"/>
            <a:ext cx="333756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5225">
            <a:solidFill>
              <a:srgbClr val="B3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119872" y="1417320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4A8C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B34A8C"/>
                </a:solidFill>
                <a:latin typeface="Arial"/>
                <a:ea typeface="Arial"/>
                <a:cs typeface="Arial"/>
                <a:sym typeface="Arial"/>
              </a:rPr>
              <a:t>Compréhension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138160" y="1810512"/>
            <a:ext cx="2971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 résultat est compris sans jargon non expliqué.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297680" y="2807208"/>
            <a:ext cx="333756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5225">
            <a:solidFill>
              <a:srgbClr val="00A1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462272" y="2990088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19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A193"/>
                </a:solidFill>
                <a:latin typeface="Arial"/>
                <a:ea typeface="Arial"/>
                <a:cs typeface="Arial"/>
                <a:sym typeface="Arial"/>
              </a:rPr>
              <a:t>Confiance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480560" y="3383280"/>
            <a:ext cx="2971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Sources, limites et choix sont visibles.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7955280" y="2807208"/>
            <a:ext cx="333756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5225">
            <a:solidFill>
              <a:srgbClr val="DB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119872" y="2990088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4B4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B4B4B"/>
                </a:solidFill>
                <a:latin typeface="Arial"/>
                <a:ea typeface="Arial"/>
                <a:cs typeface="Arial"/>
                <a:sym typeface="Arial"/>
              </a:rPr>
              <a:t>Continuité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138160" y="3383280"/>
            <a:ext cx="2971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L’action ou le relais conserve le contexte.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297680" y="4379976"/>
            <a:ext cx="333756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5225">
            <a:solidFill>
              <a:srgbClr val="5557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462272" y="456285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79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55579E"/>
                </a:solidFill>
                <a:latin typeface="Arial"/>
                <a:ea typeface="Arial"/>
                <a:cs typeface="Arial"/>
                <a:sym typeface="Arial"/>
              </a:rPr>
              <a:t>Accessibilité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480560" y="4956048"/>
            <a:ext cx="2971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L’expérience reste utilisable selon les besoins.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955280" y="4379976"/>
            <a:ext cx="333756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5225">
            <a:solidFill>
              <a:srgbClr val="EAB8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119872" y="4562856"/>
            <a:ext cx="30083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B81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B818"/>
                </a:solidFill>
                <a:latin typeface="Arial"/>
                <a:ea typeface="Arial"/>
                <a:cs typeface="Arial"/>
                <a:sym typeface="Arial"/>
              </a:rPr>
              <a:t>Apprentissage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138160" y="4956048"/>
            <a:ext cx="2971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Les incompréhensions et abandons sont mesurables.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2026-09-11T16:35:09Z</dcterms:created>
  <dc:creator>LIU Yung (BPCE-SI)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d18aa4-ed64-4d59-b931-5ad635491991_Enabled">
    <vt:lpwstr>true</vt:lpwstr>
  </property>
  <property fmtid="{D5CDD505-2E9C-101B-9397-08002B2CF9AE}" pid="3" name="MSIP_Label_7dd18aa4-ed64-4d59-b931-5ad635491991_SetDate">
    <vt:lpwstr>2026-09-11T16:35:09Z</vt:lpwstr>
  </property>
  <property fmtid="{D5CDD505-2E9C-101B-9397-08002B2CF9AE}" pid="4" name="MSIP_Label_7dd18aa4-ed64-4d59-b931-5ad635491991_Method">
    <vt:lpwstr>Standard</vt:lpwstr>
  </property>
  <property fmtid="{D5CDD505-2E9C-101B-9397-08002B2CF9AE}" pid="5" name="MSIP_Label_7dd18aa4-ed64-4d59-b931-5ad635491991_Name">
    <vt:lpwstr>Standard</vt:lpwstr>
  </property>
  <property fmtid="{D5CDD505-2E9C-101B-9397-08002B2CF9AE}" pid="6" name="MSIP_Label_7dd18aa4-ed64-4d59-b931-5ad635491991_SiteId">
    <vt:lpwstr>d5bb6d35-8a82-4329-b49a-5030bd6497ab</vt:lpwstr>
  </property>
  <property fmtid="{D5CDD505-2E9C-101B-9397-08002B2CF9AE}" pid="7" name="MSIP_Label_7dd18aa4-ed64-4d59-b931-5ad635491991_ActionId">
    <vt:lpwstr>80364d32-4dcf-49ec-a233-66261b41327b</vt:lpwstr>
  </property>
  <property fmtid="{D5CDD505-2E9C-101B-9397-08002B2CF9AE}" pid="8" name="MSIP_Label_7dd18aa4-ed64-4d59-b931-5ad635491991_ContentBits">
    <vt:lpwstr>0</vt:lpwstr>
  </property>
  <property fmtid="{D5CDD505-2E9C-101B-9397-08002B2CF9AE}" pid="9" name="ContentTypeId">
    <vt:lpwstr>0x01010019813EC172FE4C4793E3383A7D17C7D7</vt:lpwstr>
  </property>
</Properties>
</file>