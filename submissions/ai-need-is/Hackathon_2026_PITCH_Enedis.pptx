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61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86173-0B6F-1158-7D9B-799B6014FF02}" v="42" dt="2026-09-02T13:27:24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OptimCells v2.pptx, slides 2-3 : préparation, gestion jour J et rejeu
- VILI_ KICK-OFF.pdf, pages 4-6 : aide à la décision, réactivité et décision humaine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BE20"/>
                </a:solidFill>
              </a:rPr>
              <a:t>DÉFI ENEDIS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5486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5EB8"/>
                </a:solidFill>
              </a:rPr>
              <a:t>Optimiser le placement des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05EB8"/>
                </a:solidFill>
              </a:rPr>
              <a:t>ressources en situation de crise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005EB8"/>
                </a:solidFill>
              </a:rPr>
              <a:t>climatique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276148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Tempêtes, orages, vents violents : renforcer l’aide à la décision pour rétablir l’électricité toujours plus vite.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974336"/>
            <a:ext cx="33375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50932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5EB8"/>
                </a:solidFill>
              </a:rPr>
              <a:t>Hackathon La Mêlée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5EB8"/>
                </a:solidFill>
              </a:rPr>
              <a:t>9 et 10 octobre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0B2740"/>
          </a:solidFill>
          <a:ln w="12700">
            <a:solidFill>
              <a:srgbClr val="0B27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583680" y="228600"/>
            <a:ext cx="2834640" cy="1371600"/>
          </a:xfrm>
          <a:prstGeom prst="ellipse">
            <a:avLst/>
          </a:prstGeom>
          <a:solidFill>
            <a:srgbClr val="1A405E">
              <a:alpha val="95000"/>
            </a:srgbClr>
          </a:solidFill>
          <a:ln w="12700">
            <a:solidFill>
              <a:srgbClr val="1A40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8321040" y="91440"/>
            <a:ext cx="3017520" cy="1554480"/>
          </a:xfrm>
          <a:prstGeom prst="ellipse">
            <a:avLst/>
          </a:prstGeom>
          <a:solidFill>
            <a:srgbClr val="244E6B">
              <a:alpha val="95000"/>
            </a:srgbClr>
          </a:solidFill>
          <a:ln w="12700">
            <a:solidFill>
              <a:srgbClr val="244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875520" y="548640"/>
            <a:ext cx="2286000" cy="1097280"/>
          </a:xfrm>
          <a:prstGeom prst="ellipse">
            <a:avLst/>
          </a:prstGeom>
          <a:solidFill>
            <a:srgbClr val="315F79">
              <a:alpha val="95000"/>
            </a:srgbClr>
          </a:solidFill>
          <a:ln w="12700">
            <a:solidFill>
              <a:srgbClr val="315F7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 flipH="1">
            <a:off x="6720840" y="1417320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 flipH="1">
            <a:off x="7214616" y="1581912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 flipH="1">
            <a:off x="7708392" y="1417320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 flipH="1">
            <a:off x="8202168" y="1581912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 flipH="1">
            <a:off x="8695944" y="1417320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 flipH="1">
            <a:off x="9189720" y="1581912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 flipH="1">
            <a:off x="9683496" y="1417320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 flipH="1">
            <a:off x="10177272" y="1581912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 flipH="1">
            <a:off x="10671048" y="1417320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 flipH="1">
            <a:off x="11164824" y="1581912"/>
            <a:ext cx="137160" cy="502920"/>
          </a:xfrm>
          <a:prstGeom prst="line">
            <a:avLst/>
          </a:prstGeom>
          <a:noFill/>
          <a:ln w="12700">
            <a:solidFill>
              <a:srgbClr val="72A9C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 rot="720000">
            <a:off x="9555480" y="1115568"/>
            <a:ext cx="411480" cy="1371600"/>
          </a:xfrm>
          <a:prstGeom prst="chevron">
            <a:avLst/>
          </a:prstGeom>
          <a:solidFill>
            <a:srgbClr val="F6D44B"/>
          </a:solidFill>
          <a:ln w="12700">
            <a:solidFill>
              <a:srgbClr val="F6D4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537960" y="4160520"/>
            <a:ext cx="5650992" cy="2697480"/>
          </a:xfrm>
          <a:prstGeom prst="rect">
            <a:avLst/>
          </a:prstGeom>
          <a:solidFill>
            <a:srgbClr val="355F42"/>
          </a:solidFill>
          <a:ln w="12700">
            <a:solidFill>
              <a:srgbClr val="355F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583680" y="4014216"/>
            <a:ext cx="5577840" cy="2203704"/>
          </a:xfrm>
          <a:prstGeom prst="arc">
            <a:avLst/>
          </a:prstGeom>
          <a:solidFill>
            <a:srgbClr val="568552"/>
          </a:solidFill>
          <a:ln w="12700">
            <a:solidFill>
              <a:srgbClr val="56855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452360" y="2944368"/>
            <a:ext cx="1" cy="2057400"/>
          </a:xfrm>
          <a:prstGeom prst="line">
            <a:avLst/>
          </a:prstGeom>
          <a:noFill/>
          <a:ln w="381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068312" y="3172968"/>
            <a:ext cx="768096" cy="1"/>
          </a:xfrm>
          <a:prstGeom prst="line">
            <a:avLst/>
          </a:prstGeom>
          <a:noFill/>
          <a:ln w="381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168896" y="3172968"/>
            <a:ext cx="91440" cy="246888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 flipH="1">
            <a:off x="7644384" y="3172968"/>
            <a:ext cx="91440" cy="246888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189720" y="3337560"/>
            <a:ext cx="1" cy="1687068"/>
          </a:xfrm>
          <a:prstGeom prst="line">
            <a:avLst/>
          </a:prstGeom>
          <a:noFill/>
          <a:ln w="381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874801" y="3525012"/>
            <a:ext cx="629839" cy="1"/>
          </a:xfrm>
          <a:prstGeom prst="line">
            <a:avLst/>
          </a:prstGeom>
          <a:noFill/>
          <a:ln w="381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957280" y="3525012"/>
            <a:ext cx="74981" cy="202448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 flipH="1">
            <a:off x="9347179" y="3525012"/>
            <a:ext cx="74981" cy="202448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0625328" y="3639312"/>
            <a:ext cx="1" cy="1399032"/>
          </a:xfrm>
          <a:prstGeom prst="line">
            <a:avLst/>
          </a:prstGeom>
          <a:noFill/>
          <a:ln w="381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0364175" y="3794760"/>
            <a:ext cx="522305" cy="1"/>
          </a:xfrm>
          <a:prstGeom prst="line">
            <a:avLst/>
          </a:prstGeom>
          <a:noFill/>
          <a:ln w="381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0432572" y="3794760"/>
            <a:ext cx="62179" cy="167884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 flipH="1">
            <a:off x="10755905" y="3794760"/>
            <a:ext cx="62179" cy="167884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068312" y="3172968"/>
            <a:ext cx="1810512" cy="356616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7836408" y="3172968"/>
            <a:ext cx="1664208" cy="356616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8878824" y="3529584"/>
            <a:ext cx="1536192" cy="265176"/>
          </a:xfrm>
          <a:prstGeom prst="line">
            <a:avLst/>
          </a:prstGeom>
          <a:noFill/>
          <a:ln w="1524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9500616" y="3529584"/>
            <a:ext cx="1335024" cy="265176"/>
          </a:xfrm>
          <a:prstGeom prst="line">
            <a:avLst/>
          </a:prstGeom>
          <a:noFill/>
          <a:ln w="1524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7360920" y="5120640"/>
            <a:ext cx="182880" cy="182880"/>
          </a:xfrm>
          <a:prstGeom prst="ellipse">
            <a:avLst/>
          </a:prstGeom>
          <a:solidFill>
            <a:srgbClr val="78B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7452360" y="5212080"/>
            <a:ext cx="1005840" cy="457200"/>
          </a:xfrm>
          <a:prstGeom prst="line">
            <a:avLst/>
          </a:prstGeom>
          <a:noFill/>
          <a:ln w="19050">
            <a:solidFill>
              <a:srgbClr val="8CD63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8366760" y="5577840"/>
            <a:ext cx="182880" cy="182880"/>
          </a:xfrm>
          <a:prstGeom prst="ellipse">
            <a:avLst/>
          </a:prstGeom>
          <a:solidFill>
            <a:srgbClr val="78B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 flipV="1">
            <a:off x="8458200" y="5166360"/>
            <a:ext cx="1051560" cy="502920"/>
          </a:xfrm>
          <a:prstGeom prst="line">
            <a:avLst/>
          </a:prstGeom>
          <a:noFill/>
          <a:ln w="19050">
            <a:solidFill>
              <a:srgbClr val="8CD63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9418320" y="5074920"/>
            <a:ext cx="182880" cy="182880"/>
          </a:xfrm>
          <a:prstGeom prst="ellipse">
            <a:avLst/>
          </a:prstGeom>
          <a:solidFill>
            <a:srgbClr val="E400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9509760" y="5166360"/>
            <a:ext cx="1051560" cy="548640"/>
          </a:xfrm>
          <a:prstGeom prst="line">
            <a:avLst/>
          </a:prstGeom>
          <a:noFill/>
          <a:ln w="19050">
            <a:solidFill>
              <a:srgbClr val="8CD63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10469880" y="5623560"/>
            <a:ext cx="182880" cy="182880"/>
          </a:xfrm>
          <a:prstGeom prst="ellipse">
            <a:avLst/>
          </a:prstGeom>
          <a:solidFill>
            <a:srgbClr val="78B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 flipV="1">
            <a:off x="10561320" y="5074920"/>
            <a:ext cx="822960" cy="640080"/>
          </a:xfrm>
          <a:prstGeom prst="line">
            <a:avLst/>
          </a:prstGeom>
          <a:noFill/>
          <a:ln w="19050">
            <a:solidFill>
              <a:srgbClr val="8CD63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11292840" y="4983480"/>
            <a:ext cx="182880" cy="182880"/>
          </a:xfrm>
          <a:prstGeom prst="ellipse">
            <a:avLst/>
          </a:prstGeom>
          <a:solidFill>
            <a:srgbClr val="78BE2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903720" y="6245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E4EA"/>
                </a:solidFill>
              </a:rPr>
              <a:t>ALÉA CLIMATIQUE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89720" y="62453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E4EA"/>
                </a:solidFill>
              </a:rPr>
              <a:t>RÉSEAU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469880" y="62453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E4EA"/>
                </a:solidFill>
              </a:rPr>
              <a:t>COORDINATION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EB8"/>
                </a:solidFill>
              </a:rPr>
              <a:t>Le défi : décider vite dans une situation qui évolue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</a:rPr>
              <a:t>De la préparation de crise aux affectations du jour J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1"/>
          </a:xfrm>
          <a:prstGeom prst="line">
            <a:avLst/>
          </a:prstGeom>
          <a:noFill/>
          <a:ln w="254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401568" cy="3337560"/>
          </a:xfrm>
          <a:prstGeom prst="roundRect">
            <a:avLst>
              <a:gd name="adj" fmla="val 2192"/>
            </a:avLst>
          </a:prstGeom>
          <a:solidFill>
            <a:srgbClr val="F7FAFC"/>
          </a:solidFill>
          <a:ln w="25400">
            <a:solidFill>
              <a:srgbClr val="005EB8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EB8"/>
                </a:solidFill>
              </a:rPr>
              <a:t>AVANT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05256" y="2395728"/>
            <a:ext cx="201168" cy="20116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216152" y="22849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Incidents prévus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" y="3035808"/>
            <a:ext cx="201168" cy="20116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216152" y="29250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Ressources mobilisables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" y="3675888"/>
            <a:ext cx="201168" cy="20116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216152" y="358237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Prépositionnement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401568" cy="3337560"/>
          </a:xfrm>
          <a:prstGeom prst="roundRect">
            <a:avLst>
              <a:gd name="adj" fmla="val 2192"/>
            </a:avLst>
          </a:prstGeom>
          <a:solidFill>
            <a:srgbClr val="F7FAFC"/>
          </a:solidFill>
          <a:ln w="25400">
            <a:solidFill>
              <a:srgbClr val="E4007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4007D"/>
                </a:solidFill>
              </a:rPr>
              <a:t>PENDANT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54296" y="2395728"/>
            <a:ext cx="201168" cy="201168"/>
          </a:xfrm>
          <a:prstGeom prst="ellipse">
            <a:avLst/>
          </a:prstGeom>
          <a:solidFill>
            <a:srgbClr val="E4007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65192" y="228496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Incidents réalisés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54296" y="3035808"/>
            <a:ext cx="201168" cy="201168"/>
          </a:xfrm>
          <a:prstGeom prst="ellipse">
            <a:avLst/>
          </a:prstGeom>
          <a:solidFill>
            <a:srgbClr val="E4007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65192" y="29250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Disponibilités réelles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54296" y="3675888"/>
            <a:ext cx="201168" cy="201168"/>
          </a:xfrm>
          <a:prstGeom prst="ellipse">
            <a:avLst/>
          </a:prstGeom>
          <a:solidFill>
            <a:srgbClr val="E4007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65192" y="35651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Réaffectation continue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417320"/>
            <a:ext cx="3401568" cy="3337560"/>
          </a:xfrm>
          <a:prstGeom prst="roundRect">
            <a:avLst>
              <a:gd name="adj" fmla="val 2192"/>
            </a:avLst>
          </a:prstGeom>
          <a:solidFill>
            <a:srgbClr val="F7FAFC"/>
          </a:solidFill>
          <a:ln w="25400">
            <a:solidFill>
              <a:srgbClr val="78BE2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32104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8BE20"/>
                </a:solidFill>
              </a:rPr>
              <a:t>OBJECTIF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03336" y="2395728"/>
            <a:ext cx="201168" cy="201168"/>
          </a:xfrm>
          <a:prstGeom prst="ellipse">
            <a:avLst/>
          </a:prstGeom>
          <a:solidFill>
            <a:srgbClr val="78BE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714232" y="229359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02A43"/>
                </a:solidFill>
              </a:rPr>
              <a:t>Prioriser les incidents avec un fort nombre de clients, les clients sensibles</a:t>
            </a:r>
          </a:p>
        </p:txBody>
      </p:sp>
      <p:sp>
        <p:nvSpPr>
          <p:cNvPr id="25" name="Shape 23"/>
          <p:cNvSpPr/>
          <p:nvPr/>
        </p:nvSpPr>
        <p:spPr>
          <a:xfrm>
            <a:off x="8403336" y="3035808"/>
            <a:ext cx="201168" cy="201168"/>
          </a:xfrm>
          <a:prstGeom prst="ellipse">
            <a:avLst/>
          </a:prstGeom>
          <a:solidFill>
            <a:srgbClr val="78BE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714232" y="29422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Réduire les durées de coupure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03336" y="3675888"/>
            <a:ext cx="201168" cy="201168"/>
          </a:xfrm>
          <a:prstGeom prst="ellipse">
            <a:avLst/>
          </a:prstGeom>
          <a:solidFill>
            <a:srgbClr val="78BE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714232" y="35651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2A43"/>
                </a:solidFill>
              </a:rPr>
              <a:t>Garder la décision explicable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5230368"/>
            <a:ext cx="9418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</a:rPr>
              <a:t>La sécurité prime. L’outil recommande, le responsable métier décide.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1480" y="647395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573"/>
                </a:solidFill>
              </a:rPr>
              <a:t>Hackathon La Mêlée • 9–10 octobre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430000" y="642823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5E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EB8"/>
                </a:solidFill>
              </a:rPr>
              <a:t>L’ambition : VOIR, PRÉVOIR, OPTIMISER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</a:rPr>
              <a:t>Un démonstrateur dynamique, métier et explicable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744200" cy="1"/>
          </a:xfrm>
          <a:prstGeom prst="line">
            <a:avLst/>
          </a:prstGeom>
          <a:noFill/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8793"/>
                </a:solidFill>
              </a:rPr>
              <a:t>Hackathon La Mêlée • 9–10 octobre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5EB8"/>
                </a:solidFill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" y="1444752"/>
            <a:ext cx="2907792" cy="786384"/>
          </a:xfrm>
          <a:prstGeom prst="chevron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41832" y="1700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VOIR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" y="2542032"/>
            <a:ext cx="2907792" cy="1261872"/>
          </a:xfrm>
          <a:prstGeom prst="roundRect">
            <a:avLst>
              <a:gd name="adj" fmla="val 2899"/>
            </a:avLst>
          </a:prstGeom>
          <a:solidFill>
            <a:srgbClr val="FAFCFD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87552" y="29260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Consolider incidents, réseau,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clients et ressources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24528" y="1444752"/>
            <a:ext cx="2907792" cy="786384"/>
          </a:xfrm>
          <a:prstGeom prst="chevron">
            <a:avLst/>
          </a:prstGeom>
          <a:solidFill>
            <a:srgbClr val="F59C00"/>
          </a:solidFill>
          <a:ln w="1270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407408" y="1700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PRÉVOIR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4528" y="2542032"/>
            <a:ext cx="2907792" cy="1261872"/>
          </a:xfrm>
          <a:prstGeom prst="roundRect">
            <a:avLst>
              <a:gd name="adj" fmla="val 2899"/>
            </a:avLst>
          </a:prstGeom>
          <a:solidFill>
            <a:srgbClr val="FAFCFD"/>
          </a:solidFill>
          <a:ln w="1270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53128" y="29260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Projeter les tensions charges / ressources,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disponibilités et saturations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90104" y="1444752"/>
            <a:ext cx="2907792" cy="786384"/>
          </a:xfrm>
          <a:prstGeom prst="chevron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872984" y="1700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OPTIMISER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90104" y="2542032"/>
            <a:ext cx="2907792" cy="1261872"/>
          </a:xfrm>
          <a:prstGeom prst="roundRect">
            <a:avLst>
              <a:gd name="adj" fmla="val 2899"/>
            </a:avLst>
          </a:prstGeom>
          <a:solidFill>
            <a:srgbClr val="FAFCFD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918704" y="29260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Recommander prépositionnements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2A43"/>
                </a:solidFill>
              </a:rPr>
              <a:t>et affectations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4224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EB8"/>
                </a:solidFill>
              </a:rPr>
              <a:t>Arbitrages à rendre visibles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4681728"/>
            <a:ext cx="1600200" cy="566928"/>
          </a:xfrm>
          <a:prstGeom prst="roundRect">
            <a:avLst>
              <a:gd name="adj" fmla="val 4839"/>
            </a:avLst>
          </a:prstGeom>
          <a:solidFill>
            <a:srgbClr val="F8FBFC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834640" y="4882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A43"/>
                </a:solidFill>
              </a:rPr>
              <a:t>Impact clients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4681728"/>
            <a:ext cx="1600200" cy="566928"/>
          </a:xfrm>
          <a:prstGeom prst="roundRect">
            <a:avLst>
              <a:gd name="adj" fmla="val 4839"/>
            </a:avLst>
          </a:prstGeom>
          <a:solidFill>
            <a:srgbClr val="F8FBFC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663440" y="4882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A43"/>
                </a:solidFill>
              </a:rPr>
              <a:t>Distance / trajet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4681728"/>
            <a:ext cx="1600200" cy="566928"/>
          </a:xfrm>
          <a:prstGeom prst="roundRect">
            <a:avLst>
              <a:gd name="adj" fmla="val 4839"/>
            </a:avLst>
          </a:prstGeom>
          <a:solidFill>
            <a:srgbClr val="F8FBFC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92240" y="4882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A43"/>
                </a:solidFill>
              </a:rPr>
              <a:t>Compétences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0" y="4681728"/>
            <a:ext cx="1600200" cy="566928"/>
          </a:xfrm>
          <a:prstGeom prst="roundRect">
            <a:avLst>
              <a:gd name="adj" fmla="val 4839"/>
            </a:avLst>
          </a:prstGeom>
          <a:solidFill>
            <a:srgbClr val="F8FBFC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321040" y="48828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2A43"/>
                </a:solidFill>
              </a:rPr>
              <a:t>Temps de dépannage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5632704"/>
            <a:ext cx="8138160" cy="493776"/>
          </a:xfrm>
          <a:prstGeom prst="roundRect">
            <a:avLst>
              <a:gd name="adj" fmla="val 7407"/>
            </a:avLst>
          </a:prstGeom>
          <a:solidFill>
            <a:srgbClr val="EAF3F8"/>
          </a:solidFill>
          <a:ln w="12700">
            <a:solidFill>
              <a:srgbClr val="B8D3E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212848" y="5797296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EB8"/>
                </a:solidFill>
              </a:rPr>
              <a:t>Un vrai sujet développeur : optimisation, simulation, géospatial, dataviz et aide à la décision.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EB8"/>
                </a:solidFill>
              </a:rPr>
              <a:t>Le terrain de jeu et les livrables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3"/>
                </a:solidFill>
              </a:rPr>
              <a:t>Une solution démontrable en 48 heures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1115568"/>
            <a:ext cx="10744200" cy="1"/>
          </a:xfrm>
          <a:prstGeom prst="line">
            <a:avLst/>
          </a:prstGeom>
          <a:noFill/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8793"/>
                </a:solidFill>
              </a:rPr>
              <a:t>Hackathon La Mêlée • 9–10 octobre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384280" y="6437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5EB8"/>
                </a:solidFill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3063240" cy="4133088"/>
          </a:xfrm>
          <a:prstGeom prst="roundRect">
            <a:avLst>
              <a:gd name="adj" fmla="val 1493"/>
            </a:avLst>
          </a:prstGeom>
          <a:solidFill>
            <a:srgbClr val="FCFDFE"/>
          </a:solidFill>
          <a:ln w="1524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EB8"/>
                </a:solidFill>
              </a:rPr>
              <a:t>DONNÉES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976" y="2441448"/>
            <a:ext cx="118872" cy="118872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225296" y="23957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Réseau simplifié / poches - postes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50976" y="3081528"/>
            <a:ext cx="118872" cy="118872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193292" y="29626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Incidents et impacts clients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" y="3721608"/>
            <a:ext cx="118872" cy="118872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193292" y="36118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Ressources, positions, compétences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0976" y="4361688"/>
            <a:ext cx="118872" cy="118872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225296" y="43159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Hypothèses de trajet et dépannage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33088" y="1444752"/>
            <a:ext cx="3063240" cy="4133088"/>
          </a:xfrm>
          <a:prstGeom prst="roundRect">
            <a:avLst>
              <a:gd name="adj" fmla="val 1493"/>
            </a:avLst>
          </a:prstGeom>
          <a:solidFill>
            <a:srgbClr val="FCFDFE"/>
          </a:solidFill>
          <a:ln w="1524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315968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8BE20"/>
                </a:solidFill>
              </a:rPr>
              <a:t>RENDU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25696" y="2441448"/>
            <a:ext cx="118872" cy="118872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00016" y="23201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Démonstrateur Python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25696" y="3081528"/>
            <a:ext cx="118872" cy="118872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00016" y="294665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Moteur de recommandation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25696" y="3721608"/>
            <a:ext cx="118872" cy="118872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00016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Carte, timeline ou tableau de bord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25696" y="4361688"/>
            <a:ext cx="118872" cy="118872"/>
          </a:xfrm>
          <a:prstGeom prst="ellipse">
            <a:avLst/>
          </a:prstGeom>
          <a:solidFill>
            <a:srgbClr val="78BE20"/>
          </a:solidFill>
          <a:ln w="12700">
            <a:solidFill>
              <a:srgbClr val="78BE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00016" y="42473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README, hypothèses et limites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07808" y="1444752"/>
            <a:ext cx="3063240" cy="4133088"/>
          </a:xfrm>
          <a:prstGeom prst="roundRect">
            <a:avLst>
              <a:gd name="adj" fmla="val 1493"/>
            </a:avLst>
          </a:prstGeom>
          <a:solidFill>
            <a:srgbClr val="FCFDFE"/>
          </a:solidFill>
          <a:ln w="1524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790688" y="17373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C00"/>
                </a:solidFill>
              </a:rPr>
              <a:t>ÉVALUATION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00416" y="2441448"/>
            <a:ext cx="118872" cy="118872"/>
          </a:xfrm>
          <a:prstGeom prst="ellipse">
            <a:avLst/>
          </a:prstGeom>
          <a:solidFill>
            <a:srgbClr val="F59C00"/>
          </a:solidFill>
          <a:ln w="1270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174736" y="23362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Pertinence métier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00416" y="3081528"/>
            <a:ext cx="118872" cy="118872"/>
          </a:xfrm>
          <a:prstGeom prst="ellipse">
            <a:avLst/>
          </a:prstGeom>
          <a:solidFill>
            <a:srgbClr val="F59C00"/>
          </a:solidFill>
          <a:ln w="1270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174736" y="30083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Performance vs stratégie de référence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00416" y="3721608"/>
            <a:ext cx="118872" cy="118872"/>
          </a:xfrm>
          <a:prstGeom prst="ellipse">
            <a:avLst/>
          </a:prstGeom>
          <a:solidFill>
            <a:srgbClr val="F59C00"/>
          </a:solidFill>
          <a:ln w="1270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174736" y="36758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Robustesse en situation contrainte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00416" y="4361688"/>
            <a:ext cx="118872" cy="118872"/>
          </a:xfrm>
          <a:prstGeom prst="ellipse">
            <a:avLst/>
          </a:prstGeom>
          <a:solidFill>
            <a:srgbClr val="F59C00"/>
          </a:solidFill>
          <a:ln w="12700">
            <a:solidFill>
              <a:srgbClr val="F59C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8174736" y="42473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Explicabilité et qualité UX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057400" y="5797296"/>
            <a:ext cx="8092440" cy="457200"/>
          </a:xfrm>
          <a:prstGeom prst="roundRect">
            <a:avLst>
              <a:gd name="adj" fmla="val 8000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331720" y="5943600"/>
            <a:ext cx="7543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À vous de construire le co-</a:t>
            </a:r>
            <a:r>
              <a:rPr lang="en-US" sz="1300" b="1" dirty="0" err="1">
                <a:solidFill>
                  <a:srgbClr val="FFFFFF"/>
                </a:solidFill>
              </a:rPr>
              <a:t>pilote</a:t>
            </a:r>
            <a:r>
              <a:rPr lang="en-US" sz="1300" b="1" dirty="0">
                <a:solidFill>
                  <a:srgbClr val="FFFFFF"/>
                </a:solidFill>
              </a:rPr>
              <a:t> de la crise climatique de demain.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355</Words>
  <Application>Microsoft Office PowerPoint</Application>
  <PresentationFormat>Grand écran</PresentationFormat>
  <Paragraphs>74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Enedis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du placement des ressources en crise</dc:title>
  <dc:subject>Défi Enedis Hackathon La Mêlée 2026</dc:subject>
  <dc:creator>GUILAUME Kevin</dc:creator>
  <cp:lastModifiedBy>GUILAUME Kevin</cp:lastModifiedBy>
  <cp:revision>18</cp:revision>
  <dcterms:created xsi:type="dcterms:W3CDTF">2026-09-02T09:01:47Z</dcterms:created>
  <dcterms:modified xsi:type="dcterms:W3CDTF">2026-09-29T08:58:56Z</dcterms:modified>
</cp:coreProperties>
</file>