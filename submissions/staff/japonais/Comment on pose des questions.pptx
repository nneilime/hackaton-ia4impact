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media/image9.png" ContentType="image/png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10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fr-F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fr-F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fr-F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fr-F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fr-F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fr-F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fr-F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fr-F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fr-F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fr-F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fr-F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fr-F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/>
          <a:p>
            <a:pPr>
              <a:lnSpc>
                <a:spcPct val="100000"/>
              </a:lnSpc>
            </a:pPr>
            <a:fld id="{EB59D648-0C6B-48FA-B7AE-EEB92905E5AB}" type="datetime1">
              <a:rPr b="0" lang="fr-FR" sz="1200" spc="-1" strike="noStrike">
                <a:solidFill>
                  <a:srgbClr val="898989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11/02/2021</a:t>
            </a:fld>
            <a:endParaRPr b="0" lang="fr-FR" sz="1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 anchorCtr="1"/>
          <a:p>
            <a:endParaRPr b="0" lang="fr-FR" sz="2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p>
            <a:pPr algn="r">
              <a:lnSpc>
                <a:spcPct val="100000"/>
              </a:lnSpc>
            </a:pPr>
            <a:fld id="{667032C4-2D82-40D5-8F72-DA8114B7F8EC}" type="slidenum">
              <a:rPr b="0" lang="fr-FR" sz="1200" spc="-1" strike="noStrike">
                <a:solidFill>
                  <a:srgbClr val="898989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r>
              <a:rPr b="0" lang="fr-F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Cliquez pour éditer le format du texte-titre</a:t>
            </a:r>
            <a:endParaRPr b="0" lang="fr-F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Cliquez pour éditer le format du plan de texte</a:t>
            </a:r>
            <a:endParaRPr b="0" lang="fr-F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Second niveau de plan</a:t>
            </a:r>
            <a:endParaRPr b="0" lang="fr-FR" sz="2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Troisième niveau de plan</a:t>
            </a:r>
            <a:endParaRPr b="0" lang="fr-FR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Quatrième niveau de plan</a:t>
            </a:r>
            <a:endParaRPr b="0" lang="fr-FR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ustomShape 1"/>
          <p:cNvSpPr/>
          <p:nvPr/>
        </p:nvSpPr>
        <p:spPr>
          <a:xfrm>
            <a:off x="971640" y="1016640"/>
            <a:ext cx="7200360" cy="1066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p>
            <a:pPr>
              <a:lnSpc>
                <a:spcPct val="100000"/>
              </a:lnSpc>
            </a:pPr>
            <a:r>
              <a:rPr b="1" lang="fr-FR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1) Phrase + </a:t>
            </a:r>
            <a:r>
              <a:rPr b="1" lang="fr-FR" sz="3200" spc="-1" strike="noStrike">
                <a:solidFill>
                  <a:srgbClr val="00b0f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か</a:t>
            </a:r>
            <a:r>
              <a:rPr b="1" lang="fr-FR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  </a:t>
            </a:r>
            <a:r>
              <a:rPr b="1" lang="fr-FR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(phrase interrogative)</a:t>
            </a:r>
            <a:endParaRPr b="0" lang="fr-F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fr-FR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　　　　  　    </a:t>
            </a:r>
            <a:r>
              <a:rPr b="1" lang="fr-FR" sz="3200" spc="-1" strike="noStrike">
                <a:solidFill>
                  <a:srgbClr val="00b0f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ka</a:t>
            </a:r>
            <a:endParaRPr b="0" lang="fr-F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2" name="CustomShape 2"/>
          <p:cNvSpPr/>
          <p:nvPr/>
        </p:nvSpPr>
        <p:spPr>
          <a:xfrm>
            <a:off x="551160" y="2630520"/>
            <a:ext cx="6264360" cy="640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p>
            <a:pPr>
              <a:lnSpc>
                <a:spcPct val="100000"/>
              </a:lnSpc>
            </a:pPr>
            <a:r>
              <a:rPr b="1" lang="fr-F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ピエールさんは、フランスじん　　です。</a:t>
            </a:r>
            <a:endParaRPr b="0" lang="fr-F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fr-F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   </a:t>
            </a:r>
            <a:r>
              <a:rPr b="1" lang="fr-F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Piêru san    wa ,        furansu jin    desu.</a:t>
            </a:r>
            <a:endParaRPr b="0" lang="fr-F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3" name="CustomShape 3"/>
          <p:cNvSpPr/>
          <p:nvPr/>
        </p:nvSpPr>
        <p:spPr>
          <a:xfrm>
            <a:off x="971640" y="3345840"/>
            <a:ext cx="5976360" cy="366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p>
            <a:pPr>
              <a:lnSpc>
                <a:spcPct val="100000"/>
              </a:lnSpc>
            </a:pPr>
            <a:r>
              <a:rPr b="0" i="1" lang="fr-F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Pierre est français.</a:t>
            </a:r>
            <a:endParaRPr b="0" lang="fr-F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4" name="CustomShape 4"/>
          <p:cNvSpPr/>
          <p:nvPr/>
        </p:nvSpPr>
        <p:spPr>
          <a:xfrm>
            <a:off x="457920" y="4653000"/>
            <a:ext cx="4819320" cy="914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/>
          <a:p>
            <a:pPr>
              <a:lnSpc>
                <a:spcPct val="100000"/>
              </a:lnSpc>
            </a:pPr>
            <a:r>
              <a:rPr b="1" lang="fr-F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ピエールさんは、 フランスじん　　です     </a:t>
            </a:r>
            <a:r>
              <a:rPr b="1" lang="fr-FR" sz="1800" spc="-1" strike="noStrike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か。</a:t>
            </a:r>
            <a:endParaRPr b="0" lang="fr-F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fr-F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 </a:t>
            </a:r>
            <a:r>
              <a:rPr b="1" lang="fr-F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Piêru san </a:t>
            </a:r>
            <a:r>
              <a:rPr b="1" lang="fr-F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　　</a:t>
            </a:r>
            <a:r>
              <a:rPr b="1" lang="fr-F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wa ,     furansu jin  </a:t>
            </a:r>
            <a:r>
              <a:rPr b="1" lang="fr-F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　  </a:t>
            </a:r>
            <a:r>
              <a:rPr b="1" lang="fr-F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desu</a:t>
            </a:r>
            <a:r>
              <a:rPr b="1" lang="fr-F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　</a:t>
            </a:r>
            <a:r>
              <a:rPr b="0" lang="fr-FR" sz="1800" spc="-1" strike="noStrike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ka ?</a:t>
            </a:r>
            <a:endParaRPr b="0" lang="fr-F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5" name="CustomShape 5"/>
          <p:cNvSpPr/>
          <p:nvPr/>
        </p:nvSpPr>
        <p:spPr>
          <a:xfrm>
            <a:off x="947160" y="5391720"/>
            <a:ext cx="5472360" cy="366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p>
            <a:pPr>
              <a:lnSpc>
                <a:spcPct val="100000"/>
              </a:lnSpc>
            </a:pPr>
            <a:r>
              <a:rPr b="0" i="1" lang="fr-F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Est-ce que Pierre est français ?</a:t>
            </a:r>
            <a:endParaRPr b="0" lang="fr-F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6" name="CustomShape 6"/>
          <p:cNvSpPr/>
          <p:nvPr/>
        </p:nvSpPr>
        <p:spPr>
          <a:xfrm>
            <a:off x="971640" y="1087200"/>
            <a:ext cx="6660360" cy="935640"/>
          </a:xfrm>
          <a:prstGeom prst="rect">
            <a:avLst/>
          </a:prstGeom>
          <a:noFill/>
          <a:ln w="25560">
            <a:solidFill>
              <a:srgbClr val="385d8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CustomShape 7"/>
          <p:cNvSpPr/>
          <p:nvPr/>
        </p:nvSpPr>
        <p:spPr>
          <a:xfrm>
            <a:off x="2411640" y="3715200"/>
            <a:ext cx="791640" cy="638280"/>
          </a:xfrm>
          <a:custGeom>
            <a:avLst/>
            <a:gdLst/>
            <a:ahLst/>
            <a:rect l="0" t="0" r="r" b="b"/>
            <a:pathLst>
              <a:path w="2201" h="1775">
                <a:moveTo>
                  <a:pt x="550" y="0"/>
                </a:moveTo>
                <a:lnTo>
                  <a:pt x="550" y="887"/>
                </a:lnTo>
                <a:lnTo>
                  <a:pt x="0" y="887"/>
                </a:lnTo>
                <a:lnTo>
                  <a:pt x="1100" y="1774"/>
                </a:lnTo>
                <a:lnTo>
                  <a:pt x="2200" y="887"/>
                </a:lnTo>
                <a:lnTo>
                  <a:pt x="1650" y="887"/>
                </a:lnTo>
                <a:lnTo>
                  <a:pt x="1650" y="0"/>
                </a:lnTo>
                <a:lnTo>
                  <a:pt x="550" y="0"/>
                </a:lnTo>
              </a:path>
            </a:pathLst>
          </a:custGeom>
          <a:solidFill>
            <a:srgbClr val="4f81bd"/>
          </a:solidFill>
          <a:ln w="25560">
            <a:solidFill>
              <a:srgbClr val="385d8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" name="CustomShape 8"/>
          <p:cNvSpPr/>
          <p:nvPr/>
        </p:nvSpPr>
        <p:spPr>
          <a:xfrm>
            <a:off x="515880" y="2630520"/>
            <a:ext cx="1356120" cy="645840"/>
          </a:xfrm>
          <a:prstGeom prst="rect">
            <a:avLst/>
          </a:prstGeom>
          <a:noFill/>
          <a:ln w="25560">
            <a:solidFill>
              <a:srgbClr val="ffc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" name="CustomShape 9"/>
          <p:cNvSpPr/>
          <p:nvPr/>
        </p:nvSpPr>
        <p:spPr>
          <a:xfrm>
            <a:off x="2267640" y="2630520"/>
            <a:ext cx="1415160" cy="645840"/>
          </a:xfrm>
          <a:prstGeom prst="rect">
            <a:avLst/>
          </a:prstGeom>
          <a:noFill/>
          <a:ln w="25560">
            <a:solidFill>
              <a:srgbClr val="ffc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" name="CustomShape 10"/>
          <p:cNvSpPr/>
          <p:nvPr/>
        </p:nvSpPr>
        <p:spPr>
          <a:xfrm>
            <a:off x="948600" y="2225520"/>
            <a:ext cx="447480" cy="366120"/>
          </a:xfrm>
          <a:prstGeom prst="rect">
            <a:avLst/>
          </a:prstGeom>
          <a:noFill/>
          <a:ln w="9360">
            <a:solidFill>
              <a:srgbClr val="ffc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/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N1</a:t>
            </a:r>
            <a:endParaRPr b="0" lang="fr-F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1" name="CustomShape 11"/>
          <p:cNvSpPr/>
          <p:nvPr/>
        </p:nvSpPr>
        <p:spPr>
          <a:xfrm>
            <a:off x="2823120" y="2225520"/>
            <a:ext cx="447480" cy="366120"/>
          </a:xfrm>
          <a:prstGeom prst="rect">
            <a:avLst/>
          </a:prstGeom>
          <a:noFill/>
          <a:ln w="9360">
            <a:solidFill>
              <a:srgbClr val="ffc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/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N2</a:t>
            </a:r>
            <a:endParaRPr b="0" lang="fr-F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2" name="CustomShape 12"/>
          <p:cNvSpPr/>
          <p:nvPr/>
        </p:nvSpPr>
        <p:spPr>
          <a:xfrm>
            <a:off x="467640" y="4653000"/>
            <a:ext cx="1367640" cy="575640"/>
          </a:xfrm>
          <a:prstGeom prst="rect">
            <a:avLst/>
          </a:prstGeom>
          <a:noFill/>
          <a:ln w="25560">
            <a:solidFill>
              <a:srgbClr val="ffc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CustomShape 13"/>
          <p:cNvSpPr/>
          <p:nvPr/>
        </p:nvSpPr>
        <p:spPr>
          <a:xfrm>
            <a:off x="2304000" y="4725000"/>
            <a:ext cx="1367640" cy="503640"/>
          </a:xfrm>
          <a:prstGeom prst="rect">
            <a:avLst/>
          </a:prstGeom>
          <a:noFill/>
          <a:ln w="25560">
            <a:solidFill>
              <a:srgbClr val="ffc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54" name="Picture 2" descr=""/>
          <p:cNvPicPr/>
          <p:nvPr/>
        </p:nvPicPr>
        <p:blipFill>
          <a:blip r:embed="rId1"/>
          <a:stretch/>
        </p:blipFill>
        <p:spPr>
          <a:xfrm>
            <a:off x="5560200" y="2150640"/>
            <a:ext cx="1631160" cy="1863360"/>
          </a:xfrm>
          <a:prstGeom prst="rect">
            <a:avLst/>
          </a:prstGeom>
          <a:ln>
            <a:noFill/>
          </a:ln>
        </p:spPr>
      </p:pic>
      <p:pic>
        <p:nvPicPr>
          <p:cNvPr id="55" name="Picture 4" descr=""/>
          <p:cNvPicPr/>
          <p:nvPr/>
        </p:nvPicPr>
        <p:blipFill>
          <a:blip r:embed="rId2"/>
          <a:stretch/>
        </p:blipFill>
        <p:spPr>
          <a:xfrm>
            <a:off x="0" y="5644080"/>
            <a:ext cx="796320" cy="1196280"/>
          </a:xfrm>
          <a:prstGeom prst="rect">
            <a:avLst/>
          </a:prstGeom>
          <a:ln>
            <a:noFill/>
          </a:ln>
        </p:spPr>
      </p:pic>
      <p:sp>
        <p:nvSpPr>
          <p:cNvPr id="56" name="CustomShape 14"/>
          <p:cNvSpPr/>
          <p:nvPr/>
        </p:nvSpPr>
        <p:spPr>
          <a:xfrm>
            <a:off x="467640" y="4509000"/>
            <a:ext cx="4824000" cy="1251720"/>
          </a:xfrm>
          <a:custGeom>
            <a:avLst/>
            <a:gdLst/>
            <a:ahLst/>
            <a:rect l="0" t="0" r="r" b="b"/>
            <a:pathLst>
              <a:path w="13401" h="4294">
                <a:moveTo>
                  <a:pt x="2227" y="0"/>
                </a:moveTo>
                <a:lnTo>
                  <a:pt x="2227" y="0"/>
                </a:lnTo>
                <a:lnTo>
                  <a:pt x="2110" y="1"/>
                </a:lnTo>
                <a:lnTo>
                  <a:pt x="1994" y="3"/>
                </a:lnTo>
                <a:lnTo>
                  <a:pt x="1879" y="7"/>
                </a:lnTo>
                <a:lnTo>
                  <a:pt x="1764" y="13"/>
                </a:lnTo>
                <a:lnTo>
                  <a:pt x="1651" y="20"/>
                </a:lnTo>
                <a:lnTo>
                  <a:pt x="1539" y="28"/>
                </a:lnTo>
                <a:lnTo>
                  <a:pt x="1429" y="38"/>
                </a:lnTo>
                <a:lnTo>
                  <a:pt x="1321" y="50"/>
                </a:lnTo>
                <a:lnTo>
                  <a:pt x="1216" y="63"/>
                </a:lnTo>
                <a:lnTo>
                  <a:pt x="1114" y="77"/>
                </a:lnTo>
                <a:lnTo>
                  <a:pt x="1014" y="93"/>
                </a:lnTo>
                <a:lnTo>
                  <a:pt x="918" y="110"/>
                </a:lnTo>
                <a:lnTo>
                  <a:pt x="826" y="129"/>
                </a:lnTo>
                <a:lnTo>
                  <a:pt x="737" y="148"/>
                </a:lnTo>
                <a:lnTo>
                  <a:pt x="652" y="169"/>
                </a:lnTo>
                <a:lnTo>
                  <a:pt x="572" y="191"/>
                </a:lnTo>
                <a:lnTo>
                  <a:pt x="496" y="214"/>
                </a:lnTo>
                <a:lnTo>
                  <a:pt x="425" y="238"/>
                </a:lnTo>
                <a:lnTo>
                  <a:pt x="359" y="263"/>
                </a:lnTo>
                <a:lnTo>
                  <a:pt x="298" y="289"/>
                </a:lnTo>
                <a:lnTo>
                  <a:pt x="243" y="316"/>
                </a:lnTo>
                <a:lnTo>
                  <a:pt x="193" y="343"/>
                </a:lnTo>
                <a:lnTo>
                  <a:pt x="148" y="371"/>
                </a:lnTo>
                <a:lnTo>
                  <a:pt x="109" y="399"/>
                </a:lnTo>
                <a:lnTo>
                  <a:pt x="76" y="428"/>
                </a:lnTo>
                <a:lnTo>
                  <a:pt x="49" y="458"/>
                </a:lnTo>
                <a:lnTo>
                  <a:pt x="27" y="488"/>
                </a:lnTo>
                <a:lnTo>
                  <a:pt x="12" y="518"/>
                </a:lnTo>
                <a:lnTo>
                  <a:pt x="3" y="548"/>
                </a:lnTo>
                <a:lnTo>
                  <a:pt x="0" y="578"/>
                </a:lnTo>
                <a:lnTo>
                  <a:pt x="0" y="1011"/>
                </a:lnTo>
                <a:lnTo>
                  <a:pt x="0" y="1444"/>
                </a:lnTo>
                <a:lnTo>
                  <a:pt x="0" y="2033"/>
                </a:lnTo>
                <a:lnTo>
                  <a:pt x="0" y="2466"/>
                </a:lnTo>
                <a:lnTo>
                  <a:pt x="0" y="2899"/>
                </a:lnTo>
                <a:lnTo>
                  <a:pt x="0" y="2899"/>
                </a:lnTo>
                <a:lnTo>
                  <a:pt x="3" y="2929"/>
                </a:lnTo>
                <a:lnTo>
                  <a:pt x="12" y="2959"/>
                </a:lnTo>
                <a:lnTo>
                  <a:pt x="27" y="2989"/>
                </a:lnTo>
                <a:lnTo>
                  <a:pt x="49" y="3019"/>
                </a:lnTo>
                <a:lnTo>
                  <a:pt x="76" y="3049"/>
                </a:lnTo>
                <a:lnTo>
                  <a:pt x="109" y="3078"/>
                </a:lnTo>
                <a:lnTo>
                  <a:pt x="148" y="3106"/>
                </a:lnTo>
                <a:lnTo>
                  <a:pt x="193" y="3134"/>
                </a:lnTo>
                <a:lnTo>
                  <a:pt x="243" y="3161"/>
                </a:lnTo>
                <a:lnTo>
                  <a:pt x="298" y="3188"/>
                </a:lnTo>
                <a:lnTo>
                  <a:pt x="359" y="3214"/>
                </a:lnTo>
                <a:lnTo>
                  <a:pt x="425" y="3239"/>
                </a:lnTo>
                <a:lnTo>
                  <a:pt x="496" y="3263"/>
                </a:lnTo>
                <a:lnTo>
                  <a:pt x="572" y="3286"/>
                </a:lnTo>
                <a:lnTo>
                  <a:pt x="652" y="3308"/>
                </a:lnTo>
                <a:lnTo>
                  <a:pt x="737" y="3329"/>
                </a:lnTo>
                <a:lnTo>
                  <a:pt x="826" y="3348"/>
                </a:lnTo>
                <a:lnTo>
                  <a:pt x="918" y="3367"/>
                </a:lnTo>
                <a:lnTo>
                  <a:pt x="1014" y="3384"/>
                </a:lnTo>
                <a:lnTo>
                  <a:pt x="1114" y="3400"/>
                </a:lnTo>
                <a:lnTo>
                  <a:pt x="1216" y="3414"/>
                </a:lnTo>
                <a:lnTo>
                  <a:pt x="1321" y="3427"/>
                </a:lnTo>
                <a:lnTo>
                  <a:pt x="1429" y="3439"/>
                </a:lnTo>
                <a:lnTo>
                  <a:pt x="1539" y="3449"/>
                </a:lnTo>
                <a:lnTo>
                  <a:pt x="1651" y="3457"/>
                </a:lnTo>
                <a:lnTo>
                  <a:pt x="1764" y="3464"/>
                </a:lnTo>
                <a:lnTo>
                  <a:pt x="1879" y="3470"/>
                </a:lnTo>
                <a:lnTo>
                  <a:pt x="1994" y="3474"/>
                </a:lnTo>
                <a:lnTo>
                  <a:pt x="2110" y="3476"/>
                </a:lnTo>
                <a:lnTo>
                  <a:pt x="2227" y="3477"/>
                </a:lnTo>
                <a:lnTo>
                  <a:pt x="511" y="4293"/>
                </a:lnTo>
                <a:lnTo>
                  <a:pt x="5565" y="3477"/>
                </a:lnTo>
                <a:lnTo>
                  <a:pt x="7835" y="3477"/>
                </a:lnTo>
                <a:lnTo>
                  <a:pt x="9504" y="3477"/>
                </a:lnTo>
                <a:lnTo>
                  <a:pt x="11173" y="3477"/>
                </a:lnTo>
                <a:lnTo>
                  <a:pt x="11173" y="3477"/>
                </a:lnTo>
                <a:lnTo>
                  <a:pt x="11290" y="3476"/>
                </a:lnTo>
                <a:lnTo>
                  <a:pt x="11406" y="3474"/>
                </a:lnTo>
                <a:lnTo>
                  <a:pt x="11521" y="3470"/>
                </a:lnTo>
                <a:lnTo>
                  <a:pt x="11636" y="3464"/>
                </a:lnTo>
                <a:lnTo>
                  <a:pt x="11749" y="3457"/>
                </a:lnTo>
                <a:lnTo>
                  <a:pt x="11861" y="3449"/>
                </a:lnTo>
                <a:lnTo>
                  <a:pt x="11971" y="3439"/>
                </a:lnTo>
                <a:lnTo>
                  <a:pt x="12079" y="3427"/>
                </a:lnTo>
                <a:lnTo>
                  <a:pt x="12184" y="3414"/>
                </a:lnTo>
                <a:lnTo>
                  <a:pt x="12287" y="3400"/>
                </a:lnTo>
                <a:lnTo>
                  <a:pt x="12386" y="3384"/>
                </a:lnTo>
                <a:lnTo>
                  <a:pt x="12482" y="3367"/>
                </a:lnTo>
                <a:lnTo>
                  <a:pt x="12574" y="3348"/>
                </a:lnTo>
                <a:lnTo>
                  <a:pt x="12663" y="3329"/>
                </a:lnTo>
                <a:lnTo>
                  <a:pt x="12748" y="3308"/>
                </a:lnTo>
                <a:lnTo>
                  <a:pt x="12828" y="3286"/>
                </a:lnTo>
                <a:lnTo>
                  <a:pt x="12904" y="3263"/>
                </a:lnTo>
                <a:lnTo>
                  <a:pt x="12975" y="3239"/>
                </a:lnTo>
                <a:lnTo>
                  <a:pt x="13041" y="3214"/>
                </a:lnTo>
                <a:lnTo>
                  <a:pt x="13102" y="3188"/>
                </a:lnTo>
                <a:lnTo>
                  <a:pt x="13157" y="3161"/>
                </a:lnTo>
                <a:lnTo>
                  <a:pt x="13207" y="3134"/>
                </a:lnTo>
                <a:lnTo>
                  <a:pt x="13252" y="3106"/>
                </a:lnTo>
                <a:lnTo>
                  <a:pt x="13291" y="3078"/>
                </a:lnTo>
                <a:lnTo>
                  <a:pt x="13324" y="3049"/>
                </a:lnTo>
                <a:lnTo>
                  <a:pt x="13351" y="3019"/>
                </a:lnTo>
                <a:lnTo>
                  <a:pt x="13373" y="2989"/>
                </a:lnTo>
                <a:lnTo>
                  <a:pt x="13388" y="2959"/>
                </a:lnTo>
                <a:lnTo>
                  <a:pt x="13397" y="2929"/>
                </a:lnTo>
                <a:lnTo>
                  <a:pt x="13400" y="2899"/>
                </a:lnTo>
                <a:lnTo>
                  <a:pt x="13400" y="2466"/>
                </a:lnTo>
                <a:lnTo>
                  <a:pt x="13400" y="2033"/>
                </a:lnTo>
                <a:lnTo>
                  <a:pt x="13400" y="1444"/>
                </a:lnTo>
                <a:lnTo>
                  <a:pt x="13400" y="1011"/>
                </a:lnTo>
                <a:lnTo>
                  <a:pt x="13400" y="578"/>
                </a:lnTo>
                <a:lnTo>
                  <a:pt x="13400" y="578"/>
                </a:lnTo>
                <a:lnTo>
                  <a:pt x="13397" y="548"/>
                </a:lnTo>
                <a:lnTo>
                  <a:pt x="13388" y="518"/>
                </a:lnTo>
                <a:lnTo>
                  <a:pt x="13373" y="488"/>
                </a:lnTo>
                <a:lnTo>
                  <a:pt x="13351" y="458"/>
                </a:lnTo>
                <a:lnTo>
                  <a:pt x="13324" y="428"/>
                </a:lnTo>
                <a:lnTo>
                  <a:pt x="13291" y="399"/>
                </a:lnTo>
                <a:lnTo>
                  <a:pt x="13252" y="371"/>
                </a:lnTo>
                <a:lnTo>
                  <a:pt x="13207" y="343"/>
                </a:lnTo>
                <a:lnTo>
                  <a:pt x="13157" y="316"/>
                </a:lnTo>
                <a:lnTo>
                  <a:pt x="13102" y="289"/>
                </a:lnTo>
                <a:lnTo>
                  <a:pt x="13041" y="263"/>
                </a:lnTo>
                <a:lnTo>
                  <a:pt x="12975" y="238"/>
                </a:lnTo>
                <a:lnTo>
                  <a:pt x="12904" y="214"/>
                </a:lnTo>
                <a:lnTo>
                  <a:pt x="12828" y="191"/>
                </a:lnTo>
                <a:lnTo>
                  <a:pt x="12748" y="169"/>
                </a:lnTo>
                <a:lnTo>
                  <a:pt x="12663" y="148"/>
                </a:lnTo>
                <a:lnTo>
                  <a:pt x="12574" y="129"/>
                </a:lnTo>
                <a:lnTo>
                  <a:pt x="12482" y="110"/>
                </a:lnTo>
                <a:lnTo>
                  <a:pt x="12386" y="93"/>
                </a:lnTo>
                <a:lnTo>
                  <a:pt x="12287" y="77"/>
                </a:lnTo>
                <a:lnTo>
                  <a:pt x="12184" y="63"/>
                </a:lnTo>
                <a:lnTo>
                  <a:pt x="12079" y="50"/>
                </a:lnTo>
                <a:lnTo>
                  <a:pt x="11971" y="38"/>
                </a:lnTo>
                <a:lnTo>
                  <a:pt x="11861" y="28"/>
                </a:lnTo>
                <a:lnTo>
                  <a:pt x="11749" y="20"/>
                </a:lnTo>
                <a:lnTo>
                  <a:pt x="11636" y="13"/>
                </a:lnTo>
                <a:lnTo>
                  <a:pt x="11521" y="7"/>
                </a:lnTo>
                <a:lnTo>
                  <a:pt x="11406" y="3"/>
                </a:lnTo>
                <a:lnTo>
                  <a:pt x="11290" y="1"/>
                </a:lnTo>
                <a:lnTo>
                  <a:pt x="11173" y="0"/>
                </a:lnTo>
                <a:lnTo>
                  <a:pt x="9504" y="0"/>
                </a:lnTo>
                <a:lnTo>
                  <a:pt x="7835" y="0"/>
                </a:lnTo>
                <a:lnTo>
                  <a:pt x="5565" y="0"/>
                </a:lnTo>
                <a:lnTo>
                  <a:pt x="3896" y="0"/>
                </a:lnTo>
                <a:lnTo>
                  <a:pt x="2227" y="0"/>
                </a:lnTo>
              </a:path>
            </a:pathLst>
          </a:custGeom>
          <a:noFill/>
          <a:ln w="25560">
            <a:solidFill>
              <a:srgbClr val="385d8a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57" name="Picture 5" descr=""/>
          <p:cNvPicPr/>
          <p:nvPr/>
        </p:nvPicPr>
        <p:blipFill>
          <a:blip r:embed="rId3"/>
          <a:stretch/>
        </p:blipFill>
        <p:spPr>
          <a:xfrm>
            <a:off x="8036280" y="5468040"/>
            <a:ext cx="1107360" cy="1264320"/>
          </a:xfrm>
          <a:prstGeom prst="rect">
            <a:avLst/>
          </a:prstGeom>
          <a:ln>
            <a:noFill/>
          </a:ln>
        </p:spPr>
      </p:pic>
      <p:sp>
        <p:nvSpPr>
          <p:cNvPr id="58" name="CustomShape 15"/>
          <p:cNvSpPr/>
          <p:nvPr/>
        </p:nvSpPr>
        <p:spPr>
          <a:xfrm>
            <a:off x="5436000" y="4722840"/>
            <a:ext cx="3564000" cy="578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p>
            <a:pPr>
              <a:lnSpc>
                <a:spcPct val="100000"/>
              </a:lnSpc>
            </a:pPr>
            <a:r>
              <a:rPr b="0" lang="fr-FR" sz="16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はい、わたし     は　フランスじん　です</a:t>
            </a:r>
            <a:endParaRPr b="0" lang="fr-FR" sz="16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6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 </a:t>
            </a:r>
            <a:r>
              <a:rPr b="0" lang="fr-FR" sz="16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Hai,    watashi     wa   furansu jin    desu.</a:t>
            </a:r>
            <a:endParaRPr b="0" lang="fr-FR" sz="16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9" name="CustomShape 16"/>
          <p:cNvSpPr/>
          <p:nvPr/>
        </p:nvSpPr>
        <p:spPr>
          <a:xfrm>
            <a:off x="5364000" y="4509000"/>
            <a:ext cx="3564000" cy="882360"/>
          </a:xfrm>
          <a:prstGeom prst="wedgeRoundRectCallout">
            <a:avLst>
              <a:gd name="adj1" fmla="val 35104"/>
              <a:gd name="adj2" fmla="val 71727"/>
              <a:gd name="adj3" fmla="val 16667"/>
            </a:avLst>
          </a:prstGeom>
          <a:noFill/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0" name="CustomShape 17"/>
          <p:cNvSpPr/>
          <p:nvPr/>
        </p:nvSpPr>
        <p:spPr>
          <a:xfrm>
            <a:off x="5940000" y="4722840"/>
            <a:ext cx="791640" cy="503640"/>
          </a:xfrm>
          <a:prstGeom prst="rect">
            <a:avLst/>
          </a:prstGeom>
          <a:noFill/>
          <a:ln>
            <a:solidFill>
              <a:srgbClr val="ffc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1" name="CustomShape 18"/>
          <p:cNvSpPr/>
          <p:nvPr/>
        </p:nvSpPr>
        <p:spPr>
          <a:xfrm>
            <a:off x="7200000" y="4680360"/>
            <a:ext cx="1008000" cy="621000"/>
          </a:xfrm>
          <a:prstGeom prst="rect">
            <a:avLst/>
          </a:prstGeom>
          <a:noFill/>
          <a:ln>
            <a:solidFill>
              <a:srgbClr val="ffc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2" name="CustomShape 19"/>
          <p:cNvSpPr/>
          <p:nvPr/>
        </p:nvSpPr>
        <p:spPr>
          <a:xfrm>
            <a:off x="511200" y="98280"/>
            <a:ext cx="8124120" cy="701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/>
          <a:p>
            <a:pPr algn="ctr">
              <a:lnSpc>
                <a:spcPct val="100000"/>
              </a:lnSpc>
            </a:pPr>
            <a:r>
              <a:rPr b="1" lang="fr-FR" sz="4000" spc="-1" strike="noStrike">
                <a:solidFill>
                  <a:srgbClr val="adbcd8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Comment on peut pose des questions</a:t>
            </a:r>
            <a:endParaRPr b="0" lang="fr-FR" sz="4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CustomShape 1"/>
          <p:cNvSpPr/>
          <p:nvPr/>
        </p:nvSpPr>
        <p:spPr>
          <a:xfrm>
            <a:off x="2171880" y="660240"/>
            <a:ext cx="5400360" cy="577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fr-FR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2) Utiliser un mot interrogatif</a:t>
            </a:r>
            <a:endParaRPr b="0" lang="fr-F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4" name="CustomShape 2"/>
          <p:cNvSpPr/>
          <p:nvPr/>
        </p:nvSpPr>
        <p:spPr>
          <a:xfrm>
            <a:off x="2183760" y="448920"/>
            <a:ext cx="5196240" cy="1007640"/>
          </a:xfrm>
          <a:prstGeom prst="rect">
            <a:avLst/>
          </a:prstGeom>
          <a:noFill/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65" name="Picture 2" descr=""/>
          <p:cNvPicPr/>
          <p:nvPr/>
        </p:nvPicPr>
        <p:blipFill>
          <a:blip r:embed="rId1"/>
          <a:stretch/>
        </p:blipFill>
        <p:spPr>
          <a:xfrm>
            <a:off x="5013360" y="1667160"/>
            <a:ext cx="1297440" cy="2078640"/>
          </a:xfrm>
          <a:prstGeom prst="rect">
            <a:avLst/>
          </a:prstGeom>
          <a:ln>
            <a:noFill/>
          </a:ln>
        </p:spPr>
      </p:pic>
      <p:sp>
        <p:nvSpPr>
          <p:cNvPr id="66" name="CustomShape 3"/>
          <p:cNvSpPr/>
          <p:nvPr/>
        </p:nvSpPr>
        <p:spPr>
          <a:xfrm>
            <a:off x="1096920" y="2277000"/>
            <a:ext cx="4172400" cy="63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たなかさんのくに   は、にほん  です。</a:t>
            </a:r>
            <a:endParaRPr b="0" lang="fr-F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Tanaka san no kuni     wa, nihon     desu.</a:t>
            </a:r>
            <a:endParaRPr b="0" lang="fr-F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7" name="CustomShape 4"/>
          <p:cNvSpPr/>
          <p:nvPr/>
        </p:nvSpPr>
        <p:spPr>
          <a:xfrm>
            <a:off x="1170360" y="2340360"/>
            <a:ext cx="1872000" cy="575640"/>
          </a:xfrm>
          <a:prstGeom prst="rect">
            <a:avLst/>
          </a:prstGeom>
          <a:noFill/>
          <a:ln>
            <a:solidFill>
              <a:srgbClr val="ffc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8" name="CustomShape 5"/>
          <p:cNvSpPr/>
          <p:nvPr/>
        </p:nvSpPr>
        <p:spPr>
          <a:xfrm>
            <a:off x="3564000" y="2311920"/>
            <a:ext cx="719640" cy="575640"/>
          </a:xfrm>
          <a:prstGeom prst="rect">
            <a:avLst/>
          </a:prstGeom>
          <a:noFill/>
          <a:ln>
            <a:solidFill>
              <a:srgbClr val="ffc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69" name="Picture 3" descr=""/>
          <p:cNvPicPr/>
          <p:nvPr/>
        </p:nvPicPr>
        <p:blipFill>
          <a:blip r:embed="rId2"/>
          <a:stretch/>
        </p:blipFill>
        <p:spPr>
          <a:xfrm>
            <a:off x="1637280" y="1843200"/>
            <a:ext cx="553680" cy="493200"/>
          </a:xfrm>
          <a:prstGeom prst="rect">
            <a:avLst/>
          </a:prstGeom>
          <a:ln>
            <a:noFill/>
          </a:ln>
        </p:spPr>
      </p:pic>
      <p:pic>
        <p:nvPicPr>
          <p:cNvPr id="70" name="Picture 4" descr=""/>
          <p:cNvPicPr/>
          <p:nvPr/>
        </p:nvPicPr>
        <p:blipFill>
          <a:blip r:embed="rId3"/>
          <a:stretch/>
        </p:blipFill>
        <p:spPr>
          <a:xfrm>
            <a:off x="3646800" y="1879200"/>
            <a:ext cx="553680" cy="493200"/>
          </a:xfrm>
          <a:prstGeom prst="rect">
            <a:avLst/>
          </a:prstGeom>
          <a:ln>
            <a:noFill/>
          </a:ln>
        </p:spPr>
      </p:pic>
      <p:pic>
        <p:nvPicPr>
          <p:cNvPr id="71" name="Picture 4" descr=""/>
          <p:cNvPicPr/>
          <p:nvPr/>
        </p:nvPicPr>
        <p:blipFill>
          <a:blip r:embed="rId4"/>
          <a:stretch/>
        </p:blipFill>
        <p:spPr>
          <a:xfrm>
            <a:off x="-76320" y="5760000"/>
            <a:ext cx="796320" cy="1196280"/>
          </a:xfrm>
          <a:prstGeom prst="rect">
            <a:avLst/>
          </a:prstGeom>
          <a:ln>
            <a:noFill/>
          </a:ln>
        </p:spPr>
      </p:pic>
      <p:sp>
        <p:nvSpPr>
          <p:cNvPr id="72" name="CustomShape 6"/>
          <p:cNvSpPr/>
          <p:nvPr/>
        </p:nvSpPr>
        <p:spPr>
          <a:xfrm>
            <a:off x="632160" y="4797000"/>
            <a:ext cx="4858200" cy="63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たなかさん の くに  は、</a:t>
            </a:r>
            <a:r>
              <a:rPr b="0" i="1" lang="fr-FR" sz="1800" spc="-1" strike="noStrike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どちら</a:t>
            </a:r>
            <a:r>
              <a:rPr b="0" lang="fr-F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　です　</a:t>
            </a:r>
            <a:r>
              <a:rPr b="0" lang="fr-FR" sz="1800" spc="-1" strike="noStrike">
                <a:solidFill>
                  <a:srgbClr val="00b0f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か</a:t>
            </a:r>
            <a:r>
              <a:rPr b="0" lang="fr-F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。</a:t>
            </a:r>
            <a:endParaRPr b="0" lang="fr-F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Tanaka san  no kuni     wa,      </a:t>
            </a:r>
            <a:r>
              <a:rPr b="0" i="1" lang="fr-FR" sz="1800" spc="-1" strike="noStrike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dochira</a:t>
            </a:r>
            <a:r>
              <a:rPr b="0" lang="fr-F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 desu </a:t>
            </a:r>
            <a:r>
              <a:rPr b="0" lang="fr-FR" sz="1800" spc="-1" strike="noStrike">
                <a:solidFill>
                  <a:srgbClr val="00b0f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ka</a:t>
            </a:r>
            <a:r>
              <a:rPr b="0" lang="fr-F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.</a:t>
            </a:r>
            <a:endParaRPr b="0" lang="fr-F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3" name="CustomShape 7"/>
          <p:cNvSpPr/>
          <p:nvPr/>
        </p:nvSpPr>
        <p:spPr>
          <a:xfrm>
            <a:off x="1115640" y="5644080"/>
            <a:ext cx="4356360" cy="63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       </a:t>
            </a:r>
            <a:r>
              <a:rPr b="0" lang="fr-F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お くに　は、</a:t>
            </a:r>
            <a:r>
              <a:rPr b="0" i="1" lang="fr-FR" sz="1800" spc="-1" strike="noStrike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どちら</a:t>
            </a:r>
            <a:r>
              <a:rPr b="0" lang="fr-F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   です　</a:t>
            </a:r>
            <a:r>
              <a:rPr b="0" lang="fr-FR" sz="1800" spc="-1" strike="noStrike">
                <a:solidFill>
                  <a:srgbClr val="00b0f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か</a:t>
            </a:r>
            <a:endParaRPr b="0" lang="fr-F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　　  </a:t>
            </a:r>
            <a:r>
              <a:rPr b="0" lang="fr-F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o    kuni    wa,   </a:t>
            </a:r>
            <a:r>
              <a:rPr b="0" i="1" lang="fr-FR" sz="1800" spc="-1" strike="noStrike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dochira</a:t>
            </a:r>
            <a:r>
              <a:rPr b="0" lang="fr-F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   desu    </a:t>
            </a:r>
            <a:r>
              <a:rPr b="0" lang="fr-FR" sz="1800" spc="-1" strike="noStrike">
                <a:solidFill>
                  <a:srgbClr val="00b0f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ka</a:t>
            </a:r>
            <a:r>
              <a:rPr b="0" lang="fr-F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.</a:t>
            </a:r>
            <a:r>
              <a:rPr b="0" lang="fr-F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　</a:t>
            </a:r>
            <a:endParaRPr b="0" lang="fr-F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4" name="CustomShape 8"/>
          <p:cNvSpPr/>
          <p:nvPr/>
        </p:nvSpPr>
        <p:spPr>
          <a:xfrm>
            <a:off x="720000" y="4602960"/>
            <a:ext cx="1944000" cy="1680120"/>
          </a:xfrm>
          <a:prstGeom prst="rect">
            <a:avLst/>
          </a:prstGeom>
          <a:noFill/>
          <a:ln>
            <a:solidFill>
              <a:srgbClr val="ffc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5" name="CustomShape 9"/>
          <p:cNvSpPr/>
          <p:nvPr/>
        </p:nvSpPr>
        <p:spPr>
          <a:xfrm>
            <a:off x="3168000" y="4608000"/>
            <a:ext cx="863640" cy="1445040"/>
          </a:xfrm>
          <a:prstGeom prst="rect">
            <a:avLst/>
          </a:prstGeom>
          <a:noFill/>
          <a:ln>
            <a:solidFill>
              <a:srgbClr val="ffc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6" name="CustomShape 10"/>
          <p:cNvSpPr/>
          <p:nvPr/>
        </p:nvSpPr>
        <p:spPr>
          <a:xfrm>
            <a:off x="2160000" y="4602960"/>
            <a:ext cx="431640" cy="1445040"/>
          </a:xfrm>
          <a:prstGeom prst="rect">
            <a:avLst/>
          </a:prstGeom>
          <a:noFill/>
          <a:ln>
            <a:solidFill>
              <a:srgbClr val="ffc000"/>
            </a:solidFill>
            <a:custDash>
              <a:ds d="100000" sp="100000"/>
            </a:custDash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7" name="CustomShape 11"/>
          <p:cNvSpPr/>
          <p:nvPr/>
        </p:nvSpPr>
        <p:spPr>
          <a:xfrm>
            <a:off x="856440" y="4725000"/>
            <a:ext cx="1944000" cy="722160"/>
          </a:xfrm>
          <a:prstGeom prst="rect">
            <a:avLst/>
          </a:prstGeom>
          <a:noFill/>
          <a:ln>
            <a:solidFill>
              <a:srgbClr val="ffc000"/>
            </a:solidFill>
            <a:custDash>
              <a:ds d="100000" sp="100000"/>
            </a:custDash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8" name="CustomShape 12"/>
          <p:cNvSpPr/>
          <p:nvPr/>
        </p:nvSpPr>
        <p:spPr>
          <a:xfrm>
            <a:off x="3204000" y="4797000"/>
            <a:ext cx="863640" cy="722160"/>
          </a:xfrm>
          <a:prstGeom prst="rect">
            <a:avLst/>
          </a:prstGeom>
          <a:noFill/>
          <a:ln>
            <a:solidFill>
              <a:srgbClr val="ffc000"/>
            </a:solidFill>
            <a:custDash>
              <a:ds d="100000" sp="100000"/>
            </a:custDash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9" name="CustomShape 13"/>
          <p:cNvSpPr/>
          <p:nvPr/>
        </p:nvSpPr>
        <p:spPr>
          <a:xfrm>
            <a:off x="632160" y="4509000"/>
            <a:ext cx="4659840" cy="1942200"/>
          </a:xfrm>
          <a:prstGeom prst="wedgeRoundRectCallout">
            <a:avLst>
              <a:gd name="adj1" fmla="val -53268"/>
              <a:gd name="adj2" fmla="val 34744"/>
              <a:gd name="adj3" fmla="val 16667"/>
            </a:avLst>
          </a:prstGeom>
          <a:noFill/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80" name="Picture 6" descr=""/>
          <p:cNvPicPr/>
          <p:nvPr/>
        </p:nvPicPr>
        <p:blipFill>
          <a:blip r:embed="rId5"/>
          <a:stretch/>
        </p:blipFill>
        <p:spPr>
          <a:xfrm>
            <a:off x="8388360" y="5544360"/>
            <a:ext cx="711000" cy="1139040"/>
          </a:xfrm>
          <a:prstGeom prst="rect">
            <a:avLst/>
          </a:prstGeom>
          <a:ln>
            <a:noFill/>
          </a:ln>
        </p:spPr>
      </p:pic>
      <p:sp>
        <p:nvSpPr>
          <p:cNvPr id="81" name="CustomShape 14"/>
          <p:cNvSpPr/>
          <p:nvPr/>
        </p:nvSpPr>
        <p:spPr>
          <a:xfrm>
            <a:off x="5364000" y="4365000"/>
            <a:ext cx="3852000" cy="63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(  </a:t>
            </a:r>
            <a:r>
              <a:rPr b="0" lang="fr-F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わたし の くには</a:t>
            </a:r>
            <a:r>
              <a:rPr b="0" lang="fr-F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)  </a:t>
            </a:r>
            <a:r>
              <a:rPr b="1" lang="fr-FR" sz="1800" spc="-1" strike="noStrike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にほん  </a:t>
            </a:r>
            <a:r>
              <a:rPr b="0" lang="fr-F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です</a:t>
            </a:r>
            <a:endParaRPr b="0" lang="fr-F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( watashi no kuni  wa)      </a:t>
            </a:r>
            <a:r>
              <a:rPr b="1" lang="fr-FR" sz="1800" spc="-1" strike="noStrike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nihon</a:t>
            </a:r>
            <a:r>
              <a:rPr b="0" lang="fr-F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   desu.</a:t>
            </a:r>
            <a:endParaRPr b="0" lang="fr-F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2" name="CustomShape 15"/>
          <p:cNvSpPr/>
          <p:nvPr/>
        </p:nvSpPr>
        <p:spPr>
          <a:xfrm>
            <a:off x="5508000" y="4365000"/>
            <a:ext cx="1620000" cy="645840"/>
          </a:xfrm>
          <a:prstGeom prst="rect">
            <a:avLst/>
          </a:prstGeom>
          <a:noFill/>
          <a:ln>
            <a:solidFill>
              <a:srgbClr val="ffc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3" name="CustomShape 16"/>
          <p:cNvSpPr/>
          <p:nvPr/>
        </p:nvSpPr>
        <p:spPr>
          <a:xfrm>
            <a:off x="7560360" y="4394160"/>
            <a:ext cx="935640" cy="645840"/>
          </a:xfrm>
          <a:prstGeom prst="rect">
            <a:avLst/>
          </a:prstGeom>
          <a:noFill/>
          <a:ln>
            <a:solidFill>
              <a:srgbClr val="ffc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4" name="CustomShape 17"/>
          <p:cNvSpPr/>
          <p:nvPr/>
        </p:nvSpPr>
        <p:spPr>
          <a:xfrm>
            <a:off x="5364000" y="4077000"/>
            <a:ext cx="3780000" cy="1366200"/>
          </a:xfrm>
          <a:prstGeom prst="wedgeRoundRectCallout">
            <a:avLst>
              <a:gd name="adj1" fmla="val 34058"/>
              <a:gd name="adj2" fmla="val 76172"/>
              <a:gd name="adj3" fmla="val 16667"/>
            </a:avLst>
          </a:prstGeom>
          <a:noFill/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5" name="CustomShape 18"/>
          <p:cNvSpPr/>
          <p:nvPr/>
        </p:nvSpPr>
        <p:spPr>
          <a:xfrm>
            <a:off x="1043640" y="3141000"/>
            <a:ext cx="396936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i="1" lang="fr-F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Le pays de Mr. Tanaka est le Japon.</a:t>
            </a:r>
            <a:endParaRPr b="0" lang="fr-F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6" name="CustomShape 19"/>
          <p:cNvSpPr/>
          <p:nvPr/>
        </p:nvSpPr>
        <p:spPr>
          <a:xfrm>
            <a:off x="796680" y="6499080"/>
            <a:ext cx="677520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i="1" lang="fr-F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Quel est le pays de Mr.Tanaka ? ←</a:t>
            </a:r>
            <a:r>
              <a:rPr b="0" i="1" lang="fr-F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　</a:t>
            </a:r>
            <a:r>
              <a:rPr b="0" i="1" lang="fr-F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Où est le pays de Mr. Tanaka ?</a:t>
            </a:r>
            <a:endParaRPr b="0" lang="fr-F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7" name="CustomShape 20"/>
          <p:cNvSpPr/>
          <p:nvPr/>
        </p:nvSpPr>
        <p:spPr>
          <a:xfrm>
            <a:off x="2521080" y="3592080"/>
            <a:ext cx="1079640" cy="710280"/>
          </a:xfrm>
          <a:prstGeom prst="downArrow">
            <a:avLst>
              <a:gd name="adj1" fmla="val 50000"/>
              <a:gd name="adj2" fmla="val 50000"/>
            </a:avLst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p:timing>
    <p:tnLst>
      <p:par>
        <p:cTn id="3" dur="indefinite" restart="never" nodeType="tmRoot">
          <p:childTnLst>
            <p:seq>
              <p:cTn id="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CustomShape 1"/>
          <p:cNvSpPr/>
          <p:nvPr/>
        </p:nvSpPr>
        <p:spPr>
          <a:xfrm>
            <a:off x="899640" y="836640"/>
            <a:ext cx="6336360" cy="5778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fr-FR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3) Quelques mots interrogatifs</a:t>
            </a:r>
            <a:endParaRPr b="0" lang="fr-F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graphicFrame>
        <p:nvGraphicFramePr>
          <p:cNvPr id="89" name="Table 2"/>
          <p:cNvGraphicFramePr/>
          <p:nvPr/>
        </p:nvGraphicFramePr>
        <p:xfrm>
          <a:off x="899640" y="1628640"/>
          <a:ext cx="7272360" cy="4176000"/>
        </p:xfrm>
        <a:graphic>
          <a:graphicData uri="http://schemas.openxmlformats.org/drawingml/2006/table">
            <a:tbl>
              <a:tblPr/>
              <a:tblGrid>
                <a:gridCol w="3636360"/>
                <a:gridCol w="3636360"/>
              </a:tblGrid>
              <a:tr h="452160">
                <a:tc>
                  <a:txBody>
                    <a:bodyPr/>
                    <a:p>
                      <a:r>
                        <a:rPr b="1" lang="fr-FR" sz="1800" spc="-1" strike="noStrike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Catégories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p>
                      <a:r>
                        <a:rPr b="1" lang="fr-FR" sz="1800" spc="-1" strike="noStrike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Mots interrogatifs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</a:tr>
              <a:tr h="1036080">
                <a:tc>
                  <a:txBody>
                    <a:bodyPr/>
                    <a:p>
                      <a:r>
                        <a:rPr b="0" lang="fr-FR" sz="40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Lieu</a:t>
                      </a:r>
                      <a:endParaRPr b="0" lang="fr-FR" sz="40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p>
                      <a:r>
                        <a:rPr b="0" lang="fr-FR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どちら　</a:t>
                      </a:r>
                      <a:r>
                        <a:rPr b="0" lang="fr-FR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(très poli)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  <a:p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dochira</a:t>
                      </a:r>
                      <a:endParaRPr b="0" lang="fr-FR" sz="12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  <a:p>
                      <a:r>
                        <a:rPr b="0" lang="fr-FR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どこ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  <a:p>
                      <a:r>
                        <a:rPr b="0" lang="fr-FR" sz="14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doko</a:t>
                      </a:r>
                      <a:endParaRPr b="0" lang="fr-FR" sz="14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</a:tr>
              <a:tr h="749520">
                <a:tc>
                  <a:txBody>
                    <a:bodyPr/>
                    <a:p>
                      <a:r>
                        <a:rPr b="0" lang="fr-FR" sz="40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Chose</a:t>
                      </a:r>
                      <a:endParaRPr b="0" lang="fr-FR" sz="40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p>
                      <a:r>
                        <a:rPr b="0" lang="fr-FR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なん　</a:t>
                      </a:r>
                      <a:r>
                        <a:rPr b="0" lang="fr-FR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/</a:t>
                      </a:r>
                      <a:r>
                        <a:rPr b="0" lang="fr-FR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　なに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  <a:p>
                      <a:r>
                        <a:rPr b="0" lang="fr-FR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nan   /    nani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1189080">
                <a:tc>
                  <a:txBody>
                    <a:bodyPr/>
                    <a:p>
                      <a:r>
                        <a:rPr b="0" lang="fr-FR" sz="40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Personne</a:t>
                      </a:r>
                      <a:endParaRPr b="0" lang="fr-FR" sz="40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p>
                      <a:r>
                        <a:rPr b="0" lang="fr-FR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どなた </a:t>
                      </a:r>
                      <a:r>
                        <a:rPr b="0" lang="fr-FR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(très poli)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  <a:p>
                      <a:r>
                        <a:rPr b="0" lang="fr-FR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donata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  <a:p>
                      <a:r>
                        <a:rPr b="0" lang="fr-FR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だれ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  <a:p>
                      <a:r>
                        <a:rPr b="0" lang="fr-FR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Dare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</a:tr>
              <a:tr h="749160">
                <a:tc>
                  <a:txBody>
                    <a:bodyPr/>
                    <a:p>
                      <a:r>
                        <a:rPr b="0" lang="fr-FR" sz="40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Temps</a:t>
                      </a:r>
                      <a:endParaRPr b="0" lang="fr-FR" sz="40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p>
                      <a:r>
                        <a:rPr b="0" lang="fr-FR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いつ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  <a:p>
                      <a:r>
                        <a:rPr b="0" lang="fr-FR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itsu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  <p:sp>
        <p:nvSpPr>
          <p:cNvPr id="90" name="CustomShape 3"/>
          <p:cNvSpPr/>
          <p:nvPr/>
        </p:nvSpPr>
        <p:spPr>
          <a:xfrm>
            <a:off x="7164360" y="2421000"/>
            <a:ext cx="1007640" cy="577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fr-FR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où</a:t>
            </a:r>
            <a:endParaRPr b="0" lang="fr-F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1" name="CustomShape 4"/>
          <p:cNvSpPr/>
          <p:nvPr/>
        </p:nvSpPr>
        <p:spPr>
          <a:xfrm>
            <a:off x="6516360" y="3213000"/>
            <a:ext cx="1656000" cy="943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fr-FR" sz="2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quel : quoi: que</a:t>
            </a:r>
            <a:endParaRPr b="0" lang="fr-FR" sz="2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2" name="CustomShape 5"/>
          <p:cNvSpPr/>
          <p:nvPr/>
        </p:nvSpPr>
        <p:spPr>
          <a:xfrm>
            <a:off x="7236360" y="4397040"/>
            <a:ext cx="1223640" cy="577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fr-FR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qui</a:t>
            </a:r>
            <a:endParaRPr b="0" lang="fr-F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3" name="CustomShape 6"/>
          <p:cNvSpPr/>
          <p:nvPr/>
        </p:nvSpPr>
        <p:spPr>
          <a:xfrm>
            <a:off x="6732360" y="5517360"/>
            <a:ext cx="1439640" cy="577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fr-FR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quand</a:t>
            </a:r>
            <a:endParaRPr b="0" lang="fr-FR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CustomShape 1"/>
          <p:cNvSpPr/>
          <p:nvPr/>
        </p:nvSpPr>
        <p:spPr>
          <a:xfrm>
            <a:off x="755640" y="620640"/>
            <a:ext cx="741636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fr-F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4 ) une manière courante pour poser des questions</a:t>
            </a:r>
            <a:endParaRPr b="0" lang="fr-F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5" name="CustomShape 2"/>
          <p:cNvSpPr/>
          <p:nvPr/>
        </p:nvSpPr>
        <p:spPr>
          <a:xfrm>
            <a:off x="755640" y="1484640"/>
            <a:ext cx="7200360" cy="1461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1f497d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 :</a:t>
            </a:r>
            <a:r>
              <a:rPr b="0" lang="fr-FR" sz="1800" spc="-1" strike="noStrike">
                <a:solidFill>
                  <a:srgbClr val="1f497d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　おなまえは、なん　ですか。                     </a:t>
            </a:r>
            <a:r>
              <a:rPr b="0" lang="fr-FR" sz="1800" spc="-1" strike="noStrike">
                <a:solidFill>
                  <a:srgbClr val="1f497d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Quel est votre nom ?</a:t>
            </a:r>
            <a:endParaRPr b="0" lang="fr-F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1f497d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        </a:t>
            </a:r>
            <a:r>
              <a:rPr b="0" lang="fr-FR" sz="1800" spc="-1" strike="noStrike">
                <a:solidFill>
                  <a:srgbClr val="1f497d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o  namae wa  nan    desu ka.</a:t>
            </a:r>
            <a:endParaRPr b="0" lang="fr-F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1f497d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 :    </a:t>
            </a:r>
            <a:r>
              <a:rPr b="0" lang="fr-FR" sz="1800" spc="-1" strike="noStrike">
                <a:solidFill>
                  <a:srgbClr val="1f497d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わたしのなまえは、ピエールです。       </a:t>
            </a:r>
            <a:r>
              <a:rPr b="0" lang="fr-FR" sz="1800" spc="-1" strike="noStrike">
                <a:solidFill>
                  <a:srgbClr val="1f497d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Mon nom est Pierre.</a:t>
            </a:r>
            <a:endParaRPr b="0" lang="fr-F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1f497d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　　　</a:t>
            </a:r>
            <a:r>
              <a:rPr b="0" lang="fr-FR" sz="1800" spc="-1" strike="noStrike">
                <a:solidFill>
                  <a:srgbClr val="1f497d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watashi no namae wa, piêru desu.</a:t>
            </a:r>
            <a:r>
              <a:rPr b="0" lang="fr-FR" sz="1800" spc="-1" strike="noStrike">
                <a:solidFill>
                  <a:srgbClr val="1f497d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　</a:t>
            </a:r>
            <a:endParaRPr b="0" lang="fr-F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6" name="CustomShape 3"/>
          <p:cNvSpPr/>
          <p:nvPr/>
        </p:nvSpPr>
        <p:spPr>
          <a:xfrm>
            <a:off x="755640" y="1484640"/>
            <a:ext cx="7200360" cy="1477080"/>
          </a:xfrm>
          <a:prstGeom prst="rect">
            <a:avLst/>
          </a:prstGeom>
          <a:noFill/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7" name="CustomShape 4"/>
          <p:cNvSpPr/>
          <p:nvPr/>
        </p:nvSpPr>
        <p:spPr>
          <a:xfrm>
            <a:off x="3780000" y="3213000"/>
            <a:ext cx="1007640" cy="935640"/>
          </a:xfrm>
          <a:prstGeom prst="downArrow">
            <a:avLst>
              <a:gd name="adj1" fmla="val 50000"/>
              <a:gd name="adj2" fmla="val 50000"/>
            </a:avLst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8" name="CustomShape 5"/>
          <p:cNvSpPr/>
          <p:nvPr/>
        </p:nvSpPr>
        <p:spPr>
          <a:xfrm>
            <a:off x="971640" y="4509000"/>
            <a:ext cx="7200360" cy="2284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fr-F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</a:t>
            </a:r>
            <a:r>
              <a:rPr b="1" lang="fr-F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：　おなまえは、（なん　ですか。）…</a:t>
            </a:r>
            <a:r>
              <a:rPr b="1" lang="fr-F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..                     Votre nom….. ?</a:t>
            </a:r>
            <a:endParaRPr b="0" lang="fr-F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fr-F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        </a:t>
            </a:r>
            <a:r>
              <a:rPr b="1" lang="fr-F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o  namae wa  </a:t>
            </a:r>
            <a:r>
              <a:rPr b="1" lang="fr-F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（</a:t>
            </a:r>
            <a:r>
              <a:rPr b="1" lang="fr-F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nan    desu ka.</a:t>
            </a:r>
            <a:r>
              <a:rPr b="1" lang="fr-F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）…</a:t>
            </a:r>
            <a:r>
              <a:rPr b="1" lang="fr-F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..</a:t>
            </a:r>
            <a:endParaRPr b="0" lang="fr-F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fr-F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 :    </a:t>
            </a:r>
            <a:r>
              <a:rPr b="1" lang="fr-F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（わたしのなまえは、）　ピエールです。       （</a:t>
            </a:r>
            <a:r>
              <a:rPr b="1" lang="fr-F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Mon nom</a:t>
            </a:r>
            <a:r>
              <a:rPr b="1" lang="fr-F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） </a:t>
            </a:r>
            <a:r>
              <a:rPr b="1" lang="fr-F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est Pierre.</a:t>
            </a:r>
            <a:endParaRPr b="0" lang="fr-F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fr-F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　　　（</a:t>
            </a:r>
            <a:r>
              <a:rPr b="1" lang="fr-F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watashi no namae wa,</a:t>
            </a:r>
            <a:r>
              <a:rPr b="1" lang="fr-F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） </a:t>
            </a:r>
            <a:r>
              <a:rPr b="1" lang="fr-F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piêru desu.</a:t>
            </a:r>
            <a:r>
              <a:rPr b="1" lang="fr-FR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　</a:t>
            </a:r>
            <a:endParaRPr b="0" lang="fr-F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99" name="Picture 2" descr=""/>
          <p:cNvPicPr/>
          <p:nvPr/>
        </p:nvPicPr>
        <p:blipFill>
          <a:blip r:embed="rId1"/>
          <a:stretch/>
        </p:blipFill>
        <p:spPr>
          <a:xfrm>
            <a:off x="7689960" y="2995200"/>
            <a:ext cx="1475280" cy="1730520"/>
          </a:xfrm>
          <a:prstGeom prst="rect">
            <a:avLst/>
          </a:prstGeom>
          <a:ln>
            <a:noFill/>
          </a:ln>
        </p:spPr>
      </p:pic>
      <p:sp>
        <p:nvSpPr>
          <p:cNvPr id="100" name="CustomShape 6"/>
          <p:cNvSpPr/>
          <p:nvPr/>
        </p:nvSpPr>
        <p:spPr>
          <a:xfrm>
            <a:off x="971640" y="4509000"/>
            <a:ext cx="7200360" cy="1753920"/>
          </a:xfrm>
          <a:prstGeom prst="rect">
            <a:avLst/>
          </a:prstGeom>
          <a:noFill/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01" name="Picture 3" descr=""/>
          <p:cNvPicPr/>
          <p:nvPr/>
        </p:nvPicPr>
        <p:blipFill>
          <a:blip r:embed="rId2"/>
          <a:stretch/>
        </p:blipFill>
        <p:spPr>
          <a:xfrm>
            <a:off x="4929120" y="2995200"/>
            <a:ext cx="2757600" cy="1371240"/>
          </a:xfrm>
          <a:prstGeom prst="rect">
            <a:avLst/>
          </a:prstGeom>
          <a:ln>
            <a:noFill/>
          </a:ln>
        </p:spPr>
      </p:pic>
      <p:sp>
        <p:nvSpPr>
          <p:cNvPr id="102" name="CustomShape 7"/>
          <p:cNvSpPr/>
          <p:nvPr/>
        </p:nvSpPr>
        <p:spPr>
          <a:xfrm>
            <a:off x="4988880" y="3388680"/>
            <a:ext cx="2523600" cy="577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fr-FR" sz="16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Grammaticalement correct.</a:t>
            </a:r>
            <a:endParaRPr b="0" lang="fr-FR" sz="16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6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Mais ce qui est courant est…</a:t>
            </a:r>
            <a:endParaRPr b="0" lang="fr-FR" sz="16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3" name="CustomShape 8"/>
          <p:cNvSpPr/>
          <p:nvPr/>
        </p:nvSpPr>
        <p:spPr>
          <a:xfrm>
            <a:off x="755640" y="620640"/>
            <a:ext cx="6768720" cy="369000"/>
          </a:xfrm>
          <a:prstGeom prst="rect">
            <a:avLst/>
          </a:prstGeom>
          <a:noFill/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426</TotalTime>
  <Application>LibreOffice/5.3.3.2$Windows_X86_64 LibreOffice_project/3d9a8b4b4e538a85e0782bd6c2d430bafe583448</Application>
  <Words>199</Words>
  <Paragraphs>60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2020-10-14T14:48:38Z</dcterms:created>
  <dc:creator>Utilisateur</dc:creator>
  <dc:description/>
  <dc:language>fr-FR</dc:language>
  <cp:lastModifiedBy/>
  <dcterms:modified xsi:type="dcterms:W3CDTF">2021-02-11T19:34:26Z</dcterms:modified>
  <cp:revision>14</cp:revision>
  <dc:subject/>
  <dc:title>Présentation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Affichage à l'écran (4:3)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4</vt:i4>
  </property>
</Properties>
</file>